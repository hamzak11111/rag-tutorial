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slideLayouts/slideLayout4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93" r:id="rId3"/>
  </p:sldMasterIdLst>
  <p:notesMasterIdLst>
    <p:notesMasterId r:id="rId47"/>
  </p:notesMasterIdLst>
  <p:sldIdLst>
    <p:sldId id="282" r:id="rId4"/>
    <p:sldId id="256" r:id="rId5"/>
    <p:sldId id="280" r:id="rId6"/>
    <p:sldId id="257" r:id="rId7"/>
    <p:sldId id="258" r:id="rId8"/>
    <p:sldId id="259" r:id="rId9"/>
    <p:sldId id="269" r:id="rId10"/>
    <p:sldId id="260" r:id="rId11"/>
    <p:sldId id="261" r:id="rId12"/>
    <p:sldId id="262" r:id="rId13"/>
    <p:sldId id="263" r:id="rId14"/>
    <p:sldId id="266" r:id="rId15"/>
    <p:sldId id="265" r:id="rId16"/>
    <p:sldId id="267" r:id="rId17"/>
    <p:sldId id="270" r:id="rId18"/>
    <p:sldId id="268" r:id="rId19"/>
    <p:sldId id="271" r:id="rId20"/>
    <p:sldId id="272" r:id="rId21"/>
    <p:sldId id="275" r:id="rId22"/>
    <p:sldId id="273" r:id="rId23"/>
    <p:sldId id="276" r:id="rId24"/>
    <p:sldId id="277" r:id="rId25"/>
    <p:sldId id="274" r:id="rId26"/>
    <p:sldId id="278" r:id="rId27"/>
    <p:sldId id="27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283" r:id="rId40"/>
    <p:sldId id="284" r:id="rId41"/>
    <p:sldId id="285" r:id="rId42"/>
    <p:sldId id="286" r:id="rId43"/>
    <p:sldId id="287" r:id="rId44"/>
    <p:sldId id="288" r:id="rId45"/>
    <p:sldId id="289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3C0C"/>
    <a:srgbClr val="F7CA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5F4C6-674E-437E-85A0-7CEE8199076E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D6A7BD-8987-409E-8C8B-C8FD60491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592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D6A7BD-8987-409E-8C8B-C8FD60491CA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238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82518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7839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04334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50303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36990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03325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25057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20298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4648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4228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://bit.ly/2TtBDfr" TargetMode="Externa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7E40-2D80-48F2-A6C7-61BBF87004A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1D80-BFB5-47AC-96A8-15CC5D01C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511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7E40-2D80-48F2-A6C7-61BBF87004A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1D80-BFB5-47AC-96A8-15CC5D01C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977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7E40-2D80-48F2-A6C7-61BBF87004A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1D80-BFB5-47AC-96A8-15CC5D01C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827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7E40-2D80-48F2-A6C7-61BBF87004A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1D80-BFB5-47AC-96A8-15CC5D01C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518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7E40-2D80-48F2-A6C7-61BBF87004A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1D80-BFB5-47AC-96A8-15CC5D01C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69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7E40-2D80-48F2-A6C7-61BBF87004A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1D80-BFB5-47AC-96A8-15CC5D01C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318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7E40-2D80-48F2-A6C7-61BBF87004A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1D80-BFB5-47AC-96A8-15CC5D01C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301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7E40-2D80-48F2-A6C7-61BBF87004A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1D80-BFB5-47AC-96A8-15CC5D01C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852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7E40-2D80-48F2-A6C7-61BBF87004A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1D80-BFB5-47AC-96A8-15CC5D01C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53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7E40-2D80-48F2-A6C7-61BBF87004A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1D80-BFB5-47AC-96A8-15CC5D01C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667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7E40-2D80-48F2-A6C7-61BBF87004A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1D80-BFB5-47AC-96A8-15CC5D01C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783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solidFill>
          <a:srgbClr val="4F1514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4242800"/>
            <a:ext cx="9954800" cy="261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4"/>
          <p:cNvSpPr/>
          <p:nvPr/>
        </p:nvSpPr>
        <p:spPr>
          <a:xfrm>
            <a:off x="-253500" y="1500633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10802067" y="2061767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521467" y="444500"/>
            <a:ext cx="11162400" cy="6014400"/>
          </a:xfrm>
          <a:prstGeom prst="rect">
            <a:avLst/>
          </a:prstGeom>
          <a:solidFill>
            <a:srgbClr val="F7F1ED"/>
          </a:solidFill>
          <a:ln>
            <a:noFill/>
          </a:ln>
          <a:effectLst>
            <a:outerShdw blurRad="428625" dist="161925" dir="4200000" algn="bl" rotWithShape="0">
              <a:schemeClr val="dk1">
                <a:alpha val="45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1126167" y="1556367"/>
            <a:ext cx="10059200" cy="44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67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66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 sz="4133"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117262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10878933" y="-491767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" name="Google Shape;32;p5"/>
          <p:cNvSpPr/>
          <p:nvPr/>
        </p:nvSpPr>
        <p:spPr>
          <a:xfrm>
            <a:off x="2230000" y="4242800"/>
            <a:ext cx="9954800" cy="261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" name="Google Shape;33;p5"/>
          <p:cNvSpPr/>
          <p:nvPr/>
        </p:nvSpPr>
        <p:spPr>
          <a:xfrm>
            <a:off x="-668867" y="5726900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" name="Google Shape;34;p5"/>
          <p:cNvSpPr/>
          <p:nvPr/>
        </p:nvSpPr>
        <p:spPr>
          <a:xfrm>
            <a:off x="521467" y="444500"/>
            <a:ext cx="11162400" cy="6014400"/>
          </a:xfrm>
          <a:prstGeom prst="rect">
            <a:avLst/>
          </a:prstGeom>
          <a:solidFill>
            <a:srgbClr val="F7F1ED"/>
          </a:solidFill>
          <a:ln>
            <a:noFill/>
          </a:ln>
          <a:effectLst>
            <a:outerShdw blurRad="428625" dist="161925" dir="4200000" algn="bl" rotWithShape="0">
              <a:schemeClr val="dk1">
                <a:alpha val="45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1469551" y="3537173"/>
            <a:ext cx="4205600" cy="24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 sz="1867"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 sz="1600"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 sz="1600"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 sz="1600"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 sz="1600"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 sz="1600"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 sz="1600"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 sz="1600"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516849" y="3537173"/>
            <a:ext cx="4205600" cy="24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 sz="1867"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 sz="1600"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 sz="1600"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 sz="1600"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 sz="1600"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 sz="1600"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 sz="1600"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 sz="1600"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1469551" y="2873673"/>
            <a:ext cx="4205600" cy="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33">
                <a:latin typeface="Amethysta"/>
                <a:ea typeface="Amethysta"/>
                <a:cs typeface="Amethysta"/>
                <a:sym typeface="Amethys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6516849" y="2873673"/>
            <a:ext cx="4205600" cy="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33">
                <a:latin typeface="Amethysta"/>
                <a:ea typeface="Amethysta"/>
                <a:cs typeface="Amethysta"/>
                <a:sym typeface="Amethys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66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 sz="4133"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333559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4242800"/>
            <a:ext cx="9954800" cy="261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" name="Google Shape;42;p6"/>
          <p:cNvSpPr/>
          <p:nvPr/>
        </p:nvSpPr>
        <p:spPr>
          <a:xfrm>
            <a:off x="-253500" y="1500633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10802067" y="2061767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521467" y="444500"/>
            <a:ext cx="11162400" cy="6014400"/>
          </a:xfrm>
          <a:prstGeom prst="rect">
            <a:avLst/>
          </a:prstGeom>
          <a:solidFill>
            <a:srgbClr val="F7F1ED"/>
          </a:solidFill>
          <a:ln>
            <a:noFill/>
          </a:ln>
          <a:effectLst>
            <a:outerShdw blurRad="428625" dist="161925" dir="4200000" algn="bl" rotWithShape="0">
              <a:schemeClr val="dk1">
                <a:alpha val="45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66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 sz="4133"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74028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/>
          <p:nvPr/>
        </p:nvSpPr>
        <p:spPr>
          <a:xfrm>
            <a:off x="265433" y="2862733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sp>
        <p:nvSpPr>
          <p:cNvPr id="55" name="Google Shape;55;p8"/>
          <p:cNvSpPr/>
          <p:nvPr/>
        </p:nvSpPr>
        <p:spPr>
          <a:xfrm>
            <a:off x="10022625" y="3429000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0" y="4242800"/>
            <a:ext cx="9954800" cy="263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7" name="Google Shape;57;p8"/>
          <p:cNvSpPr/>
          <p:nvPr/>
        </p:nvSpPr>
        <p:spPr>
          <a:xfrm>
            <a:off x="964467" y="1550500"/>
            <a:ext cx="10276400" cy="45192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428625" dist="161925" dir="4200000" algn="bl" rotWithShape="0">
              <a:schemeClr val="dk1">
                <a:alpha val="45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1717400" y="2321488"/>
            <a:ext cx="8757200" cy="2938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9866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875880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0" y="4562833"/>
            <a:ext cx="12192000" cy="229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1" name="Google Shape;61;p9"/>
          <p:cNvSpPr/>
          <p:nvPr/>
        </p:nvSpPr>
        <p:spPr>
          <a:xfrm>
            <a:off x="11472667" y="2766333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sp>
        <p:nvSpPr>
          <p:cNvPr id="62" name="Google Shape;62;p9"/>
          <p:cNvSpPr/>
          <p:nvPr/>
        </p:nvSpPr>
        <p:spPr>
          <a:xfrm>
            <a:off x="428700" y="1123600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sp>
        <p:nvSpPr>
          <p:cNvPr id="63" name="Google Shape;63;p9"/>
          <p:cNvSpPr/>
          <p:nvPr/>
        </p:nvSpPr>
        <p:spPr>
          <a:xfrm>
            <a:off x="964467" y="1621400"/>
            <a:ext cx="10276400" cy="36152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428625" dist="161925" dir="4200000" algn="bl" rotWithShape="0">
              <a:schemeClr val="dk1">
                <a:alpha val="45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2281200" y="2209017"/>
            <a:ext cx="7629600" cy="736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ubTitle" idx="1"/>
          </p:nvPr>
        </p:nvSpPr>
        <p:spPr>
          <a:xfrm>
            <a:off x="2281200" y="3165217"/>
            <a:ext cx="7629600" cy="13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586381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/>
          <p:nvPr/>
        </p:nvSpPr>
        <p:spPr>
          <a:xfrm>
            <a:off x="0" y="6382000"/>
            <a:ext cx="12192000" cy="4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8" name="Google Shape;68;p10"/>
          <p:cNvSpPr/>
          <p:nvPr/>
        </p:nvSpPr>
        <p:spPr>
          <a:xfrm>
            <a:off x="0" y="3673033"/>
            <a:ext cx="6096000" cy="318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" name="Google Shape;69;p10"/>
          <p:cNvSpPr/>
          <p:nvPr/>
        </p:nvSpPr>
        <p:spPr>
          <a:xfrm>
            <a:off x="-585867" y="620733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" name="Google Shape;70;p10"/>
          <p:cNvSpPr/>
          <p:nvPr/>
        </p:nvSpPr>
        <p:spPr>
          <a:xfrm>
            <a:off x="11241033" y="2883067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961300" y="3678433"/>
            <a:ext cx="6093600" cy="14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4133">
                <a:latin typeface="Amethysta"/>
                <a:ea typeface="Amethysta"/>
                <a:cs typeface="Amethysta"/>
                <a:sym typeface="Amethyst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81510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0" y="4562833"/>
            <a:ext cx="12192000" cy="229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" name="Google Shape;74;p11"/>
          <p:cNvSpPr/>
          <p:nvPr/>
        </p:nvSpPr>
        <p:spPr>
          <a:xfrm>
            <a:off x="10123067" y="1031033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sp>
        <p:nvSpPr>
          <p:cNvPr id="75" name="Google Shape;75;p11"/>
          <p:cNvSpPr/>
          <p:nvPr/>
        </p:nvSpPr>
        <p:spPr>
          <a:xfrm>
            <a:off x="215233" y="2950400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sp>
        <p:nvSpPr>
          <p:cNvPr id="76" name="Google Shape;76;p11"/>
          <p:cNvSpPr/>
          <p:nvPr/>
        </p:nvSpPr>
        <p:spPr>
          <a:xfrm>
            <a:off x="964467" y="2006041"/>
            <a:ext cx="10276400" cy="36152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428625" dist="161925" dir="4200000" algn="bl" rotWithShape="0">
              <a:schemeClr val="dk1">
                <a:alpha val="45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1446400" y="2504921"/>
            <a:ext cx="9299200" cy="1932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subTitle" idx="1"/>
          </p:nvPr>
        </p:nvSpPr>
        <p:spPr>
          <a:xfrm>
            <a:off x="1450033" y="4450340"/>
            <a:ext cx="9299200" cy="5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267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920199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47128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/>
          <p:nvPr/>
        </p:nvSpPr>
        <p:spPr>
          <a:xfrm>
            <a:off x="10874500" y="-377200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rgbClr val="E4C1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2" name="Google Shape;82;p13"/>
          <p:cNvSpPr/>
          <p:nvPr/>
        </p:nvSpPr>
        <p:spPr>
          <a:xfrm>
            <a:off x="-552667" y="5310367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rgbClr val="E4C1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3" name="Google Shape;83;p13"/>
          <p:cNvSpPr/>
          <p:nvPr/>
        </p:nvSpPr>
        <p:spPr>
          <a:xfrm>
            <a:off x="5250167" y="2524700"/>
            <a:ext cx="6941600" cy="4333200"/>
          </a:xfrm>
          <a:prstGeom prst="rect">
            <a:avLst/>
          </a:prstGeom>
          <a:solidFill>
            <a:srgbClr val="E4C1A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4" name="Google Shape;84;p13"/>
          <p:cNvSpPr/>
          <p:nvPr/>
        </p:nvSpPr>
        <p:spPr>
          <a:xfrm>
            <a:off x="521467" y="444500"/>
            <a:ext cx="11162400" cy="6014400"/>
          </a:xfrm>
          <a:prstGeom prst="rect">
            <a:avLst/>
          </a:prstGeom>
          <a:solidFill>
            <a:srgbClr val="F7F1ED"/>
          </a:solidFill>
          <a:ln>
            <a:noFill/>
          </a:ln>
          <a:effectLst>
            <a:outerShdw blurRad="428625" dist="161925" dir="4200000" algn="bl" rotWithShape="0">
              <a:schemeClr val="dk1">
                <a:alpha val="45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hasCustomPrompt="1"/>
          </p:nvPr>
        </p:nvSpPr>
        <p:spPr>
          <a:xfrm>
            <a:off x="1130300" y="2074608"/>
            <a:ext cx="935200" cy="900000"/>
          </a:xfrm>
          <a:prstGeom prst="rect">
            <a:avLst/>
          </a:prstGeom>
          <a:noFill/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1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2211333" y="2045100"/>
            <a:ext cx="3837200" cy="450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2533">
                <a:latin typeface="Amethysta"/>
                <a:ea typeface="Amethysta"/>
                <a:cs typeface="Amethysta"/>
                <a:sym typeface="Amethys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2"/>
          </p:nvPr>
        </p:nvSpPr>
        <p:spPr>
          <a:xfrm>
            <a:off x="2211333" y="2509017"/>
            <a:ext cx="3066400" cy="604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3" hasCustomPrompt="1"/>
          </p:nvPr>
        </p:nvSpPr>
        <p:spPr>
          <a:xfrm>
            <a:off x="1130300" y="3429375"/>
            <a:ext cx="935200" cy="900000"/>
          </a:xfrm>
          <a:prstGeom prst="rect">
            <a:avLst/>
          </a:prstGeom>
          <a:noFill/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1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4"/>
          </p:nvPr>
        </p:nvSpPr>
        <p:spPr>
          <a:xfrm>
            <a:off x="2211333" y="3399867"/>
            <a:ext cx="3837200" cy="450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33">
                <a:latin typeface="Amethysta"/>
                <a:ea typeface="Amethysta"/>
                <a:cs typeface="Amethysta"/>
                <a:sym typeface="Amethys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5"/>
          </p:nvPr>
        </p:nvSpPr>
        <p:spPr>
          <a:xfrm>
            <a:off x="2211333" y="3863784"/>
            <a:ext cx="3066400" cy="604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6" hasCustomPrompt="1"/>
          </p:nvPr>
        </p:nvSpPr>
        <p:spPr>
          <a:xfrm>
            <a:off x="1130300" y="4784441"/>
            <a:ext cx="935200" cy="900000"/>
          </a:xfrm>
          <a:prstGeom prst="rect">
            <a:avLst/>
          </a:prstGeom>
          <a:noFill/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1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7"/>
          </p:nvPr>
        </p:nvSpPr>
        <p:spPr>
          <a:xfrm>
            <a:off x="2211333" y="4754633"/>
            <a:ext cx="3837200" cy="450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33">
                <a:latin typeface="Amethysta"/>
                <a:ea typeface="Amethysta"/>
                <a:cs typeface="Amethysta"/>
                <a:sym typeface="Amethys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8"/>
          </p:nvPr>
        </p:nvSpPr>
        <p:spPr>
          <a:xfrm>
            <a:off x="2211333" y="5218551"/>
            <a:ext cx="3066400" cy="604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title" idx="9" hasCustomPrompt="1"/>
          </p:nvPr>
        </p:nvSpPr>
        <p:spPr>
          <a:xfrm>
            <a:off x="6346667" y="2074608"/>
            <a:ext cx="935200" cy="900000"/>
          </a:xfrm>
          <a:prstGeom prst="rect">
            <a:avLst/>
          </a:prstGeom>
          <a:noFill/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1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13"/>
          </p:nvPr>
        </p:nvSpPr>
        <p:spPr>
          <a:xfrm>
            <a:off x="7427700" y="2045100"/>
            <a:ext cx="3837200" cy="450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33">
                <a:latin typeface="Amethysta"/>
                <a:ea typeface="Amethysta"/>
                <a:cs typeface="Amethysta"/>
                <a:sym typeface="Amethys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14"/>
          </p:nvPr>
        </p:nvSpPr>
        <p:spPr>
          <a:xfrm>
            <a:off x="7427700" y="2509017"/>
            <a:ext cx="3066400" cy="604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 idx="15" hasCustomPrompt="1"/>
          </p:nvPr>
        </p:nvSpPr>
        <p:spPr>
          <a:xfrm>
            <a:off x="6346667" y="3429675"/>
            <a:ext cx="935200" cy="900000"/>
          </a:xfrm>
          <a:prstGeom prst="rect">
            <a:avLst/>
          </a:prstGeom>
          <a:noFill/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1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6"/>
          </p:nvPr>
        </p:nvSpPr>
        <p:spPr>
          <a:xfrm>
            <a:off x="7427700" y="3399867"/>
            <a:ext cx="3837200" cy="450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33">
                <a:latin typeface="Amethysta"/>
                <a:ea typeface="Amethysta"/>
                <a:cs typeface="Amethysta"/>
                <a:sym typeface="Amethys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7"/>
          </p:nvPr>
        </p:nvSpPr>
        <p:spPr>
          <a:xfrm>
            <a:off x="7427700" y="3863784"/>
            <a:ext cx="3066400" cy="604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18" hasCustomPrompt="1"/>
          </p:nvPr>
        </p:nvSpPr>
        <p:spPr>
          <a:xfrm>
            <a:off x="6346667" y="4784441"/>
            <a:ext cx="935200" cy="900000"/>
          </a:xfrm>
          <a:prstGeom prst="rect">
            <a:avLst/>
          </a:prstGeom>
          <a:noFill/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1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19"/>
          </p:nvPr>
        </p:nvSpPr>
        <p:spPr>
          <a:xfrm>
            <a:off x="7427700" y="4754633"/>
            <a:ext cx="3837200" cy="450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33">
                <a:latin typeface="Amethysta"/>
                <a:ea typeface="Amethysta"/>
                <a:cs typeface="Amethysta"/>
                <a:sym typeface="Amethys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20"/>
          </p:nvPr>
        </p:nvSpPr>
        <p:spPr>
          <a:xfrm>
            <a:off x="7427700" y="5218551"/>
            <a:ext cx="3066400" cy="604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title" idx="21"/>
          </p:nvPr>
        </p:nvSpPr>
        <p:spPr>
          <a:xfrm>
            <a:off x="951000" y="719333"/>
            <a:ext cx="10290000" cy="66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966071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11452833" y="3869467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6" name="Google Shape;106;p14"/>
          <p:cNvSpPr/>
          <p:nvPr/>
        </p:nvSpPr>
        <p:spPr>
          <a:xfrm>
            <a:off x="305933" y="1744200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" name="Google Shape;107;p14"/>
          <p:cNvSpPr/>
          <p:nvPr/>
        </p:nvSpPr>
        <p:spPr>
          <a:xfrm>
            <a:off x="0" y="4242800"/>
            <a:ext cx="9954800" cy="261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8" name="Google Shape;108;p14"/>
          <p:cNvSpPr/>
          <p:nvPr/>
        </p:nvSpPr>
        <p:spPr>
          <a:xfrm>
            <a:off x="951000" y="1536533"/>
            <a:ext cx="10290000" cy="47172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428625" dist="161925" dir="4200000" algn="bl" rotWithShape="0">
              <a:schemeClr val="dk1">
                <a:alpha val="45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9" name="Google Shape;109;p14"/>
          <p:cNvSpPr txBox="1">
            <a:spLocks noGrp="1"/>
          </p:cNvSpPr>
          <p:nvPr>
            <p:ph type="subTitle" idx="1"/>
          </p:nvPr>
        </p:nvSpPr>
        <p:spPr>
          <a:xfrm>
            <a:off x="1174200" y="1802033"/>
            <a:ext cx="9843600" cy="39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33">
                <a:latin typeface="Amethysta"/>
                <a:ea typeface="Amethysta"/>
                <a:cs typeface="Amethysta"/>
                <a:sym typeface="Amethys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0" name="Google Shape;110;p14"/>
          <p:cNvSpPr txBox="1">
            <a:spLocks noGrp="1"/>
          </p:cNvSpPr>
          <p:nvPr>
            <p:ph type="subTitle" idx="2"/>
          </p:nvPr>
        </p:nvSpPr>
        <p:spPr>
          <a:xfrm>
            <a:off x="1174200" y="2349829"/>
            <a:ext cx="9843600" cy="626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1" name="Google Shape;111;p14"/>
          <p:cNvSpPr txBox="1">
            <a:spLocks noGrp="1"/>
          </p:cNvSpPr>
          <p:nvPr>
            <p:ph type="subTitle" idx="3"/>
          </p:nvPr>
        </p:nvSpPr>
        <p:spPr>
          <a:xfrm>
            <a:off x="1174200" y="3330167"/>
            <a:ext cx="9843600" cy="39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33">
                <a:latin typeface="Amethysta"/>
                <a:ea typeface="Amethysta"/>
                <a:cs typeface="Amethysta"/>
                <a:sym typeface="Amethys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2" name="Google Shape;112;p14"/>
          <p:cNvSpPr txBox="1">
            <a:spLocks noGrp="1"/>
          </p:cNvSpPr>
          <p:nvPr>
            <p:ph type="subTitle" idx="4"/>
          </p:nvPr>
        </p:nvSpPr>
        <p:spPr>
          <a:xfrm>
            <a:off x="1174200" y="3877932"/>
            <a:ext cx="9843600" cy="626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4"/>
          <p:cNvSpPr txBox="1">
            <a:spLocks noGrp="1"/>
          </p:cNvSpPr>
          <p:nvPr>
            <p:ph type="subTitle" idx="5"/>
          </p:nvPr>
        </p:nvSpPr>
        <p:spPr>
          <a:xfrm>
            <a:off x="1174200" y="4858301"/>
            <a:ext cx="9843600" cy="39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33">
                <a:latin typeface="Amethysta"/>
                <a:ea typeface="Amethysta"/>
                <a:cs typeface="Amethysta"/>
                <a:sym typeface="Amethys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4" name="Google Shape;114;p14"/>
          <p:cNvSpPr txBox="1">
            <a:spLocks noGrp="1"/>
          </p:cNvSpPr>
          <p:nvPr>
            <p:ph type="subTitle" idx="6"/>
          </p:nvPr>
        </p:nvSpPr>
        <p:spPr>
          <a:xfrm>
            <a:off x="1174200" y="5406033"/>
            <a:ext cx="9843600" cy="626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5" name="Google Shape;115;p14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66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 sz="4133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062221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/>
          <p:nvPr/>
        </p:nvSpPr>
        <p:spPr>
          <a:xfrm>
            <a:off x="0" y="4562833"/>
            <a:ext cx="12192000" cy="229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8" name="Google Shape;118;p15"/>
          <p:cNvSpPr/>
          <p:nvPr/>
        </p:nvSpPr>
        <p:spPr>
          <a:xfrm>
            <a:off x="-1180967" y="2015033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10104300" y="1032667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952400" y="1910467"/>
            <a:ext cx="10287200" cy="37880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428625" dist="161925" dir="4200000" algn="bl" rotWithShape="0">
              <a:schemeClr val="dk1">
                <a:alpha val="45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" name="Google Shape;121;p15"/>
          <p:cNvSpPr txBox="1">
            <a:spLocks noGrp="1"/>
          </p:cNvSpPr>
          <p:nvPr>
            <p:ph type="subTitle" idx="1"/>
          </p:nvPr>
        </p:nvSpPr>
        <p:spPr>
          <a:xfrm>
            <a:off x="1922367" y="2539487"/>
            <a:ext cx="8347200" cy="1896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2" name="Google Shape;122;p15"/>
          <p:cNvSpPr txBox="1">
            <a:spLocks noGrp="1"/>
          </p:cNvSpPr>
          <p:nvPr>
            <p:ph type="subTitle" idx="2"/>
          </p:nvPr>
        </p:nvSpPr>
        <p:spPr>
          <a:xfrm>
            <a:off x="3636000" y="4609447"/>
            <a:ext cx="4920000" cy="70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33">
                <a:latin typeface="Amethysta"/>
                <a:ea typeface="Amethysta"/>
                <a:cs typeface="Amethysta"/>
                <a:sym typeface="Amethys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105526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/>
          <p:nvPr/>
        </p:nvSpPr>
        <p:spPr>
          <a:xfrm>
            <a:off x="0" y="4242800"/>
            <a:ext cx="12192000" cy="261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5" name="Google Shape;125;p16"/>
          <p:cNvSpPr/>
          <p:nvPr/>
        </p:nvSpPr>
        <p:spPr>
          <a:xfrm>
            <a:off x="-650133" y="1047067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9078933" y="-642167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521467" y="444500"/>
            <a:ext cx="11162400" cy="6014400"/>
          </a:xfrm>
          <a:prstGeom prst="rect">
            <a:avLst/>
          </a:prstGeom>
          <a:solidFill>
            <a:srgbClr val="F7F1ED"/>
          </a:solidFill>
          <a:ln>
            <a:noFill/>
          </a:ln>
          <a:effectLst>
            <a:outerShdw blurRad="428625" dist="161925" dir="4200000" algn="bl" rotWithShape="0">
              <a:schemeClr val="dk1">
                <a:alpha val="45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8" name="Google Shape;128;p16"/>
          <p:cNvSpPr txBox="1">
            <a:spLocks noGrp="1"/>
          </p:cNvSpPr>
          <p:nvPr>
            <p:ph type="subTitle" idx="1"/>
          </p:nvPr>
        </p:nvSpPr>
        <p:spPr>
          <a:xfrm>
            <a:off x="2229271" y="2243040"/>
            <a:ext cx="3572800" cy="450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33">
                <a:latin typeface="Amethysta"/>
                <a:ea typeface="Amethysta"/>
                <a:cs typeface="Amethysta"/>
                <a:sym typeface="Amethyst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9" name="Google Shape;129;p16"/>
          <p:cNvSpPr txBox="1">
            <a:spLocks noGrp="1"/>
          </p:cNvSpPr>
          <p:nvPr>
            <p:ph type="subTitle" idx="2"/>
          </p:nvPr>
        </p:nvSpPr>
        <p:spPr>
          <a:xfrm>
            <a:off x="2229275" y="2726540"/>
            <a:ext cx="3572800" cy="912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6"/>
          <p:cNvSpPr txBox="1">
            <a:spLocks noGrp="1"/>
          </p:cNvSpPr>
          <p:nvPr>
            <p:ph type="subTitle" idx="3"/>
          </p:nvPr>
        </p:nvSpPr>
        <p:spPr>
          <a:xfrm>
            <a:off x="7279908" y="2243040"/>
            <a:ext cx="3572800" cy="450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33">
                <a:latin typeface="Amethysta"/>
                <a:ea typeface="Amethysta"/>
                <a:cs typeface="Amethysta"/>
                <a:sym typeface="Amethyst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6"/>
          <p:cNvSpPr txBox="1">
            <a:spLocks noGrp="1"/>
          </p:cNvSpPr>
          <p:nvPr>
            <p:ph type="subTitle" idx="4"/>
          </p:nvPr>
        </p:nvSpPr>
        <p:spPr>
          <a:xfrm>
            <a:off x="7279908" y="2726540"/>
            <a:ext cx="3572800" cy="912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6"/>
          <p:cNvSpPr txBox="1">
            <a:spLocks noGrp="1"/>
          </p:cNvSpPr>
          <p:nvPr>
            <p:ph type="subTitle" idx="5"/>
          </p:nvPr>
        </p:nvSpPr>
        <p:spPr>
          <a:xfrm>
            <a:off x="2229271" y="4303151"/>
            <a:ext cx="3572800" cy="450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33">
                <a:latin typeface="Amethysta"/>
                <a:ea typeface="Amethysta"/>
                <a:cs typeface="Amethysta"/>
                <a:sym typeface="Amethyst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3" name="Google Shape;133;p16"/>
          <p:cNvSpPr txBox="1">
            <a:spLocks noGrp="1"/>
          </p:cNvSpPr>
          <p:nvPr>
            <p:ph type="subTitle" idx="6"/>
          </p:nvPr>
        </p:nvSpPr>
        <p:spPr>
          <a:xfrm>
            <a:off x="2229275" y="4790227"/>
            <a:ext cx="3572800" cy="912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4" name="Google Shape;134;p16"/>
          <p:cNvSpPr txBox="1">
            <a:spLocks noGrp="1"/>
          </p:cNvSpPr>
          <p:nvPr>
            <p:ph type="subTitle" idx="7"/>
          </p:nvPr>
        </p:nvSpPr>
        <p:spPr>
          <a:xfrm>
            <a:off x="7279908" y="4303151"/>
            <a:ext cx="3572800" cy="450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33">
                <a:latin typeface="Amethysta"/>
                <a:ea typeface="Amethysta"/>
                <a:cs typeface="Amethysta"/>
                <a:sym typeface="Amethyst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5" name="Google Shape;135;p16"/>
          <p:cNvSpPr txBox="1">
            <a:spLocks noGrp="1"/>
          </p:cNvSpPr>
          <p:nvPr>
            <p:ph type="subTitle" idx="8"/>
          </p:nvPr>
        </p:nvSpPr>
        <p:spPr>
          <a:xfrm>
            <a:off x="7279909" y="4790228"/>
            <a:ext cx="3572800" cy="912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6" name="Google Shape;136;p16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66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7189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4242800"/>
            <a:ext cx="9954800" cy="261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9" name="Google Shape;139;p17"/>
          <p:cNvSpPr/>
          <p:nvPr/>
        </p:nvSpPr>
        <p:spPr>
          <a:xfrm>
            <a:off x="10973533" y="4013033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-331300" y="-449367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521467" y="444500"/>
            <a:ext cx="11162400" cy="6014400"/>
          </a:xfrm>
          <a:prstGeom prst="rect">
            <a:avLst/>
          </a:prstGeom>
          <a:solidFill>
            <a:srgbClr val="F7F1ED"/>
          </a:solidFill>
          <a:ln>
            <a:noFill/>
          </a:ln>
          <a:effectLst>
            <a:outerShdw blurRad="428625" dist="161925" dir="4200000" algn="bl" rotWithShape="0">
              <a:schemeClr val="dk1">
                <a:alpha val="45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2" name="Google Shape;142;p17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66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3" name="Google Shape;143;p17"/>
          <p:cNvSpPr txBox="1">
            <a:spLocks noGrp="1"/>
          </p:cNvSpPr>
          <p:nvPr>
            <p:ph type="subTitle" idx="1"/>
          </p:nvPr>
        </p:nvSpPr>
        <p:spPr>
          <a:xfrm>
            <a:off x="1568832" y="2130796"/>
            <a:ext cx="2693200" cy="450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33">
                <a:latin typeface="Amethysta"/>
                <a:ea typeface="Amethysta"/>
                <a:cs typeface="Amethysta"/>
                <a:sym typeface="Amethyst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4" name="Google Shape;144;p17"/>
          <p:cNvSpPr txBox="1">
            <a:spLocks noGrp="1"/>
          </p:cNvSpPr>
          <p:nvPr>
            <p:ph type="subTitle" idx="2"/>
          </p:nvPr>
        </p:nvSpPr>
        <p:spPr>
          <a:xfrm>
            <a:off x="1568832" y="2661412"/>
            <a:ext cx="2693200" cy="66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5" name="Google Shape;145;p17"/>
          <p:cNvSpPr txBox="1">
            <a:spLocks noGrp="1"/>
          </p:cNvSpPr>
          <p:nvPr>
            <p:ph type="subTitle" idx="3"/>
          </p:nvPr>
        </p:nvSpPr>
        <p:spPr>
          <a:xfrm>
            <a:off x="4750144" y="2130796"/>
            <a:ext cx="2693200" cy="450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33">
                <a:latin typeface="Amethysta"/>
                <a:ea typeface="Amethysta"/>
                <a:cs typeface="Amethysta"/>
                <a:sym typeface="Amethyst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6" name="Google Shape;146;p17"/>
          <p:cNvSpPr txBox="1">
            <a:spLocks noGrp="1"/>
          </p:cNvSpPr>
          <p:nvPr>
            <p:ph type="subTitle" idx="4"/>
          </p:nvPr>
        </p:nvSpPr>
        <p:spPr>
          <a:xfrm>
            <a:off x="4750144" y="2661412"/>
            <a:ext cx="2693200" cy="66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7" name="Google Shape;147;p17"/>
          <p:cNvSpPr txBox="1">
            <a:spLocks noGrp="1"/>
          </p:cNvSpPr>
          <p:nvPr>
            <p:ph type="subTitle" idx="5"/>
          </p:nvPr>
        </p:nvSpPr>
        <p:spPr>
          <a:xfrm>
            <a:off x="7931455" y="2130796"/>
            <a:ext cx="2693200" cy="450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33">
                <a:latin typeface="Amethysta"/>
                <a:ea typeface="Amethysta"/>
                <a:cs typeface="Amethysta"/>
                <a:sym typeface="Amethyst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8" name="Google Shape;148;p17"/>
          <p:cNvSpPr txBox="1">
            <a:spLocks noGrp="1"/>
          </p:cNvSpPr>
          <p:nvPr>
            <p:ph type="subTitle" idx="6"/>
          </p:nvPr>
        </p:nvSpPr>
        <p:spPr>
          <a:xfrm>
            <a:off x="7931455" y="2661412"/>
            <a:ext cx="2693200" cy="66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9" name="Google Shape;149;p17"/>
          <p:cNvSpPr txBox="1">
            <a:spLocks noGrp="1"/>
          </p:cNvSpPr>
          <p:nvPr>
            <p:ph type="subTitle" idx="7"/>
          </p:nvPr>
        </p:nvSpPr>
        <p:spPr>
          <a:xfrm>
            <a:off x="1576324" y="4574752"/>
            <a:ext cx="2693200" cy="450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33">
                <a:latin typeface="Amethysta"/>
                <a:ea typeface="Amethysta"/>
                <a:cs typeface="Amethysta"/>
                <a:sym typeface="Amethyst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17"/>
          <p:cNvSpPr txBox="1">
            <a:spLocks noGrp="1"/>
          </p:cNvSpPr>
          <p:nvPr>
            <p:ph type="subTitle" idx="8"/>
          </p:nvPr>
        </p:nvSpPr>
        <p:spPr>
          <a:xfrm>
            <a:off x="1576324" y="5105367"/>
            <a:ext cx="2693200" cy="66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17"/>
          <p:cNvSpPr txBox="1">
            <a:spLocks noGrp="1"/>
          </p:cNvSpPr>
          <p:nvPr>
            <p:ph type="subTitle" idx="9"/>
          </p:nvPr>
        </p:nvSpPr>
        <p:spPr>
          <a:xfrm>
            <a:off x="4757636" y="4574752"/>
            <a:ext cx="2693200" cy="450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33">
                <a:latin typeface="Amethysta"/>
                <a:ea typeface="Amethysta"/>
                <a:cs typeface="Amethysta"/>
                <a:sym typeface="Amethyst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17"/>
          <p:cNvSpPr txBox="1">
            <a:spLocks noGrp="1"/>
          </p:cNvSpPr>
          <p:nvPr>
            <p:ph type="subTitle" idx="13"/>
          </p:nvPr>
        </p:nvSpPr>
        <p:spPr>
          <a:xfrm>
            <a:off x="4757636" y="5105367"/>
            <a:ext cx="2693200" cy="66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17"/>
          <p:cNvSpPr txBox="1">
            <a:spLocks noGrp="1"/>
          </p:cNvSpPr>
          <p:nvPr>
            <p:ph type="subTitle" idx="14"/>
          </p:nvPr>
        </p:nvSpPr>
        <p:spPr>
          <a:xfrm>
            <a:off x="7938947" y="4574752"/>
            <a:ext cx="2693200" cy="450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33">
                <a:latin typeface="Amethysta"/>
                <a:ea typeface="Amethysta"/>
                <a:cs typeface="Amethysta"/>
                <a:sym typeface="Amethyst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17"/>
          <p:cNvSpPr txBox="1">
            <a:spLocks noGrp="1"/>
          </p:cNvSpPr>
          <p:nvPr>
            <p:ph type="subTitle" idx="15"/>
          </p:nvPr>
        </p:nvSpPr>
        <p:spPr>
          <a:xfrm>
            <a:off x="7938947" y="5105367"/>
            <a:ext cx="2693200" cy="66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750955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1_Title and three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/>
          <p:nvPr/>
        </p:nvSpPr>
        <p:spPr>
          <a:xfrm>
            <a:off x="5250167" y="2524700"/>
            <a:ext cx="6941600" cy="4333200"/>
          </a:xfrm>
          <a:prstGeom prst="rect">
            <a:avLst/>
          </a:prstGeom>
          <a:solidFill>
            <a:srgbClr val="E4C1A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7" name="Google Shape;157;p18"/>
          <p:cNvSpPr/>
          <p:nvPr/>
        </p:nvSpPr>
        <p:spPr>
          <a:xfrm>
            <a:off x="2153133" y="4827133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8" name="Google Shape;158;p18"/>
          <p:cNvSpPr/>
          <p:nvPr/>
        </p:nvSpPr>
        <p:spPr>
          <a:xfrm>
            <a:off x="964467" y="1536533"/>
            <a:ext cx="10276400" cy="47120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428625" dist="161925" dir="4200000" algn="bl" rotWithShape="0">
              <a:schemeClr val="dk1">
                <a:alpha val="45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9" name="Google Shape;159;p18"/>
          <p:cNvSpPr/>
          <p:nvPr/>
        </p:nvSpPr>
        <p:spPr>
          <a:xfrm>
            <a:off x="-1059933" y="246033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0" name="Google Shape;160;p18"/>
          <p:cNvSpPr txBox="1">
            <a:spLocks noGrp="1"/>
          </p:cNvSpPr>
          <p:nvPr>
            <p:ph type="subTitle" idx="1"/>
          </p:nvPr>
        </p:nvSpPr>
        <p:spPr>
          <a:xfrm>
            <a:off x="2199997" y="1823433"/>
            <a:ext cx="4940800" cy="393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33">
                <a:latin typeface="Amethysta"/>
                <a:ea typeface="Amethysta"/>
                <a:cs typeface="Amethysta"/>
                <a:sym typeface="Amethyst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1" name="Google Shape;161;p18"/>
          <p:cNvSpPr txBox="1">
            <a:spLocks noGrp="1"/>
          </p:cNvSpPr>
          <p:nvPr>
            <p:ph type="subTitle" idx="2"/>
          </p:nvPr>
        </p:nvSpPr>
        <p:spPr>
          <a:xfrm>
            <a:off x="2199992" y="2276063"/>
            <a:ext cx="4940800" cy="67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2" name="Google Shape;162;p18"/>
          <p:cNvSpPr txBox="1">
            <a:spLocks noGrp="1"/>
          </p:cNvSpPr>
          <p:nvPr>
            <p:ph type="subTitle" idx="3"/>
          </p:nvPr>
        </p:nvSpPr>
        <p:spPr>
          <a:xfrm>
            <a:off x="2199997" y="3377900"/>
            <a:ext cx="4940800" cy="393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33">
                <a:latin typeface="Amethysta"/>
                <a:ea typeface="Amethysta"/>
                <a:cs typeface="Amethysta"/>
                <a:sym typeface="Amethyst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18"/>
          <p:cNvSpPr txBox="1">
            <a:spLocks noGrp="1"/>
          </p:cNvSpPr>
          <p:nvPr>
            <p:ph type="subTitle" idx="4"/>
          </p:nvPr>
        </p:nvSpPr>
        <p:spPr>
          <a:xfrm>
            <a:off x="2199992" y="3830501"/>
            <a:ext cx="4940800" cy="67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18"/>
          <p:cNvSpPr txBox="1">
            <a:spLocks noGrp="1"/>
          </p:cNvSpPr>
          <p:nvPr>
            <p:ph type="subTitle" idx="5"/>
          </p:nvPr>
        </p:nvSpPr>
        <p:spPr>
          <a:xfrm>
            <a:off x="2199997" y="4932367"/>
            <a:ext cx="4940800" cy="393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33">
                <a:latin typeface="Amethysta"/>
                <a:ea typeface="Amethysta"/>
                <a:cs typeface="Amethysta"/>
                <a:sym typeface="Amethyst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18"/>
          <p:cNvSpPr txBox="1">
            <a:spLocks noGrp="1"/>
          </p:cNvSpPr>
          <p:nvPr>
            <p:ph type="subTitle" idx="6"/>
          </p:nvPr>
        </p:nvSpPr>
        <p:spPr>
          <a:xfrm>
            <a:off x="2199992" y="5384939"/>
            <a:ext cx="4940800" cy="67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18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66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 sz="4133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196559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/>
          <p:nvPr/>
        </p:nvSpPr>
        <p:spPr>
          <a:xfrm>
            <a:off x="10029767" y="1101867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rgbClr val="E4C1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9" name="Google Shape;169;p19"/>
          <p:cNvSpPr/>
          <p:nvPr/>
        </p:nvSpPr>
        <p:spPr>
          <a:xfrm>
            <a:off x="324500" y="3295700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rgbClr val="E4C1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0" name="Google Shape;170;p19"/>
          <p:cNvSpPr/>
          <p:nvPr/>
        </p:nvSpPr>
        <p:spPr>
          <a:xfrm>
            <a:off x="1776933" y="4242800"/>
            <a:ext cx="10415200" cy="263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1" name="Google Shape;171;p19"/>
          <p:cNvSpPr txBox="1">
            <a:spLocks noGrp="1"/>
          </p:cNvSpPr>
          <p:nvPr>
            <p:ph type="subTitle" idx="1"/>
          </p:nvPr>
        </p:nvSpPr>
        <p:spPr>
          <a:xfrm flipH="1">
            <a:off x="5149967" y="1814533"/>
            <a:ext cx="4529600" cy="393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33">
                <a:latin typeface="Amethysta"/>
                <a:ea typeface="Amethysta"/>
                <a:cs typeface="Amethysta"/>
                <a:sym typeface="Amethyst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subTitle" idx="2"/>
          </p:nvPr>
        </p:nvSpPr>
        <p:spPr>
          <a:xfrm flipH="1">
            <a:off x="5149967" y="2267167"/>
            <a:ext cx="4529600" cy="67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19"/>
          <p:cNvSpPr txBox="1">
            <a:spLocks noGrp="1"/>
          </p:cNvSpPr>
          <p:nvPr>
            <p:ph type="subTitle" idx="3"/>
          </p:nvPr>
        </p:nvSpPr>
        <p:spPr>
          <a:xfrm flipH="1">
            <a:off x="5149967" y="3374232"/>
            <a:ext cx="4529600" cy="393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33">
                <a:latin typeface="Amethysta"/>
                <a:ea typeface="Amethysta"/>
                <a:cs typeface="Amethysta"/>
                <a:sym typeface="Amethyst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19"/>
          <p:cNvSpPr txBox="1">
            <a:spLocks noGrp="1"/>
          </p:cNvSpPr>
          <p:nvPr>
            <p:ph type="subTitle" idx="4"/>
          </p:nvPr>
        </p:nvSpPr>
        <p:spPr>
          <a:xfrm flipH="1">
            <a:off x="5149967" y="3826832"/>
            <a:ext cx="4529600" cy="67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19"/>
          <p:cNvSpPr txBox="1">
            <a:spLocks noGrp="1"/>
          </p:cNvSpPr>
          <p:nvPr>
            <p:ph type="subTitle" idx="5"/>
          </p:nvPr>
        </p:nvSpPr>
        <p:spPr>
          <a:xfrm flipH="1">
            <a:off x="5149967" y="4933932"/>
            <a:ext cx="4529600" cy="393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33">
                <a:latin typeface="Amethysta"/>
                <a:ea typeface="Amethysta"/>
                <a:cs typeface="Amethysta"/>
                <a:sym typeface="Amethyst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19"/>
          <p:cNvSpPr txBox="1">
            <a:spLocks noGrp="1"/>
          </p:cNvSpPr>
          <p:nvPr>
            <p:ph type="subTitle" idx="6"/>
          </p:nvPr>
        </p:nvSpPr>
        <p:spPr>
          <a:xfrm flipH="1">
            <a:off x="5149967" y="5386497"/>
            <a:ext cx="4529600" cy="67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19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66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 sz="4133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964467" y="1536533"/>
            <a:ext cx="10276400" cy="47120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428625" dist="161925" dir="4200000" algn="bl" rotWithShape="0">
              <a:schemeClr val="dk1">
                <a:alpha val="45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5807348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/>
          <p:nvPr/>
        </p:nvSpPr>
        <p:spPr>
          <a:xfrm>
            <a:off x="2248367" y="4235500"/>
            <a:ext cx="9954800" cy="262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1" name="Google Shape;181;p20"/>
          <p:cNvSpPr/>
          <p:nvPr/>
        </p:nvSpPr>
        <p:spPr>
          <a:xfrm>
            <a:off x="-804500" y="3538267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10971067" y="1171933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521467" y="444500"/>
            <a:ext cx="11162400" cy="6014400"/>
          </a:xfrm>
          <a:prstGeom prst="rect">
            <a:avLst/>
          </a:prstGeom>
          <a:solidFill>
            <a:srgbClr val="F7F1ED"/>
          </a:solidFill>
          <a:ln>
            <a:noFill/>
          </a:ln>
          <a:effectLst>
            <a:outerShdw blurRad="428625" dist="161925" dir="4200000" algn="bl" rotWithShape="0">
              <a:schemeClr val="dk1">
                <a:alpha val="45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4" name="Google Shape;184;p20"/>
          <p:cNvSpPr txBox="1">
            <a:spLocks noGrp="1"/>
          </p:cNvSpPr>
          <p:nvPr>
            <p:ph type="subTitle" idx="1"/>
          </p:nvPr>
        </p:nvSpPr>
        <p:spPr>
          <a:xfrm>
            <a:off x="965512" y="4460459"/>
            <a:ext cx="2573600" cy="450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33">
                <a:latin typeface="Amethysta"/>
                <a:ea typeface="Amethysta"/>
                <a:cs typeface="Amethysta"/>
                <a:sym typeface="Amethyst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5" name="Google Shape;185;p20"/>
          <p:cNvSpPr txBox="1">
            <a:spLocks noGrp="1"/>
          </p:cNvSpPr>
          <p:nvPr>
            <p:ph type="subTitle" idx="2"/>
          </p:nvPr>
        </p:nvSpPr>
        <p:spPr>
          <a:xfrm>
            <a:off x="965512" y="4965619"/>
            <a:ext cx="2573600" cy="66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6" name="Google Shape;186;p20"/>
          <p:cNvSpPr txBox="1">
            <a:spLocks noGrp="1"/>
          </p:cNvSpPr>
          <p:nvPr>
            <p:ph type="subTitle" idx="3"/>
          </p:nvPr>
        </p:nvSpPr>
        <p:spPr>
          <a:xfrm>
            <a:off x="3521529" y="4460459"/>
            <a:ext cx="2573600" cy="450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33">
                <a:latin typeface="Amethysta"/>
                <a:ea typeface="Amethysta"/>
                <a:cs typeface="Amethysta"/>
                <a:sym typeface="Amethyst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7" name="Google Shape;187;p20"/>
          <p:cNvSpPr txBox="1">
            <a:spLocks noGrp="1"/>
          </p:cNvSpPr>
          <p:nvPr>
            <p:ph type="subTitle" idx="4"/>
          </p:nvPr>
        </p:nvSpPr>
        <p:spPr>
          <a:xfrm>
            <a:off x="3521529" y="4965619"/>
            <a:ext cx="2573600" cy="66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8" name="Google Shape;188;p20"/>
          <p:cNvSpPr txBox="1">
            <a:spLocks noGrp="1"/>
          </p:cNvSpPr>
          <p:nvPr>
            <p:ph type="subTitle" idx="5"/>
          </p:nvPr>
        </p:nvSpPr>
        <p:spPr>
          <a:xfrm>
            <a:off x="6116333" y="4460459"/>
            <a:ext cx="2573600" cy="450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33">
                <a:latin typeface="Amethysta"/>
                <a:ea typeface="Amethysta"/>
                <a:cs typeface="Amethysta"/>
                <a:sym typeface="Amethyst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9" name="Google Shape;189;p20"/>
          <p:cNvSpPr txBox="1">
            <a:spLocks noGrp="1"/>
          </p:cNvSpPr>
          <p:nvPr>
            <p:ph type="subTitle" idx="6"/>
          </p:nvPr>
        </p:nvSpPr>
        <p:spPr>
          <a:xfrm>
            <a:off x="6116333" y="4965619"/>
            <a:ext cx="2573600" cy="66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0" name="Google Shape;190;p20"/>
          <p:cNvSpPr txBox="1">
            <a:spLocks noGrp="1"/>
          </p:cNvSpPr>
          <p:nvPr>
            <p:ph type="subTitle" idx="7"/>
          </p:nvPr>
        </p:nvSpPr>
        <p:spPr>
          <a:xfrm>
            <a:off x="8667533" y="4460459"/>
            <a:ext cx="2573600" cy="450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533">
                <a:latin typeface="Amethysta"/>
                <a:ea typeface="Amethysta"/>
                <a:cs typeface="Amethysta"/>
                <a:sym typeface="Amethyst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1" name="Google Shape;191;p20"/>
          <p:cNvSpPr txBox="1">
            <a:spLocks noGrp="1"/>
          </p:cNvSpPr>
          <p:nvPr>
            <p:ph type="subTitle" idx="8"/>
          </p:nvPr>
        </p:nvSpPr>
        <p:spPr>
          <a:xfrm>
            <a:off x="8667533" y="4965619"/>
            <a:ext cx="2573600" cy="66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0"/>
          <p:cNvSpPr txBox="1">
            <a:spLocks noGrp="1"/>
          </p:cNvSpPr>
          <p:nvPr>
            <p:ph type="title" hasCustomPrompt="1"/>
          </p:nvPr>
        </p:nvSpPr>
        <p:spPr>
          <a:xfrm>
            <a:off x="1579112" y="3034535"/>
            <a:ext cx="1346400" cy="669200"/>
          </a:xfrm>
          <a:prstGeom prst="rect">
            <a:avLst/>
          </a:prstGeom>
          <a:noFill/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1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93" name="Google Shape;193;p20"/>
          <p:cNvSpPr txBox="1">
            <a:spLocks noGrp="1"/>
          </p:cNvSpPr>
          <p:nvPr>
            <p:ph type="title" idx="9" hasCustomPrompt="1"/>
          </p:nvPr>
        </p:nvSpPr>
        <p:spPr>
          <a:xfrm>
            <a:off x="4135129" y="3034535"/>
            <a:ext cx="1346400" cy="669200"/>
          </a:xfrm>
          <a:prstGeom prst="rect">
            <a:avLst/>
          </a:prstGeom>
          <a:noFill/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1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94" name="Google Shape;194;p20"/>
          <p:cNvSpPr txBox="1">
            <a:spLocks noGrp="1"/>
          </p:cNvSpPr>
          <p:nvPr>
            <p:ph type="title" idx="13" hasCustomPrompt="1"/>
          </p:nvPr>
        </p:nvSpPr>
        <p:spPr>
          <a:xfrm>
            <a:off x="6729933" y="3034535"/>
            <a:ext cx="1346400" cy="669200"/>
          </a:xfrm>
          <a:prstGeom prst="rect">
            <a:avLst/>
          </a:prstGeom>
          <a:noFill/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1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95" name="Google Shape;195;p20"/>
          <p:cNvSpPr txBox="1">
            <a:spLocks noGrp="1"/>
          </p:cNvSpPr>
          <p:nvPr>
            <p:ph type="title" idx="14" hasCustomPrompt="1"/>
          </p:nvPr>
        </p:nvSpPr>
        <p:spPr>
          <a:xfrm>
            <a:off x="9281133" y="3034535"/>
            <a:ext cx="1346400" cy="669200"/>
          </a:xfrm>
          <a:prstGeom prst="rect">
            <a:avLst/>
          </a:prstGeom>
          <a:noFill/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1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96" name="Google Shape;196;p20"/>
          <p:cNvSpPr txBox="1">
            <a:spLocks noGrp="1"/>
          </p:cNvSpPr>
          <p:nvPr>
            <p:ph type="title" idx="15"/>
          </p:nvPr>
        </p:nvSpPr>
        <p:spPr>
          <a:xfrm>
            <a:off x="950967" y="719333"/>
            <a:ext cx="10290000" cy="66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 sz="4133"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654121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Title and three columns 3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"/>
          <p:cNvSpPr/>
          <p:nvPr/>
        </p:nvSpPr>
        <p:spPr>
          <a:xfrm>
            <a:off x="0" y="4562833"/>
            <a:ext cx="12192000" cy="229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9" name="Google Shape;199;p21"/>
          <p:cNvSpPr/>
          <p:nvPr/>
        </p:nvSpPr>
        <p:spPr>
          <a:xfrm>
            <a:off x="8204300" y="1022600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-1102500" y="1415200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964467" y="1536533"/>
            <a:ext cx="10276400" cy="47120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428625" dist="161925" dir="4200000" algn="bl" rotWithShape="0">
              <a:schemeClr val="dk1">
                <a:alpha val="45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2" name="Google Shape;202;p21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81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 sz="4133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3" name="Google Shape;203;p21"/>
          <p:cNvSpPr txBox="1">
            <a:spLocks noGrp="1"/>
          </p:cNvSpPr>
          <p:nvPr>
            <p:ph type="subTitle" idx="1"/>
          </p:nvPr>
        </p:nvSpPr>
        <p:spPr>
          <a:xfrm>
            <a:off x="1319356" y="4510663"/>
            <a:ext cx="2981200" cy="450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33">
                <a:latin typeface="Amethysta"/>
                <a:ea typeface="Amethysta"/>
                <a:cs typeface="Amethysta"/>
                <a:sym typeface="Amethyst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1"/>
          <p:cNvSpPr txBox="1">
            <a:spLocks noGrp="1"/>
          </p:cNvSpPr>
          <p:nvPr>
            <p:ph type="subTitle" idx="2"/>
          </p:nvPr>
        </p:nvSpPr>
        <p:spPr>
          <a:xfrm>
            <a:off x="1319356" y="5041271"/>
            <a:ext cx="2981200" cy="66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1"/>
          <p:cNvSpPr txBox="1">
            <a:spLocks noGrp="1"/>
          </p:cNvSpPr>
          <p:nvPr>
            <p:ph type="subTitle" idx="3"/>
          </p:nvPr>
        </p:nvSpPr>
        <p:spPr>
          <a:xfrm>
            <a:off x="4605400" y="4510663"/>
            <a:ext cx="2981200" cy="450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33">
                <a:latin typeface="Amethysta"/>
                <a:ea typeface="Amethysta"/>
                <a:cs typeface="Amethysta"/>
                <a:sym typeface="Amethyst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6" name="Google Shape;206;p21"/>
          <p:cNvSpPr txBox="1">
            <a:spLocks noGrp="1"/>
          </p:cNvSpPr>
          <p:nvPr>
            <p:ph type="subTitle" idx="4"/>
          </p:nvPr>
        </p:nvSpPr>
        <p:spPr>
          <a:xfrm>
            <a:off x="4605400" y="5041271"/>
            <a:ext cx="2981200" cy="66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1"/>
          <p:cNvSpPr txBox="1">
            <a:spLocks noGrp="1"/>
          </p:cNvSpPr>
          <p:nvPr>
            <p:ph type="subTitle" idx="5"/>
          </p:nvPr>
        </p:nvSpPr>
        <p:spPr>
          <a:xfrm>
            <a:off x="7891444" y="4510663"/>
            <a:ext cx="2981200" cy="450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33">
                <a:latin typeface="Amethysta"/>
                <a:ea typeface="Amethysta"/>
                <a:cs typeface="Amethysta"/>
                <a:sym typeface="Amethyst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1"/>
          <p:cNvSpPr txBox="1">
            <a:spLocks noGrp="1"/>
          </p:cNvSpPr>
          <p:nvPr>
            <p:ph type="subTitle" idx="6"/>
          </p:nvPr>
        </p:nvSpPr>
        <p:spPr>
          <a:xfrm>
            <a:off x="7891444" y="5041271"/>
            <a:ext cx="2981200" cy="66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573415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/>
          <p:nvPr/>
        </p:nvSpPr>
        <p:spPr>
          <a:xfrm>
            <a:off x="11627400" y="1447067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rgbClr val="E4C1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1" name="Google Shape;211;p22"/>
          <p:cNvSpPr/>
          <p:nvPr/>
        </p:nvSpPr>
        <p:spPr>
          <a:xfrm>
            <a:off x="347133" y="3359733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rgbClr val="E4C1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2" name="Google Shape;212;p22"/>
          <p:cNvSpPr/>
          <p:nvPr/>
        </p:nvSpPr>
        <p:spPr>
          <a:xfrm>
            <a:off x="1776933" y="4242800"/>
            <a:ext cx="10415200" cy="263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3" name="Google Shape;213;p22"/>
          <p:cNvSpPr/>
          <p:nvPr/>
        </p:nvSpPr>
        <p:spPr>
          <a:xfrm>
            <a:off x="964467" y="711000"/>
            <a:ext cx="10276400" cy="54360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428625" dist="161925" dir="4200000" algn="bl" rotWithShape="0">
              <a:schemeClr val="dk1">
                <a:alpha val="45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4" name="Google Shape;214;p22"/>
          <p:cNvSpPr txBox="1">
            <a:spLocks noGrp="1"/>
          </p:cNvSpPr>
          <p:nvPr>
            <p:ph type="subTitle" idx="1"/>
          </p:nvPr>
        </p:nvSpPr>
        <p:spPr>
          <a:xfrm>
            <a:off x="1586933" y="4080567"/>
            <a:ext cx="4625200" cy="1460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5" name="Google Shape;215;p22"/>
          <p:cNvSpPr txBox="1">
            <a:spLocks noGrp="1"/>
          </p:cNvSpPr>
          <p:nvPr>
            <p:ph type="title"/>
          </p:nvPr>
        </p:nvSpPr>
        <p:spPr>
          <a:xfrm>
            <a:off x="1586967" y="1339409"/>
            <a:ext cx="4625200" cy="2430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 sz="4133"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59738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">
          <p15:clr>
            <a:srgbClr val="FA7B17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"/>
          <p:cNvSpPr/>
          <p:nvPr/>
        </p:nvSpPr>
        <p:spPr>
          <a:xfrm>
            <a:off x="10056200" y="1536533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rgbClr val="E4C1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8" name="Google Shape;218;p23"/>
          <p:cNvSpPr/>
          <p:nvPr/>
        </p:nvSpPr>
        <p:spPr>
          <a:xfrm>
            <a:off x="324500" y="3295700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rgbClr val="E4C1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9" name="Google Shape;219;p23"/>
          <p:cNvSpPr/>
          <p:nvPr/>
        </p:nvSpPr>
        <p:spPr>
          <a:xfrm>
            <a:off x="1776933" y="4242800"/>
            <a:ext cx="10415200" cy="263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0" name="Google Shape;220;p23"/>
          <p:cNvSpPr/>
          <p:nvPr/>
        </p:nvSpPr>
        <p:spPr>
          <a:xfrm>
            <a:off x="964467" y="1903500"/>
            <a:ext cx="10276400" cy="43448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428625" dist="161925" dir="4200000" algn="bl" rotWithShape="0">
              <a:schemeClr val="dk1">
                <a:alpha val="45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1" name="Google Shape;221;p23"/>
          <p:cNvSpPr txBox="1">
            <a:spLocks noGrp="1"/>
          </p:cNvSpPr>
          <p:nvPr>
            <p:ph type="subTitle" idx="1"/>
          </p:nvPr>
        </p:nvSpPr>
        <p:spPr>
          <a:xfrm>
            <a:off x="1783000" y="2886900"/>
            <a:ext cx="8626000" cy="271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2" name="Google Shape;222;p23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81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6924398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"/>
          <p:cNvSpPr/>
          <p:nvPr/>
        </p:nvSpPr>
        <p:spPr>
          <a:xfrm>
            <a:off x="349067" y="442600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rgbClr val="E4C1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5" name="Google Shape;225;p24"/>
          <p:cNvSpPr/>
          <p:nvPr/>
        </p:nvSpPr>
        <p:spPr>
          <a:xfrm>
            <a:off x="10103100" y="2181651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rgbClr val="E4C1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6" name="Google Shape;226;p24"/>
          <p:cNvSpPr/>
          <p:nvPr/>
        </p:nvSpPr>
        <p:spPr>
          <a:xfrm>
            <a:off x="1776933" y="4242800"/>
            <a:ext cx="10415200" cy="263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7" name="Google Shape;227;p24"/>
          <p:cNvSpPr/>
          <p:nvPr/>
        </p:nvSpPr>
        <p:spPr>
          <a:xfrm>
            <a:off x="951000" y="1012567"/>
            <a:ext cx="10290000" cy="52360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428625" dist="161925" dir="4200000" algn="bl" rotWithShape="0">
              <a:schemeClr val="dk1">
                <a:alpha val="45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8" name="Google Shape;228;p24"/>
          <p:cNvSpPr txBox="1">
            <a:spLocks noGrp="1"/>
          </p:cNvSpPr>
          <p:nvPr>
            <p:ph type="subTitle" idx="1"/>
          </p:nvPr>
        </p:nvSpPr>
        <p:spPr>
          <a:xfrm>
            <a:off x="1322333" y="3685800"/>
            <a:ext cx="3784400" cy="1583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9" name="Google Shape;229;p24"/>
          <p:cNvSpPr txBox="1">
            <a:spLocks noGrp="1"/>
          </p:cNvSpPr>
          <p:nvPr>
            <p:ph type="title"/>
          </p:nvPr>
        </p:nvSpPr>
        <p:spPr>
          <a:xfrm>
            <a:off x="1322367" y="2323200"/>
            <a:ext cx="3922400" cy="1252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 sz="4133"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967297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5"/>
          <p:cNvSpPr/>
          <p:nvPr/>
        </p:nvSpPr>
        <p:spPr>
          <a:xfrm>
            <a:off x="1776933" y="4242800"/>
            <a:ext cx="10415200" cy="263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2" name="Google Shape;232;p25"/>
          <p:cNvSpPr/>
          <p:nvPr/>
        </p:nvSpPr>
        <p:spPr>
          <a:xfrm>
            <a:off x="1350433" y="5538633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sp>
        <p:nvSpPr>
          <p:cNvPr id="233" name="Google Shape;233;p25"/>
          <p:cNvSpPr/>
          <p:nvPr/>
        </p:nvSpPr>
        <p:spPr>
          <a:xfrm>
            <a:off x="10937167" y="-381067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sp>
        <p:nvSpPr>
          <p:cNvPr id="234" name="Google Shape;234;p25"/>
          <p:cNvSpPr/>
          <p:nvPr/>
        </p:nvSpPr>
        <p:spPr>
          <a:xfrm>
            <a:off x="521467" y="444500"/>
            <a:ext cx="11162400" cy="6014400"/>
          </a:xfrm>
          <a:prstGeom prst="rect">
            <a:avLst/>
          </a:prstGeom>
          <a:solidFill>
            <a:srgbClr val="F7F1ED"/>
          </a:solidFill>
          <a:ln>
            <a:noFill/>
          </a:ln>
          <a:effectLst>
            <a:outerShdw blurRad="428625" dist="161925" dir="4200000" algn="bl" rotWithShape="0">
              <a:schemeClr val="dk1">
                <a:alpha val="45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5" name="Google Shape;235;p25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66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 sz="4133"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466667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7"/>
          <p:cNvSpPr/>
          <p:nvPr/>
        </p:nvSpPr>
        <p:spPr>
          <a:xfrm>
            <a:off x="0" y="4562833"/>
            <a:ext cx="12192000" cy="229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3" name="Google Shape;243;p27"/>
          <p:cNvSpPr/>
          <p:nvPr/>
        </p:nvSpPr>
        <p:spPr>
          <a:xfrm>
            <a:off x="-490833" y="2197733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sp>
        <p:nvSpPr>
          <p:cNvPr id="244" name="Google Shape;244;p27"/>
          <p:cNvSpPr/>
          <p:nvPr/>
        </p:nvSpPr>
        <p:spPr>
          <a:xfrm>
            <a:off x="10971633" y="1352633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sp>
        <p:nvSpPr>
          <p:cNvPr id="245" name="Google Shape;245;p27"/>
          <p:cNvSpPr/>
          <p:nvPr/>
        </p:nvSpPr>
        <p:spPr>
          <a:xfrm>
            <a:off x="521467" y="444500"/>
            <a:ext cx="11162400" cy="5804000"/>
          </a:xfrm>
          <a:prstGeom prst="rect">
            <a:avLst/>
          </a:prstGeom>
          <a:solidFill>
            <a:srgbClr val="F7F1ED"/>
          </a:solidFill>
          <a:ln>
            <a:noFill/>
          </a:ln>
          <a:effectLst>
            <a:outerShdw blurRad="428625" dist="161925" dir="4200000" algn="bl" rotWithShape="0">
              <a:schemeClr val="dk1">
                <a:alpha val="45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6" name="Google Shape;246;p27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66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 sz="4133"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114047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8"/>
          <p:cNvSpPr/>
          <p:nvPr/>
        </p:nvSpPr>
        <p:spPr>
          <a:xfrm>
            <a:off x="5250167" y="2524700"/>
            <a:ext cx="6941600" cy="4333200"/>
          </a:xfrm>
          <a:prstGeom prst="rect">
            <a:avLst/>
          </a:prstGeom>
          <a:solidFill>
            <a:srgbClr val="E4C1A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9" name="Google Shape;249;p28"/>
          <p:cNvSpPr/>
          <p:nvPr/>
        </p:nvSpPr>
        <p:spPr>
          <a:xfrm>
            <a:off x="-480600" y="5652333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sp>
        <p:nvSpPr>
          <p:cNvPr id="250" name="Google Shape;250;p28"/>
          <p:cNvSpPr/>
          <p:nvPr/>
        </p:nvSpPr>
        <p:spPr>
          <a:xfrm>
            <a:off x="10801533" y="-625200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sp>
        <p:nvSpPr>
          <p:cNvPr id="251" name="Google Shape;251;p28"/>
          <p:cNvSpPr/>
          <p:nvPr/>
        </p:nvSpPr>
        <p:spPr>
          <a:xfrm>
            <a:off x="521467" y="444500"/>
            <a:ext cx="11162400" cy="6014400"/>
          </a:xfrm>
          <a:prstGeom prst="rect">
            <a:avLst/>
          </a:prstGeom>
          <a:solidFill>
            <a:srgbClr val="F7F1ED"/>
          </a:solidFill>
          <a:ln>
            <a:noFill/>
          </a:ln>
          <a:effectLst>
            <a:outerShdw blurRad="428625" dist="161925" dir="4200000" algn="bl" rotWithShape="0">
              <a:schemeClr val="dk1">
                <a:alpha val="45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2" name="Google Shape;252;p28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66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 sz="4133"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767173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"/>
          <p:cNvSpPr/>
          <p:nvPr/>
        </p:nvSpPr>
        <p:spPr>
          <a:xfrm>
            <a:off x="0" y="4242800"/>
            <a:ext cx="9954800" cy="261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5" name="Google Shape;255;p29"/>
          <p:cNvSpPr/>
          <p:nvPr/>
        </p:nvSpPr>
        <p:spPr>
          <a:xfrm>
            <a:off x="-253500" y="1500633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sp>
        <p:nvSpPr>
          <p:cNvPr id="256" name="Google Shape;256;p29"/>
          <p:cNvSpPr/>
          <p:nvPr/>
        </p:nvSpPr>
        <p:spPr>
          <a:xfrm>
            <a:off x="10802067" y="2061767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sp>
        <p:nvSpPr>
          <p:cNvPr id="257" name="Google Shape;257;p29"/>
          <p:cNvSpPr/>
          <p:nvPr/>
        </p:nvSpPr>
        <p:spPr>
          <a:xfrm>
            <a:off x="521467" y="444500"/>
            <a:ext cx="11162400" cy="6014400"/>
          </a:xfrm>
          <a:prstGeom prst="rect">
            <a:avLst/>
          </a:prstGeom>
          <a:solidFill>
            <a:srgbClr val="F7F1ED"/>
          </a:solidFill>
          <a:ln>
            <a:noFill/>
          </a:ln>
          <a:effectLst>
            <a:outerShdw blurRad="428625" dist="161925" dir="4200000" algn="bl" rotWithShape="0">
              <a:schemeClr val="dk1">
                <a:alpha val="45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8" name="Google Shape;258;p29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66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 sz="4133"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1428804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"/>
          <p:cNvSpPr/>
          <p:nvPr/>
        </p:nvSpPr>
        <p:spPr>
          <a:xfrm>
            <a:off x="2597633" y="4833800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1" name="Google Shape;261;p30"/>
          <p:cNvSpPr/>
          <p:nvPr/>
        </p:nvSpPr>
        <p:spPr>
          <a:xfrm>
            <a:off x="7656167" y="1583116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2" name="Google Shape;262;p30"/>
          <p:cNvSpPr/>
          <p:nvPr/>
        </p:nvSpPr>
        <p:spPr>
          <a:xfrm flipH="1">
            <a:off x="0" y="2284613"/>
            <a:ext cx="3659600" cy="373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3" name="Google Shape;263;p30"/>
          <p:cNvSpPr/>
          <p:nvPr/>
        </p:nvSpPr>
        <p:spPr>
          <a:xfrm flipH="1">
            <a:off x="3659533" y="2284500"/>
            <a:ext cx="8532400" cy="37352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428625" dist="161925" dir="4200000" algn="bl" rotWithShape="0">
              <a:schemeClr val="dk1">
                <a:alpha val="45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4" name="Google Shape;264;p30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7844000" cy="1307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1556975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Title only 7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"/>
          <p:cNvSpPr/>
          <p:nvPr/>
        </p:nvSpPr>
        <p:spPr>
          <a:xfrm>
            <a:off x="2239167" y="4242800"/>
            <a:ext cx="9954800" cy="261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7" name="Google Shape;267;p31"/>
          <p:cNvSpPr/>
          <p:nvPr/>
        </p:nvSpPr>
        <p:spPr>
          <a:xfrm>
            <a:off x="10125900" y="1042000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8" name="Google Shape;268;p31"/>
          <p:cNvSpPr/>
          <p:nvPr/>
        </p:nvSpPr>
        <p:spPr>
          <a:xfrm>
            <a:off x="325733" y="4210951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9" name="Google Shape;269;p31"/>
          <p:cNvSpPr/>
          <p:nvPr/>
        </p:nvSpPr>
        <p:spPr>
          <a:xfrm>
            <a:off x="964467" y="1536533"/>
            <a:ext cx="10276400" cy="47120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428625" dist="161925" dir="4200000" algn="bl" rotWithShape="0">
              <a:schemeClr val="dk1">
                <a:alpha val="45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0" name="Google Shape;270;p31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66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 sz="4133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5497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Title only 8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"/>
          <p:cNvSpPr/>
          <p:nvPr/>
        </p:nvSpPr>
        <p:spPr>
          <a:xfrm flipH="1">
            <a:off x="375033" y="1807633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3" name="Google Shape;273;p32"/>
          <p:cNvSpPr/>
          <p:nvPr/>
        </p:nvSpPr>
        <p:spPr>
          <a:xfrm flipH="1">
            <a:off x="10149133" y="3831751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4" name="Google Shape;274;p32"/>
          <p:cNvSpPr/>
          <p:nvPr/>
        </p:nvSpPr>
        <p:spPr>
          <a:xfrm>
            <a:off x="0" y="4242800"/>
            <a:ext cx="9954800" cy="261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5" name="Google Shape;275;p32"/>
          <p:cNvSpPr/>
          <p:nvPr/>
        </p:nvSpPr>
        <p:spPr>
          <a:xfrm>
            <a:off x="950967" y="1536533"/>
            <a:ext cx="10290000" cy="47120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428625" dist="161925" dir="4200000" algn="bl" rotWithShape="0">
              <a:schemeClr val="dk1">
                <a:alpha val="45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6" name="Google Shape;276;p32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66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 sz="4133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934961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3"/>
          <p:cNvSpPr/>
          <p:nvPr/>
        </p:nvSpPr>
        <p:spPr>
          <a:xfrm>
            <a:off x="10878933" y="-491767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9" name="Google Shape;279;p33"/>
          <p:cNvSpPr/>
          <p:nvPr/>
        </p:nvSpPr>
        <p:spPr>
          <a:xfrm>
            <a:off x="2230000" y="4242800"/>
            <a:ext cx="9954800" cy="261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0" name="Google Shape;280;p33"/>
          <p:cNvSpPr/>
          <p:nvPr/>
        </p:nvSpPr>
        <p:spPr>
          <a:xfrm>
            <a:off x="-668867" y="5726900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1" name="Google Shape;281;p33"/>
          <p:cNvSpPr/>
          <p:nvPr/>
        </p:nvSpPr>
        <p:spPr>
          <a:xfrm>
            <a:off x="521467" y="444500"/>
            <a:ext cx="11162400" cy="6015600"/>
          </a:xfrm>
          <a:prstGeom prst="rect">
            <a:avLst/>
          </a:prstGeom>
          <a:solidFill>
            <a:srgbClr val="F7F1ED"/>
          </a:solidFill>
          <a:ln>
            <a:noFill/>
          </a:ln>
          <a:effectLst>
            <a:outerShdw blurRad="428625" dist="161925" dir="4200000" algn="bl" rotWithShape="0">
              <a:schemeClr val="dk1">
                <a:alpha val="45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2" name="Google Shape;282;p33"/>
          <p:cNvSpPr txBox="1">
            <a:spLocks noGrp="1"/>
          </p:cNvSpPr>
          <p:nvPr>
            <p:ph type="subTitle" idx="1"/>
          </p:nvPr>
        </p:nvSpPr>
        <p:spPr>
          <a:xfrm>
            <a:off x="950967" y="2121400"/>
            <a:ext cx="4777200" cy="145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951000" y="719333"/>
            <a:ext cx="4777200" cy="1276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 sz="7466"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4" name="Google Shape;284;p33"/>
          <p:cNvSpPr txBox="1"/>
          <p:nvPr/>
        </p:nvSpPr>
        <p:spPr>
          <a:xfrm>
            <a:off x="960000" y="4867165"/>
            <a:ext cx="4777200" cy="8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including icons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and infographics &amp; images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Freepik</a:t>
            </a:r>
            <a:endParaRPr sz="1067" b="1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  <p:extLst>
      <p:ext uri="{BB962C8B-B14F-4D97-AF65-F5344CB8AC3E}">
        <p14:creationId xmlns:p14="http://schemas.microsoft.com/office/powerpoint/2010/main" val="343992480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4"/>
          <p:cNvSpPr/>
          <p:nvPr/>
        </p:nvSpPr>
        <p:spPr>
          <a:xfrm>
            <a:off x="-552667" y="5310367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7" name="Google Shape;287;p34"/>
          <p:cNvSpPr/>
          <p:nvPr/>
        </p:nvSpPr>
        <p:spPr>
          <a:xfrm>
            <a:off x="1776933" y="4242800"/>
            <a:ext cx="10415200" cy="2631600"/>
          </a:xfrm>
          <a:prstGeom prst="rect">
            <a:avLst/>
          </a:prstGeom>
          <a:solidFill>
            <a:srgbClr val="E4C1A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8" name="Google Shape;288;p34"/>
          <p:cNvSpPr/>
          <p:nvPr/>
        </p:nvSpPr>
        <p:spPr>
          <a:xfrm>
            <a:off x="720733" y="1162700"/>
            <a:ext cx="10764000" cy="5085600"/>
          </a:xfrm>
          <a:prstGeom prst="rect">
            <a:avLst/>
          </a:prstGeom>
          <a:solidFill>
            <a:srgbClr val="F7F1ED"/>
          </a:solidFill>
          <a:ln>
            <a:noFill/>
          </a:ln>
          <a:effectLst>
            <a:outerShdw blurRad="428625" dist="161925" dir="4200000" algn="bl" rotWithShape="0">
              <a:schemeClr val="dk1">
                <a:alpha val="45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289" name="Google Shape;289;p34"/>
          <p:cNvCxnSpPr/>
          <p:nvPr/>
        </p:nvCxnSpPr>
        <p:spPr>
          <a:xfrm rot="10800000">
            <a:off x="100" y="736967"/>
            <a:ext cx="123136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0" name="Google Shape;290;p34"/>
          <p:cNvCxnSpPr/>
          <p:nvPr/>
        </p:nvCxnSpPr>
        <p:spPr>
          <a:xfrm rot="10800000">
            <a:off x="4915467" y="167"/>
            <a:ext cx="0" cy="7368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1" name="Google Shape;291;p34"/>
          <p:cNvSpPr txBox="1"/>
          <p:nvPr/>
        </p:nvSpPr>
        <p:spPr>
          <a:xfrm>
            <a:off x="950967" y="161195"/>
            <a:ext cx="33676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267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33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WORLDWIDE NATIONAL IDENTITIES</a:t>
            </a:r>
            <a:endParaRPr sz="1333">
              <a:solidFill>
                <a:schemeClr val="l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2" name="Google Shape;292;p34"/>
          <p:cNvSpPr txBox="1"/>
          <p:nvPr/>
        </p:nvSpPr>
        <p:spPr>
          <a:xfrm>
            <a:off x="5773567" y="161195"/>
            <a:ext cx="33676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267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33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MASTER’S THESIS</a:t>
            </a:r>
            <a:endParaRPr sz="1333">
              <a:solidFill>
                <a:schemeClr val="l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3" name="Google Shape;293;p34"/>
          <p:cNvSpPr txBox="1"/>
          <p:nvPr/>
        </p:nvSpPr>
        <p:spPr>
          <a:xfrm rot="-5400000">
            <a:off x="4333" y="5962900"/>
            <a:ext cx="6560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267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33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2022</a:t>
            </a:r>
            <a:endParaRPr sz="1333">
              <a:solidFill>
                <a:schemeClr val="l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22579182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5"/>
          <p:cNvSpPr/>
          <p:nvPr/>
        </p:nvSpPr>
        <p:spPr>
          <a:xfrm>
            <a:off x="0" y="4562833"/>
            <a:ext cx="12192000" cy="229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6" name="Google Shape;296;p35"/>
          <p:cNvSpPr/>
          <p:nvPr/>
        </p:nvSpPr>
        <p:spPr>
          <a:xfrm>
            <a:off x="10132267" y="1022600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sp>
        <p:nvSpPr>
          <p:cNvPr id="297" name="Google Shape;297;p35"/>
          <p:cNvSpPr/>
          <p:nvPr/>
        </p:nvSpPr>
        <p:spPr>
          <a:xfrm>
            <a:off x="-1058600" y="2209751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sp>
        <p:nvSpPr>
          <p:cNvPr id="298" name="Google Shape;298;p35"/>
          <p:cNvSpPr/>
          <p:nvPr/>
        </p:nvSpPr>
        <p:spPr>
          <a:xfrm>
            <a:off x="964467" y="1621400"/>
            <a:ext cx="10276400" cy="36152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428625" dist="161925" dir="4200000" algn="bl" rotWithShape="0">
              <a:schemeClr val="dk1">
                <a:alpha val="45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299" name="Google Shape;299;p35"/>
          <p:cNvCxnSpPr/>
          <p:nvPr/>
        </p:nvCxnSpPr>
        <p:spPr>
          <a:xfrm rot="10800000">
            <a:off x="100" y="736967"/>
            <a:ext cx="123136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0" name="Google Shape;300;p35"/>
          <p:cNvCxnSpPr/>
          <p:nvPr/>
        </p:nvCxnSpPr>
        <p:spPr>
          <a:xfrm rot="10800000">
            <a:off x="4915467" y="167"/>
            <a:ext cx="0" cy="7368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1" name="Google Shape;301;p35"/>
          <p:cNvSpPr txBox="1"/>
          <p:nvPr/>
        </p:nvSpPr>
        <p:spPr>
          <a:xfrm>
            <a:off x="950967" y="161195"/>
            <a:ext cx="33676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267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33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WORLDWIDE NATIONAL IDENTITIES</a:t>
            </a:r>
            <a:endParaRPr sz="1333">
              <a:solidFill>
                <a:schemeClr val="l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2" name="Google Shape;302;p35"/>
          <p:cNvSpPr txBox="1"/>
          <p:nvPr/>
        </p:nvSpPr>
        <p:spPr>
          <a:xfrm>
            <a:off x="5773567" y="161195"/>
            <a:ext cx="33676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267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33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MASTER’S THESIS</a:t>
            </a:r>
            <a:endParaRPr sz="1333">
              <a:solidFill>
                <a:schemeClr val="l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5041554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6"/>
          <p:cNvSpPr/>
          <p:nvPr/>
        </p:nvSpPr>
        <p:spPr>
          <a:xfrm>
            <a:off x="-1057033" y="1659000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sp>
        <p:nvSpPr>
          <p:cNvPr id="305" name="Google Shape;305;p36"/>
          <p:cNvSpPr/>
          <p:nvPr/>
        </p:nvSpPr>
        <p:spPr>
          <a:xfrm>
            <a:off x="9954800" y="4223700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sp>
        <p:nvSpPr>
          <p:cNvPr id="306" name="Google Shape;306;p36"/>
          <p:cNvSpPr/>
          <p:nvPr/>
        </p:nvSpPr>
        <p:spPr>
          <a:xfrm>
            <a:off x="0" y="4223700"/>
            <a:ext cx="9954800" cy="263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7" name="Google Shape;307;p36"/>
          <p:cNvSpPr/>
          <p:nvPr/>
        </p:nvSpPr>
        <p:spPr>
          <a:xfrm>
            <a:off x="964467" y="1361592"/>
            <a:ext cx="10276400" cy="41800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428625" dist="161925" dir="4200000" algn="bl" rotWithShape="0">
              <a:schemeClr val="dk1">
                <a:alpha val="45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308" name="Google Shape;308;p36"/>
          <p:cNvCxnSpPr/>
          <p:nvPr/>
        </p:nvCxnSpPr>
        <p:spPr>
          <a:xfrm>
            <a:off x="-126932" y="736967"/>
            <a:ext cx="123136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" name="Google Shape;309;p36"/>
          <p:cNvCxnSpPr/>
          <p:nvPr/>
        </p:nvCxnSpPr>
        <p:spPr>
          <a:xfrm rot="10800000">
            <a:off x="7271301" y="167"/>
            <a:ext cx="0" cy="7368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0" name="Google Shape;310;p36"/>
          <p:cNvSpPr txBox="1"/>
          <p:nvPr/>
        </p:nvSpPr>
        <p:spPr>
          <a:xfrm flipH="1">
            <a:off x="7868201" y="161195"/>
            <a:ext cx="33676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267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33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WORLDWIDE NATIONAL IDENTITIES</a:t>
            </a:r>
            <a:endParaRPr sz="1333">
              <a:solidFill>
                <a:schemeClr val="l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1" name="Google Shape;311;p36"/>
          <p:cNvSpPr txBox="1"/>
          <p:nvPr/>
        </p:nvSpPr>
        <p:spPr>
          <a:xfrm flipH="1">
            <a:off x="3045601" y="161195"/>
            <a:ext cx="33676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267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33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MASTER’S THESIS</a:t>
            </a:r>
            <a:endParaRPr sz="1333">
              <a:solidFill>
                <a:schemeClr val="l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2" name="Google Shape;312;p36"/>
          <p:cNvSpPr txBox="1"/>
          <p:nvPr/>
        </p:nvSpPr>
        <p:spPr>
          <a:xfrm rot="5400000" flipH="1">
            <a:off x="11526435" y="5962900"/>
            <a:ext cx="6560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267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33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2022</a:t>
            </a:r>
            <a:endParaRPr sz="1333">
              <a:solidFill>
                <a:schemeClr val="l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83395811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198833" y="957867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rgbClr val="E4C1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" name="Google Shape;17;p3"/>
          <p:cNvSpPr/>
          <p:nvPr/>
        </p:nvSpPr>
        <p:spPr>
          <a:xfrm>
            <a:off x="1678200" y="4652333"/>
            <a:ext cx="1770000" cy="1770000"/>
          </a:xfrm>
          <a:prstGeom prst="flowChartConnector">
            <a:avLst/>
          </a:prstGeom>
          <a:noFill/>
          <a:ln w="9525" cap="flat" cmpd="sng">
            <a:solidFill>
              <a:srgbClr val="E4C1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" name="Google Shape;18;p3"/>
          <p:cNvSpPr/>
          <p:nvPr/>
        </p:nvSpPr>
        <p:spPr>
          <a:xfrm>
            <a:off x="5250167" y="2524700"/>
            <a:ext cx="6941600" cy="4333200"/>
          </a:xfrm>
          <a:prstGeom prst="rect">
            <a:avLst/>
          </a:prstGeom>
          <a:solidFill>
            <a:srgbClr val="E4C1A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" name="Google Shape;19;p3"/>
          <p:cNvSpPr/>
          <p:nvPr/>
        </p:nvSpPr>
        <p:spPr>
          <a:xfrm>
            <a:off x="950967" y="1318767"/>
            <a:ext cx="10290000" cy="4929600"/>
          </a:xfrm>
          <a:prstGeom prst="rect">
            <a:avLst/>
          </a:prstGeom>
          <a:solidFill>
            <a:srgbClr val="F7F1ED"/>
          </a:solidFill>
          <a:ln>
            <a:noFill/>
          </a:ln>
          <a:effectLst>
            <a:outerShdw blurRad="428625" dist="161925" dir="4200000" algn="bl" rotWithShape="0">
              <a:schemeClr val="dk1">
                <a:alpha val="45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1172600" y="3523005"/>
            <a:ext cx="5759600" cy="1621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267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172600" y="5271405"/>
            <a:ext cx="5759600" cy="3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2" hasCustomPrompt="1"/>
          </p:nvPr>
        </p:nvSpPr>
        <p:spPr>
          <a:xfrm>
            <a:off x="1172600" y="1673072"/>
            <a:ext cx="2169600" cy="1532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0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19153660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2713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87E40-2D80-48F2-A6C7-61BBF87004A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BC1D80-BFB5-47AC-96A8-15CC5D01C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561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methysta"/>
              <a:buNone/>
              <a:defRPr sz="3100">
                <a:solidFill>
                  <a:schemeClr val="dk1"/>
                </a:solidFill>
                <a:latin typeface="Amethysta"/>
                <a:ea typeface="Amethysta"/>
                <a:cs typeface="Amethysta"/>
                <a:sym typeface="Amethys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methysta"/>
              <a:buNone/>
              <a:defRPr sz="3100">
                <a:solidFill>
                  <a:schemeClr val="dk1"/>
                </a:solidFill>
                <a:latin typeface="Amethysta"/>
                <a:ea typeface="Amethysta"/>
                <a:cs typeface="Amethysta"/>
                <a:sym typeface="Amethyst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methysta"/>
              <a:buNone/>
              <a:defRPr sz="3100">
                <a:solidFill>
                  <a:schemeClr val="dk1"/>
                </a:solidFill>
                <a:latin typeface="Amethysta"/>
                <a:ea typeface="Amethysta"/>
                <a:cs typeface="Amethysta"/>
                <a:sym typeface="Amethyst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methysta"/>
              <a:buNone/>
              <a:defRPr sz="3100">
                <a:solidFill>
                  <a:schemeClr val="dk1"/>
                </a:solidFill>
                <a:latin typeface="Amethysta"/>
                <a:ea typeface="Amethysta"/>
                <a:cs typeface="Amethysta"/>
                <a:sym typeface="Amethyst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methysta"/>
              <a:buNone/>
              <a:defRPr sz="3100">
                <a:solidFill>
                  <a:schemeClr val="dk1"/>
                </a:solidFill>
                <a:latin typeface="Amethysta"/>
                <a:ea typeface="Amethysta"/>
                <a:cs typeface="Amethysta"/>
                <a:sym typeface="Amethyst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methysta"/>
              <a:buNone/>
              <a:defRPr sz="3100">
                <a:solidFill>
                  <a:schemeClr val="dk1"/>
                </a:solidFill>
                <a:latin typeface="Amethysta"/>
                <a:ea typeface="Amethysta"/>
                <a:cs typeface="Amethysta"/>
                <a:sym typeface="Amethyst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methysta"/>
              <a:buNone/>
              <a:defRPr sz="3100">
                <a:solidFill>
                  <a:schemeClr val="dk1"/>
                </a:solidFill>
                <a:latin typeface="Amethysta"/>
                <a:ea typeface="Amethysta"/>
                <a:cs typeface="Amethysta"/>
                <a:sym typeface="Amethyst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methysta"/>
              <a:buNone/>
              <a:defRPr sz="3100">
                <a:solidFill>
                  <a:schemeClr val="dk1"/>
                </a:solidFill>
                <a:latin typeface="Amethysta"/>
                <a:ea typeface="Amethysta"/>
                <a:cs typeface="Amethysta"/>
                <a:sym typeface="Amethyst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methysta"/>
              <a:buNone/>
              <a:defRPr sz="3100">
                <a:solidFill>
                  <a:schemeClr val="dk1"/>
                </a:solidFill>
                <a:latin typeface="Amethysta"/>
                <a:ea typeface="Amethysta"/>
                <a:cs typeface="Amethysta"/>
                <a:sym typeface="Amethyst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049836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8633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microsoft.com/office/2007/relationships/hdphoto" Target="../media/hdphoto3.wdp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23.png"/><Relationship Id="rId11" Type="http://schemas.openxmlformats.org/officeDocument/2006/relationships/image" Target="../media/image2.png"/><Relationship Id="rId5" Type="http://schemas.openxmlformats.org/officeDocument/2006/relationships/image" Target="../media/image22.png"/><Relationship Id="rId10" Type="http://schemas.openxmlformats.org/officeDocument/2006/relationships/image" Target="../media/image1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12" Type="http://schemas.openxmlformats.org/officeDocument/2006/relationships/image" Target="../media/image3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32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43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9625" y="2371152"/>
            <a:ext cx="10290000" cy="669600"/>
          </a:xfrm>
        </p:spPr>
        <p:txBody>
          <a:bodyPr/>
          <a:lstStyle/>
          <a:p>
            <a:pPr algn="ctr"/>
            <a:r>
              <a:rPr lang="en-US" sz="3600" dirty="0" smtClean="0">
                <a:solidFill>
                  <a:srgbClr val="843C0C"/>
                </a:solidFill>
                <a:latin typeface="Trebuchet MS" panose="020B0603020202020204" pitchFamily="34" charset="0"/>
              </a:rPr>
              <a:t>HANDS-ON WORKSHOP</a:t>
            </a:r>
            <a:endParaRPr lang="en-US" sz="3600" dirty="0">
              <a:solidFill>
                <a:srgbClr val="843C0C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2825" y="3661889"/>
            <a:ext cx="9843600" cy="1167309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843C0C"/>
                </a:solidFill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Development of Retrieval Augmented Generation (RAG) Pipeline for Multimodal Data</a:t>
            </a:r>
            <a:endParaRPr lang="en-US" sz="2800" dirty="0">
              <a:solidFill>
                <a:srgbClr val="843C0C"/>
              </a:solidFill>
            </a:endParaRPr>
          </a:p>
          <a:p>
            <a:pPr algn="ctr"/>
            <a:endParaRPr lang="en-US" sz="2800" dirty="0">
              <a:solidFill>
                <a:schemeClr val="bg2">
                  <a:lumMod val="25000"/>
                </a:schemeClr>
              </a:solidFill>
              <a:latin typeface="Palatino Linotype" panose="02040502050505030304" pitchFamily="18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8503992" y="95295"/>
            <a:ext cx="3441880" cy="800395"/>
            <a:chOff x="8503992" y="95295"/>
            <a:chExt cx="3441880" cy="800395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15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26186" y="127928"/>
              <a:ext cx="819686" cy="754791"/>
            </a:xfrm>
            <a:prstGeom prst="rect">
              <a:avLst/>
            </a:prstGeom>
          </p:spPr>
        </p:pic>
      </p:grpSp>
      <p:sp>
        <p:nvSpPr>
          <p:cNvPr id="16" name="TextBox 15"/>
          <p:cNvSpPr txBox="1"/>
          <p:nvPr/>
        </p:nvSpPr>
        <p:spPr>
          <a:xfrm>
            <a:off x="1199535" y="5574890"/>
            <a:ext cx="9024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843C0C"/>
                </a:solidFill>
              </a:rPr>
              <a:t>Trainer: </a:t>
            </a:r>
            <a:r>
              <a:rPr lang="en-US" dirty="0" smtClean="0">
                <a:solidFill>
                  <a:srgbClr val="843C0C"/>
                </a:solidFill>
              </a:rPr>
              <a:t>Ifra Noor, </a:t>
            </a:r>
            <a:r>
              <a:rPr lang="en-US" dirty="0" err="1" smtClean="0">
                <a:solidFill>
                  <a:srgbClr val="843C0C"/>
                </a:solidFill>
              </a:rPr>
              <a:t>Warda</a:t>
            </a:r>
            <a:r>
              <a:rPr lang="en-US" dirty="0" smtClean="0">
                <a:solidFill>
                  <a:srgbClr val="843C0C"/>
                </a:solidFill>
              </a:rPr>
              <a:t> </a:t>
            </a:r>
            <a:r>
              <a:rPr lang="en-US" dirty="0" err="1" smtClean="0">
                <a:solidFill>
                  <a:srgbClr val="843C0C"/>
                </a:solidFill>
              </a:rPr>
              <a:t>Waseem</a:t>
            </a:r>
            <a:r>
              <a:rPr lang="en-US" dirty="0" smtClean="0">
                <a:solidFill>
                  <a:srgbClr val="843C0C"/>
                </a:solidFill>
              </a:rPr>
              <a:t>, Maria Muslim, Hamza Khan</a:t>
            </a:r>
            <a:endParaRPr lang="en-US" dirty="0">
              <a:solidFill>
                <a:srgbClr val="843C0C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268972" y="5574890"/>
            <a:ext cx="2267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843C0C"/>
                </a:solidFill>
              </a:rPr>
              <a:t>12</a:t>
            </a:r>
            <a:r>
              <a:rPr lang="en-US" b="1" baseline="30000" dirty="0" smtClean="0">
                <a:solidFill>
                  <a:srgbClr val="843C0C"/>
                </a:solidFill>
              </a:rPr>
              <a:t>th</a:t>
            </a:r>
            <a:r>
              <a:rPr lang="en-US" b="1" dirty="0" smtClean="0">
                <a:solidFill>
                  <a:srgbClr val="843C0C"/>
                </a:solidFill>
              </a:rPr>
              <a:t> Feb, 2026</a:t>
            </a:r>
            <a:endParaRPr lang="en-US" b="1" dirty="0">
              <a:solidFill>
                <a:srgbClr val="843C0C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06887" y="182910"/>
            <a:ext cx="18779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bg2"/>
                </a:solidFill>
              </a:rPr>
              <a:t>IMAGE ANALYSIS LAB</a:t>
            </a:r>
            <a:endParaRPr lang="en-US" sz="16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9412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1277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32620" y="754747"/>
            <a:ext cx="7472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OUTLINE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0439" y="2212257"/>
            <a:ext cx="869171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843C0C"/>
                </a:solidFill>
              </a:rPr>
              <a:t>Introduction to Retrieval Augmented Generation (RAG</a:t>
            </a:r>
            <a:r>
              <a:rPr lang="en-US" b="1" dirty="0" smtClean="0">
                <a:solidFill>
                  <a:srgbClr val="843C0C"/>
                </a:solidFill>
              </a:rPr>
              <a:t>)            IFRA NOOR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843C0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 smtClean="0">
              <a:solidFill>
                <a:srgbClr val="843C0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smtClean="0">
                <a:solidFill>
                  <a:srgbClr val="843C0C"/>
                </a:solidFill>
              </a:rPr>
              <a:t>How to apply RAG on various data types                                                 WARDA WASEEM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843C0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 smtClean="0">
              <a:solidFill>
                <a:srgbClr val="843C0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smtClean="0">
                <a:solidFill>
                  <a:srgbClr val="843C0C"/>
                </a:solidFill>
              </a:rPr>
              <a:t>Integration of RAG </a:t>
            </a:r>
            <a:r>
              <a:rPr lang="en-US" b="1" dirty="0">
                <a:solidFill>
                  <a:srgbClr val="843C0C"/>
                </a:solidFill>
              </a:rPr>
              <a:t>in </a:t>
            </a:r>
            <a:r>
              <a:rPr lang="en-US" b="1" dirty="0" smtClean="0">
                <a:solidFill>
                  <a:srgbClr val="843C0C"/>
                </a:solidFill>
              </a:rPr>
              <a:t>Healthcare Applications                            MARIA MUSLIM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843C0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 smtClean="0">
              <a:solidFill>
                <a:srgbClr val="843C0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843C0C"/>
                </a:solidFill>
              </a:rPr>
              <a:t>RAG Implementation (Practical Session</a:t>
            </a:r>
            <a:r>
              <a:rPr lang="en-US" b="1" dirty="0" smtClean="0">
                <a:solidFill>
                  <a:srgbClr val="843C0C"/>
                </a:solidFill>
              </a:rPr>
              <a:t>)                                      HAMZA KHAN</a:t>
            </a:r>
            <a:endParaRPr lang="en-US" b="1" dirty="0">
              <a:solidFill>
                <a:srgbClr val="843C0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 smtClean="0">
              <a:solidFill>
                <a:srgbClr val="843C0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843C0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843C0C"/>
                </a:solidFill>
              </a:rPr>
              <a:t>Practical task for </a:t>
            </a:r>
            <a:r>
              <a:rPr lang="en-US" b="1" dirty="0" smtClean="0">
                <a:solidFill>
                  <a:srgbClr val="843C0C"/>
                </a:solidFill>
              </a:rPr>
              <a:t>students                                                               </a:t>
            </a:r>
            <a:r>
              <a:rPr lang="en-US" b="1" dirty="0" smtClean="0">
                <a:solidFill>
                  <a:srgbClr val="C00000"/>
                </a:solidFill>
              </a:rPr>
              <a:t>YOU GUYS</a:t>
            </a:r>
            <a:endParaRPr lang="en-US" b="1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6164826" y="2408904"/>
            <a:ext cx="521109" cy="983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4729316" y="3234813"/>
            <a:ext cx="2467896" cy="2949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5240594" y="4070555"/>
            <a:ext cx="1445341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4689987" y="4896465"/>
            <a:ext cx="1917290" cy="983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3421626" y="5702711"/>
            <a:ext cx="3185651" cy="1966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121445" y="5191432"/>
            <a:ext cx="3667432" cy="1288026"/>
          </a:xfrm>
          <a:prstGeom prst="roundRect">
            <a:avLst/>
          </a:prstGeom>
          <a:noFill/>
          <a:ln w="57150">
            <a:solidFill>
              <a:srgbClr val="843C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8259096" y="5512279"/>
            <a:ext cx="33921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CERTIFICATES WILL BE GIVEN AFTER TASK COMPLETION</a:t>
            </a:r>
            <a:endParaRPr lang="en-US" b="1" dirty="0">
              <a:solidFill>
                <a:srgbClr val="C00000"/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9418392" y="29578"/>
            <a:ext cx="2606459" cy="642552"/>
            <a:chOff x="8503992" y="95295"/>
            <a:chExt cx="3441880" cy="800395"/>
          </a:xfrm>
        </p:grpSpPr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25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26186" y="127928"/>
              <a:ext cx="819686" cy="7547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20542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1277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32620" y="735083"/>
            <a:ext cx="7472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INTRODUCTION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573" y="1767471"/>
            <a:ext cx="8976853" cy="46209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4286BF-E51B-4703-8315-FCE50EFF4290}"/>
              </a:ext>
            </a:extLst>
          </p:cNvPr>
          <p:cNvSpPr txBox="1"/>
          <p:nvPr/>
        </p:nvSpPr>
        <p:spPr>
          <a:xfrm>
            <a:off x="11724959" y="6488668"/>
            <a:ext cx="934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 smtClean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01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9418392" y="29578"/>
            <a:ext cx="2606459" cy="642552"/>
            <a:chOff x="8503992" y="95295"/>
            <a:chExt cx="3441880" cy="800395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13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26186" y="127928"/>
              <a:ext cx="819686" cy="7547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95601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1277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32620" y="735083"/>
            <a:ext cx="7472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CONTD…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868129" y="2379406"/>
            <a:ext cx="8652387" cy="346095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2015614" y="2526890"/>
            <a:ext cx="8357418" cy="3175820"/>
          </a:xfrm>
          <a:prstGeom prst="roundRect">
            <a:avLst/>
          </a:prstGeom>
          <a:ln>
            <a:solidFill>
              <a:srgbClr val="843C0C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4232" y="3046104"/>
            <a:ext cx="2045109" cy="2115831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rgbClr val="843C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000431" y="3150290"/>
            <a:ext cx="1892709" cy="190745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843C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582" y="3355486"/>
            <a:ext cx="1429289" cy="144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43492" y="3500284"/>
            <a:ext cx="6695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PROBLEM: A typical can process a limited amount of text at a time due to </a:t>
            </a:r>
            <a:r>
              <a:rPr lang="en-US" sz="2400" b="1" dirty="0" smtClean="0">
                <a:solidFill>
                  <a:srgbClr val="843C0C"/>
                </a:solidFill>
              </a:rPr>
              <a:t>CONTEXT LENGTH LIMITATION</a:t>
            </a:r>
            <a:endParaRPr lang="en-US" sz="2400" b="1" dirty="0">
              <a:solidFill>
                <a:srgbClr val="843C0C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4286BF-E51B-4703-8315-FCE50EFF4290}"/>
              </a:ext>
            </a:extLst>
          </p:cNvPr>
          <p:cNvSpPr txBox="1"/>
          <p:nvPr/>
        </p:nvSpPr>
        <p:spPr>
          <a:xfrm>
            <a:off x="11724959" y="6488668"/>
            <a:ext cx="934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 smtClean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02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9418392" y="29578"/>
            <a:ext cx="2606459" cy="642552"/>
            <a:chOff x="8503992" y="95295"/>
            <a:chExt cx="3441880" cy="800395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15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26186" y="127928"/>
              <a:ext cx="819686" cy="7547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83603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1277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32620" y="735083"/>
            <a:ext cx="7472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WAYS TO HANDLE THIS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287461"/>
              </p:ext>
            </p:extLst>
          </p:nvPr>
        </p:nvGraphicFramePr>
        <p:xfrm>
          <a:off x="1874683" y="2617291"/>
          <a:ext cx="8127999" cy="2714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47686852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28455577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55917388"/>
                    </a:ext>
                  </a:extLst>
                </a:gridCol>
              </a:tblGrid>
              <a:tr h="76300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</a:rPr>
                        <a:t>APPROACH </a:t>
                      </a:r>
                      <a:endParaRPr lang="en-US" dirty="0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3C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</a:rPr>
                        <a:t>METHODOLOGY</a:t>
                      </a:r>
                      <a:endParaRPr lang="en-US" dirty="0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3C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</a:rPr>
                        <a:t>WEAKNESS</a:t>
                      </a:r>
                      <a:endParaRPr lang="en-US" dirty="0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3C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028765"/>
                  </a:ext>
                </a:extLst>
              </a:tr>
              <a:tr h="857410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 Algorithm to Search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Rank documents and content based on:</a:t>
                      </a:r>
                      <a:endParaRPr lang="en-US" sz="1800" b="0" kern="1200" baseline="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Filename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Content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Must search through all GBs of files every time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324549"/>
                  </a:ext>
                </a:extLst>
              </a:tr>
              <a:tr h="763002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Preprocessing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Summarize each file beforehand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kern="1200" dirty="0" smtClean="0">
                          <a:solidFill>
                            <a:srgbClr val="843C0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Loss of important information</a:t>
                      </a:r>
                      <a:endParaRPr lang="en-US" sz="1800" b="0" kern="1200" dirty="0">
                        <a:solidFill>
                          <a:srgbClr val="843C0C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4905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04286BF-E51B-4703-8315-FCE50EFF4290}"/>
              </a:ext>
            </a:extLst>
          </p:cNvPr>
          <p:cNvSpPr txBox="1"/>
          <p:nvPr/>
        </p:nvSpPr>
        <p:spPr>
          <a:xfrm>
            <a:off x="11724959" y="6488668"/>
            <a:ext cx="934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 smtClean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03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9418392" y="29578"/>
            <a:ext cx="2606459" cy="642552"/>
            <a:chOff x="8503992" y="95295"/>
            <a:chExt cx="3441880" cy="800395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9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26186" y="127928"/>
              <a:ext cx="819686" cy="7547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56637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91612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32620" y="715418"/>
            <a:ext cx="7472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WHAT TO DO THEN? 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65290" y="3116825"/>
            <a:ext cx="64794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RAG is an efficient way to </a:t>
            </a:r>
            <a:r>
              <a:rPr lang="en-US" sz="2400" b="1" dirty="0" smtClean="0">
                <a:solidFill>
                  <a:srgbClr val="843C0C"/>
                </a:solidFill>
              </a:rPr>
              <a:t>retrieve </a:t>
            </a:r>
            <a:r>
              <a:rPr lang="en-US" sz="2400" b="1" dirty="0">
                <a:solidFill>
                  <a:srgbClr val="843C0C"/>
                </a:solidFill>
              </a:rPr>
              <a:t>of relevant information from a </a:t>
            </a:r>
            <a:r>
              <a:rPr lang="en-US" sz="2400" b="1" dirty="0" smtClean="0">
                <a:solidFill>
                  <a:srgbClr val="843C0C"/>
                </a:solidFill>
              </a:rPr>
              <a:t>DB</a:t>
            </a:r>
            <a:r>
              <a:rPr lang="en-US" sz="2400" dirty="0" smtClean="0">
                <a:solidFill>
                  <a:srgbClr val="843C0C"/>
                </a:solidFill>
              </a:rPr>
              <a:t> </a:t>
            </a:r>
            <a:r>
              <a:rPr lang="en-US" sz="2400" dirty="0"/>
              <a:t>and feed it to LLM as context for </a:t>
            </a:r>
            <a:r>
              <a:rPr lang="en-US" sz="2400" b="1" dirty="0" smtClean="0">
                <a:solidFill>
                  <a:srgbClr val="843C0C"/>
                </a:solidFill>
              </a:rPr>
              <a:t>Generation</a:t>
            </a:r>
            <a:endParaRPr lang="en-US" sz="2400" dirty="0">
              <a:solidFill>
                <a:srgbClr val="843C0C"/>
              </a:solidFill>
            </a:endParaRPr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46354" y="2578217"/>
            <a:ext cx="334296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rgbClr val="843C0C"/>
                </a:solidFill>
              </a:rPr>
              <a:t>RETRIEVAL</a:t>
            </a:r>
          </a:p>
          <a:p>
            <a:r>
              <a:rPr lang="en-US" sz="4000" b="1" dirty="0" smtClean="0">
                <a:solidFill>
                  <a:srgbClr val="843C0C"/>
                </a:solidFill>
              </a:rPr>
              <a:t>AUGMENTED</a:t>
            </a:r>
          </a:p>
          <a:p>
            <a:r>
              <a:rPr lang="en-US" sz="4000" b="1" dirty="0" smtClean="0">
                <a:solidFill>
                  <a:srgbClr val="843C0C"/>
                </a:solidFill>
              </a:rPr>
              <a:t>GENERATION</a:t>
            </a:r>
          </a:p>
          <a:p>
            <a:r>
              <a:rPr lang="en-US" sz="4000" b="1" dirty="0" smtClean="0">
                <a:solidFill>
                  <a:srgbClr val="843C0C"/>
                </a:solidFill>
              </a:rPr>
              <a:t>(RAG) </a:t>
            </a:r>
            <a:endParaRPr lang="en-US" sz="4000" b="1" dirty="0">
              <a:solidFill>
                <a:srgbClr val="843C0C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4289322" y="1936955"/>
            <a:ext cx="0" cy="3677264"/>
          </a:xfrm>
          <a:prstGeom prst="line">
            <a:avLst/>
          </a:prstGeom>
          <a:ln w="28575">
            <a:solidFill>
              <a:srgbClr val="843C0C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04286BF-E51B-4703-8315-FCE50EFF4290}"/>
              </a:ext>
            </a:extLst>
          </p:cNvPr>
          <p:cNvSpPr txBox="1"/>
          <p:nvPr/>
        </p:nvSpPr>
        <p:spPr>
          <a:xfrm>
            <a:off x="11724959" y="6488668"/>
            <a:ext cx="934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 smtClean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04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9418392" y="29578"/>
            <a:ext cx="2606459" cy="642552"/>
            <a:chOff x="8503992" y="95295"/>
            <a:chExt cx="3441880" cy="800395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12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26186" y="127928"/>
              <a:ext cx="819686" cy="7547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03980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491612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32620" y="715418"/>
            <a:ext cx="7472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COMPONENTS OF RAG 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7208" y="2516661"/>
            <a:ext cx="2192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843C0C"/>
                </a:solidFill>
              </a:rPr>
              <a:t>     </a:t>
            </a:r>
            <a:endParaRPr lang="en-US" sz="2000" b="1" dirty="0">
              <a:solidFill>
                <a:srgbClr val="843C0C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4286BF-E51B-4703-8315-FCE50EFF4290}"/>
              </a:ext>
            </a:extLst>
          </p:cNvPr>
          <p:cNvSpPr txBox="1"/>
          <p:nvPr/>
        </p:nvSpPr>
        <p:spPr>
          <a:xfrm>
            <a:off x="11724959" y="6488668"/>
            <a:ext cx="934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 smtClean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</a:t>
            </a:r>
            <a:r>
              <a:rPr lang="en-GB" b="1" dirty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9418392" y="29578"/>
            <a:ext cx="2606459" cy="642552"/>
            <a:chOff x="8503992" y="95295"/>
            <a:chExt cx="3441880" cy="800395"/>
          </a:xfrm>
        </p:grpSpPr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3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26186" y="127928"/>
              <a:ext cx="819686" cy="754791"/>
            </a:xfrm>
            <a:prstGeom prst="rect">
              <a:avLst/>
            </a:prstGeom>
          </p:spPr>
        </p:pic>
      </p:grp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432620" y="1934188"/>
            <a:ext cx="1147424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b="1" dirty="0">
                <a:solidFill>
                  <a:srgbClr val="843C0C"/>
                </a:solidFill>
                <a:latin typeface="Arial" panose="020B0604020202020204" pitchFamily="34" charset="0"/>
              </a:rPr>
              <a:t>D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843C0C"/>
                </a:solidFill>
                <a:effectLst/>
                <a:latin typeface="Arial" panose="020B0604020202020204" pitchFamily="34" charset="0"/>
              </a:rPr>
              <a:t>ata source:</a:t>
            </a:r>
            <a:r>
              <a:rPr lang="en-US" altLang="en-US" dirty="0">
                <a:solidFill>
                  <a:srgbClr val="843C0C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 smtClean="0">
                <a:latin typeface="Arial" panose="020B0604020202020204" pitchFamily="34" charset="0"/>
              </a:rPr>
              <a:t>K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nowledge repository that provides factual information for answering user queries.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b="1" dirty="0" smtClean="0">
                <a:solidFill>
                  <a:srgbClr val="843C0C"/>
                </a:solidFill>
                <a:latin typeface="Arial" panose="020B0604020202020204" pitchFamily="34" charset="0"/>
              </a:rPr>
              <a:t>D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843C0C"/>
                </a:solidFill>
                <a:effectLst/>
                <a:latin typeface="Arial" panose="020B0604020202020204" pitchFamily="34" charset="0"/>
              </a:rPr>
              <a:t>ocument </a:t>
            </a:r>
            <a:r>
              <a:rPr lang="en-US" altLang="en-US" b="1" dirty="0">
                <a:solidFill>
                  <a:srgbClr val="843C0C"/>
                </a:solidFill>
                <a:latin typeface="Arial" panose="020B0604020202020204" pitchFamily="34" charset="0"/>
              </a:rPr>
              <a:t>P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843C0C"/>
                </a:solidFill>
                <a:effectLst/>
                <a:latin typeface="Arial" panose="020B0604020202020204" pitchFamily="34" charset="0"/>
              </a:rPr>
              <a:t>rocessing: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Make data clean, chunked, and structured.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b="1" dirty="0" smtClean="0">
                <a:solidFill>
                  <a:srgbClr val="843C0C"/>
                </a:solidFill>
                <a:latin typeface="Arial" panose="020B0604020202020204" pitchFamily="34" charset="0"/>
              </a:rPr>
              <a:t>E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843C0C"/>
                </a:solidFill>
                <a:effectLst/>
                <a:latin typeface="Arial" panose="020B0604020202020204" pitchFamily="34" charset="0"/>
              </a:rPr>
              <a:t>mbedding </a:t>
            </a:r>
            <a:r>
              <a:rPr lang="en-US" altLang="en-US" b="1" dirty="0">
                <a:solidFill>
                  <a:srgbClr val="843C0C"/>
                </a:solidFill>
                <a:latin typeface="Arial" panose="020B0604020202020204" pitchFamily="34" charset="0"/>
              </a:rPr>
              <a:t>M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843C0C"/>
                </a:solidFill>
                <a:effectLst/>
                <a:latin typeface="Arial" panose="020B0604020202020204" pitchFamily="34" charset="0"/>
              </a:rPr>
              <a:t>odel: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843C0C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dirty="0" smtClean="0">
                <a:latin typeface="Arial" panose="020B0604020202020204" pitchFamily="34" charset="0"/>
              </a:rPr>
              <a:t>Convert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chunks into numerical vectors that capture their semantic meaning.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b="1" dirty="0" smtClean="0">
                <a:solidFill>
                  <a:srgbClr val="843C0C"/>
                </a:solidFill>
                <a:latin typeface="Arial" panose="020B0604020202020204" pitchFamily="34" charset="0"/>
              </a:rPr>
              <a:t>V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843C0C"/>
                </a:solidFill>
                <a:effectLst/>
                <a:latin typeface="Arial" panose="020B0604020202020204" pitchFamily="34" charset="0"/>
              </a:rPr>
              <a:t>ector </a:t>
            </a:r>
            <a:r>
              <a:rPr lang="en-US" altLang="en-US" b="1" dirty="0">
                <a:solidFill>
                  <a:srgbClr val="843C0C"/>
                </a:solidFill>
                <a:latin typeface="Arial" panose="020B0604020202020204" pitchFamily="34" charset="0"/>
              </a:rPr>
              <a:t>D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843C0C"/>
                </a:solidFill>
                <a:effectLst/>
                <a:latin typeface="Arial" panose="020B0604020202020204" pitchFamily="34" charset="0"/>
              </a:rPr>
              <a:t>atabase: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843C0C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 and indexed embedding to enable fast similarity-based search.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b="1" dirty="0" smtClean="0">
                <a:solidFill>
                  <a:srgbClr val="843C0C"/>
                </a:solidFill>
                <a:latin typeface="Arial" panose="020B0604020202020204" pitchFamily="34" charset="0"/>
              </a:rPr>
              <a:t>R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843C0C"/>
                </a:solidFill>
                <a:effectLst/>
                <a:latin typeface="Arial" panose="020B0604020202020204" pitchFamily="34" charset="0"/>
              </a:rPr>
              <a:t>etriever: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843C0C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identifies and selects the most relevant information chunks for a given query.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b="1" dirty="0" smtClean="0">
                <a:solidFill>
                  <a:srgbClr val="843C0C"/>
                </a:solidFill>
                <a:latin typeface="Arial" panose="020B0604020202020204" pitchFamily="34" charset="0"/>
              </a:rPr>
              <a:t>P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843C0C"/>
                </a:solidFill>
                <a:effectLst/>
                <a:latin typeface="Arial" panose="020B0604020202020204" pitchFamily="34" charset="0"/>
              </a:rPr>
              <a:t>rompt construction: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843C0C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dirty="0" smtClean="0">
                <a:latin typeface="Arial" panose="020B0604020202020204" pitchFamily="34" charset="0"/>
              </a:rPr>
              <a:t>Retrieved </a:t>
            </a:r>
            <a:r>
              <a:rPr lang="en-US" altLang="en-US" dirty="0">
                <a:latin typeface="Arial" panose="020B0604020202020204" pitchFamily="34" charset="0"/>
              </a:rPr>
              <a:t>context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the user query to guide the model’s response.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b="1" dirty="0" smtClean="0">
                <a:solidFill>
                  <a:srgbClr val="843C0C"/>
                </a:solidFill>
                <a:latin typeface="Arial" panose="020B0604020202020204" pitchFamily="34" charset="0"/>
              </a:rPr>
              <a:t>L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843C0C"/>
                </a:solidFill>
                <a:effectLst/>
                <a:latin typeface="Arial" panose="020B0604020202020204" pitchFamily="34" charset="0"/>
              </a:rPr>
              <a:t>arge </a:t>
            </a:r>
            <a:r>
              <a:rPr lang="en-US" altLang="en-US" b="1" dirty="0">
                <a:solidFill>
                  <a:srgbClr val="843C0C"/>
                </a:solidFill>
                <a:latin typeface="Arial" panose="020B0604020202020204" pitchFamily="34" charset="0"/>
              </a:rPr>
              <a:t>L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843C0C"/>
                </a:solidFill>
                <a:effectLst/>
                <a:latin typeface="Arial" panose="020B0604020202020204" pitchFamily="34" charset="0"/>
              </a:rPr>
              <a:t>anguage </a:t>
            </a:r>
            <a:r>
              <a:rPr lang="en-US" altLang="en-US" b="1" dirty="0">
                <a:solidFill>
                  <a:srgbClr val="843C0C"/>
                </a:solidFill>
                <a:latin typeface="Arial" panose="020B0604020202020204" pitchFamily="34" charset="0"/>
              </a:rPr>
              <a:t>M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843C0C"/>
                </a:solidFill>
                <a:effectLst/>
                <a:latin typeface="Arial" panose="020B0604020202020204" pitchFamily="34" charset="0"/>
              </a:rPr>
              <a:t>odel:</a:t>
            </a:r>
            <a:r>
              <a:rPr kumimoji="0" lang="en-US" altLang="en-US" sz="1800" b="1" i="0" u="none" strike="noStrike" cap="none" normalizeH="0" dirty="0" smtClean="0">
                <a:ln>
                  <a:noFill/>
                </a:ln>
                <a:solidFill>
                  <a:srgbClr val="843C0C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Reasoning happens here.</a:t>
            </a:r>
            <a:endParaRPr lang="en-US" altLang="en-US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b="1" dirty="0" smtClean="0">
                <a:solidFill>
                  <a:srgbClr val="843C0C"/>
                </a:solidFill>
                <a:latin typeface="Arial" panose="020B0604020202020204" pitchFamily="34" charset="0"/>
              </a:rPr>
              <a:t>P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843C0C"/>
                </a:solidFill>
                <a:effectLst/>
                <a:latin typeface="Arial" panose="020B0604020202020204" pitchFamily="34" charset="0"/>
              </a:rPr>
              <a:t>ost</a:t>
            </a:r>
            <a:r>
              <a:rPr kumimoji="0" lang="en-US" altLang="en-US" sz="1800" b="1" i="0" u="none" strike="noStrike" cap="none" normalizeH="0" dirty="0" smtClean="0">
                <a:ln>
                  <a:noFill/>
                </a:ln>
                <a:solidFill>
                  <a:srgbClr val="843C0C"/>
                </a:solidFill>
                <a:effectLst/>
                <a:latin typeface="Arial" panose="020B0604020202020204" pitchFamily="34" charset="0"/>
              </a:rPr>
              <a:t> P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843C0C"/>
                </a:solidFill>
                <a:effectLst/>
                <a:latin typeface="Arial" panose="020B0604020202020204" pitchFamily="34" charset="0"/>
              </a:rPr>
              <a:t>rocessing: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843C0C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Refined final output through formatting, filtering, or citation handling when needed.</a:t>
            </a:r>
          </a:p>
        </p:txBody>
      </p:sp>
    </p:spTree>
    <p:extLst>
      <p:ext uri="{BB962C8B-B14F-4D97-AF65-F5344CB8AC3E}">
        <p14:creationId xmlns:p14="http://schemas.microsoft.com/office/powerpoint/2010/main" val="3141660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1277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32620" y="735083"/>
            <a:ext cx="7472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VECTORDB CREATION 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767471"/>
            <a:ext cx="10058400" cy="510294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517058" y="2595716"/>
            <a:ext cx="2517058" cy="15928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4286BF-E51B-4703-8315-FCE50EFF4290}"/>
              </a:ext>
            </a:extLst>
          </p:cNvPr>
          <p:cNvSpPr txBox="1"/>
          <p:nvPr/>
        </p:nvSpPr>
        <p:spPr>
          <a:xfrm>
            <a:off x="11724959" y="6488668"/>
            <a:ext cx="934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 smtClean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06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9418392" y="29578"/>
            <a:ext cx="2606459" cy="642552"/>
            <a:chOff x="8503992" y="95295"/>
            <a:chExt cx="3441880" cy="800395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10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26186" y="127928"/>
              <a:ext cx="819686" cy="7547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69526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1277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0943" y="735083"/>
            <a:ext cx="7472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CHUNCKING STRATERGY…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50375" y="3706761"/>
            <a:ext cx="95372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I went to the market to buy fruits and vegetables. The shop was crowded, and </a:t>
            </a:r>
            <a:r>
              <a:rPr lang="en-US" sz="2000" dirty="0"/>
              <a:t>I</a:t>
            </a:r>
            <a:r>
              <a:rPr lang="en-US" sz="2000" dirty="0" smtClean="0"/>
              <a:t> had to wait in line for a long time. After coming home, </a:t>
            </a:r>
            <a:r>
              <a:rPr lang="en-US" sz="2000" dirty="0"/>
              <a:t>I</a:t>
            </a:r>
            <a:r>
              <a:rPr lang="en-US" sz="2000" dirty="0" smtClean="0"/>
              <a:t> realized I forgot to buy milk. Later, </a:t>
            </a:r>
            <a:r>
              <a:rPr lang="en-US" sz="2000" dirty="0"/>
              <a:t>I</a:t>
            </a:r>
            <a:r>
              <a:rPr lang="en-US" sz="2000" dirty="0" smtClean="0"/>
              <a:t> used a grocery app which made shopping faster and easier.</a:t>
            </a:r>
            <a:endParaRPr lang="en-US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1150375" y="2438400"/>
            <a:ext cx="274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843C0C"/>
                </a:solidFill>
              </a:rPr>
              <a:t>EXAMPLE</a:t>
            </a:r>
            <a:endParaRPr lang="en-US" sz="2800" b="1" dirty="0">
              <a:solidFill>
                <a:srgbClr val="843C0C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150375" y="3270695"/>
            <a:ext cx="9989573" cy="1887794"/>
          </a:xfrm>
          <a:prstGeom prst="rect">
            <a:avLst/>
          </a:prstGeom>
          <a:noFill/>
          <a:ln w="28575">
            <a:solidFill>
              <a:srgbClr val="843C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4286BF-E51B-4703-8315-FCE50EFF4290}"/>
              </a:ext>
            </a:extLst>
          </p:cNvPr>
          <p:cNvSpPr txBox="1"/>
          <p:nvPr/>
        </p:nvSpPr>
        <p:spPr>
          <a:xfrm>
            <a:off x="11724959" y="6488668"/>
            <a:ext cx="934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 smtClean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07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9418392" y="29578"/>
            <a:ext cx="2606459" cy="642552"/>
            <a:chOff x="8503992" y="95295"/>
            <a:chExt cx="3441880" cy="800395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11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26186" y="127928"/>
              <a:ext cx="819686" cy="7547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855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1277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0943" y="735083"/>
            <a:ext cx="7472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CHUNCKING STRATERGY…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0943" y="3023763"/>
            <a:ext cx="2202426" cy="2320413"/>
          </a:xfrm>
          <a:prstGeom prst="rect">
            <a:avLst/>
          </a:prstGeom>
          <a:solidFill>
            <a:srgbClr val="843C0C"/>
          </a:solidFill>
          <a:ln>
            <a:solidFill>
              <a:srgbClr val="843C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54627" y="3296607"/>
            <a:ext cx="1755058" cy="17747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843C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3507" y="3961258"/>
            <a:ext cx="195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843C0C"/>
                </a:solidFill>
              </a:rPr>
              <a:t>FIXED-SIZE</a:t>
            </a:r>
          </a:p>
          <a:p>
            <a:endParaRPr lang="en-US" sz="2400" b="1" dirty="0">
              <a:solidFill>
                <a:srgbClr val="843C0C"/>
              </a:solidFill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3012359" y="2315013"/>
            <a:ext cx="6088624" cy="3218431"/>
            <a:chOff x="3183195" y="2342224"/>
            <a:chExt cx="6088624" cy="3218431"/>
          </a:xfrm>
        </p:grpSpPr>
        <p:sp>
          <p:nvSpPr>
            <p:cNvPr id="6" name="TextBox 5"/>
            <p:cNvSpPr txBox="1"/>
            <p:nvPr/>
          </p:nvSpPr>
          <p:spPr>
            <a:xfrm>
              <a:off x="3421627" y="2342224"/>
              <a:ext cx="45818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 smtClean="0">
                  <a:solidFill>
                    <a:srgbClr val="843C0C"/>
                  </a:solidFill>
                </a:rPr>
                <a:t>CHUNK SIZE: 10</a:t>
              </a:r>
              <a:endParaRPr lang="en-US" sz="2400" b="1" dirty="0">
                <a:solidFill>
                  <a:srgbClr val="843C0C"/>
                </a:solidFill>
              </a:endParaRP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183195" y="2799734"/>
              <a:ext cx="6088624" cy="2760921"/>
            </a:xfrm>
            <a:prstGeom prst="roundRect">
              <a:avLst/>
            </a:prstGeom>
            <a:noFill/>
            <a:ln>
              <a:solidFill>
                <a:srgbClr val="843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4143" y="3139603"/>
            <a:ext cx="58305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  <a:r>
              <a:rPr lang="en-US" b="1" dirty="0" smtClean="0"/>
              <a:t>hunk 1 (first 10 words)</a:t>
            </a:r>
          </a:p>
          <a:p>
            <a:r>
              <a:rPr lang="en-US" dirty="0"/>
              <a:t>I</a:t>
            </a:r>
            <a:r>
              <a:rPr lang="en-US" dirty="0" smtClean="0"/>
              <a:t> went to the market to buy fruits and vegetables. The</a:t>
            </a:r>
          </a:p>
          <a:p>
            <a:r>
              <a:rPr lang="en-US" b="1" dirty="0"/>
              <a:t>C</a:t>
            </a:r>
            <a:r>
              <a:rPr lang="en-US" b="1" dirty="0" smtClean="0"/>
              <a:t>hunk 2 (next 10 words)</a:t>
            </a:r>
          </a:p>
          <a:p>
            <a:r>
              <a:rPr lang="en-US" dirty="0" smtClean="0"/>
              <a:t>shop was crowded, and </a:t>
            </a:r>
            <a:r>
              <a:rPr lang="en-US" dirty="0"/>
              <a:t>I</a:t>
            </a:r>
            <a:r>
              <a:rPr lang="en-US" dirty="0" smtClean="0"/>
              <a:t> had to wait in</a:t>
            </a:r>
          </a:p>
          <a:p>
            <a:r>
              <a:rPr lang="en-US" b="1" dirty="0"/>
              <a:t>C</a:t>
            </a:r>
            <a:r>
              <a:rPr lang="en-US" b="1" dirty="0" smtClean="0"/>
              <a:t>hunk 3 (next 10 words)</a:t>
            </a:r>
          </a:p>
          <a:p>
            <a:r>
              <a:rPr lang="en-US" dirty="0" smtClean="0"/>
              <a:t>line for a long time. after coming home, I</a:t>
            </a:r>
          </a:p>
          <a:p>
            <a:r>
              <a:rPr lang="en-US" b="1" dirty="0" smtClean="0">
                <a:solidFill>
                  <a:srgbClr val="843C0C"/>
                </a:solidFill>
              </a:rPr>
              <a:t>Continue…</a:t>
            </a:r>
          </a:p>
          <a:p>
            <a:r>
              <a:rPr lang="en-US" dirty="0" smtClean="0"/>
              <a:t> </a:t>
            </a:r>
            <a:endParaRPr lang="en-US" dirty="0"/>
          </a:p>
        </p:txBody>
      </p:sp>
      <p:grpSp>
        <p:nvGrpSpPr>
          <p:cNvPr id="17" name="Group 16"/>
          <p:cNvGrpSpPr/>
          <p:nvPr/>
        </p:nvGrpSpPr>
        <p:grpSpPr>
          <a:xfrm>
            <a:off x="9383662" y="2375003"/>
            <a:ext cx="2544099" cy="3126658"/>
            <a:chOff x="9386117" y="2153265"/>
            <a:chExt cx="2544099" cy="3126658"/>
          </a:xfrm>
        </p:grpSpPr>
        <p:sp>
          <p:nvSpPr>
            <p:cNvPr id="13" name="Rounded Rectangle 12"/>
            <p:cNvSpPr/>
            <p:nvPr/>
          </p:nvSpPr>
          <p:spPr>
            <a:xfrm>
              <a:off x="9389806" y="2644877"/>
              <a:ext cx="2536723" cy="2635046"/>
            </a:xfrm>
            <a:prstGeom prst="roundRect">
              <a:avLst/>
            </a:prstGeom>
            <a:noFill/>
            <a:ln w="38100">
              <a:solidFill>
                <a:srgbClr val="843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0127226" y="2153265"/>
              <a:ext cx="988140" cy="874901"/>
            </a:xfrm>
            <a:prstGeom prst="roundRect">
              <a:avLst/>
            </a:prstGeom>
            <a:solidFill>
              <a:srgbClr val="843C0C"/>
            </a:solidFill>
            <a:ln>
              <a:solidFill>
                <a:srgbClr val="843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221861" y="2229464"/>
              <a:ext cx="798870" cy="72250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843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21861" y="2218948"/>
              <a:ext cx="719343" cy="720982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9386117" y="3159882"/>
              <a:ext cx="2544099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</a:t>
              </a:r>
              <a:r>
                <a:rPr lang="en-US" dirty="0" smtClean="0"/>
                <a:t>plit </a:t>
              </a:r>
              <a:r>
                <a:rPr lang="en-US" b="1" dirty="0" smtClean="0">
                  <a:solidFill>
                    <a:srgbClr val="843C0C"/>
                  </a:solidFill>
                </a:rPr>
                <a:t>only by length</a:t>
              </a:r>
              <a:r>
                <a:rPr lang="en-US" dirty="0" smtClean="0">
                  <a:solidFill>
                    <a:srgbClr val="843C0C"/>
                  </a:solidFill>
                </a:rPr>
                <a:t>, </a:t>
              </a:r>
              <a:r>
                <a:rPr lang="en-US" dirty="0" smtClean="0"/>
                <a:t>not by meaning.</a:t>
              </a:r>
              <a:br>
                <a:rPr lang="en-US" dirty="0" smtClean="0"/>
              </a:br>
              <a:r>
                <a:rPr lang="en-US" dirty="0" smtClean="0"/>
                <a:t>that’s why sentences can break in the middle, which may confuse retrieve.</a:t>
              </a:r>
              <a:endParaRPr lang="en-US" dirty="0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404286BF-E51B-4703-8315-FCE50EFF4290}"/>
              </a:ext>
            </a:extLst>
          </p:cNvPr>
          <p:cNvSpPr txBox="1"/>
          <p:nvPr/>
        </p:nvSpPr>
        <p:spPr>
          <a:xfrm>
            <a:off x="11724959" y="6488668"/>
            <a:ext cx="934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 smtClean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08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9418392" y="29578"/>
            <a:ext cx="2606459" cy="642552"/>
            <a:chOff x="8503992" y="95295"/>
            <a:chExt cx="3441880" cy="800395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23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26186" y="127928"/>
              <a:ext cx="819686" cy="7547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19733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1277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0943" y="735083"/>
            <a:ext cx="7472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CHUNCKING STRATERGY…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0943" y="3023763"/>
            <a:ext cx="2202426" cy="2320413"/>
          </a:xfrm>
          <a:prstGeom prst="rect">
            <a:avLst/>
          </a:prstGeom>
          <a:solidFill>
            <a:srgbClr val="843C0C"/>
          </a:solidFill>
          <a:ln>
            <a:solidFill>
              <a:srgbClr val="843C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54627" y="3296607"/>
            <a:ext cx="1755058" cy="17747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843C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56304" y="3638093"/>
            <a:ext cx="19517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843C0C"/>
                </a:solidFill>
              </a:rPr>
              <a:t>FIXED-SIZE</a:t>
            </a:r>
            <a:br>
              <a:rPr lang="en-US" sz="2400" b="1" dirty="0" smtClean="0">
                <a:solidFill>
                  <a:srgbClr val="843C0C"/>
                </a:solidFill>
              </a:rPr>
            </a:br>
            <a:r>
              <a:rPr lang="en-US" sz="2400" b="1" dirty="0" smtClean="0">
                <a:solidFill>
                  <a:srgbClr val="843C0C"/>
                </a:solidFill>
              </a:rPr>
              <a:t>+</a:t>
            </a:r>
          </a:p>
          <a:p>
            <a:pPr algn="ctr"/>
            <a:r>
              <a:rPr lang="en-US" sz="2400" b="1" dirty="0" smtClean="0">
                <a:solidFill>
                  <a:srgbClr val="843C0C"/>
                </a:solidFill>
              </a:rPr>
              <a:t>OVERLAP</a:t>
            </a:r>
          </a:p>
          <a:p>
            <a:endParaRPr lang="en-US" sz="2400" b="1" dirty="0">
              <a:solidFill>
                <a:srgbClr val="843C0C"/>
              </a:solidFill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3012359" y="2315013"/>
            <a:ext cx="6088624" cy="3218431"/>
            <a:chOff x="3183195" y="2342224"/>
            <a:chExt cx="6088624" cy="3218431"/>
          </a:xfrm>
        </p:grpSpPr>
        <p:sp>
          <p:nvSpPr>
            <p:cNvPr id="6" name="TextBox 5"/>
            <p:cNvSpPr txBox="1"/>
            <p:nvPr/>
          </p:nvSpPr>
          <p:spPr>
            <a:xfrm>
              <a:off x="3421627" y="2342224"/>
              <a:ext cx="45818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 smtClean="0">
                  <a:solidFill>
                    <a:srgbClr val="843C0C"/>
                  </a:solidFill>
                </a:rPr>
                <a:t>CHUNK SIZE: 10</a:t>
              </a:r>
              <a:endParaRPr lang="en-US" sz="2400" b="1" dirty="0">
                <a:solidFill>
                  <a:srgbClr val="843C0C"/>
                </a:solidFill>
              </a:endParaRP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183195" y="2799734"/>
              <a:ext cx="6088624" cy="2760921"/>
            </a:xfrm>
            <a:prstGeom prst="roundRect">
              <a:avLst/>
            </a:prstGeom>
            <a:noFill/>
            <a:ln>
              <a:solidFill>
                <a:srgbClr val="843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18044" y="2948121"/>
            <a:ext cx="583052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chunk 1: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I</a:t>
            </a:r>
            <a:r>
              <a:rPr lang="en-US" dirty="0" smtClean="0"/>
              <a:t> went to the market to buy fruits and vegetables. the shop was crowded, and </a:t>
            </a:r>
            <a:r>
              <a:rPr lang="en-US" dirty="0"/>
              <a:t>I</a:t>
            </a:r>
            <a:r>
              <a:rPr lang="en-US" dirty="0" smtClean="0"/>
              <a:t> had to wait in line for a long time.</a:t>
            </a:r>
          </a:p>
          <a:p>
            <a:r>
              <a:rPr lang="en-US" b="1" dirty="0" smtClean="0"/>
              <a:t>chunk 2 (overlap):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and </a:t>
            </a:r>
            <a:r>
              <a:rPr lang="en-US" dirty="0"/>
              <a:t>I</a:t>
            </a:r>
            <a:r>
              <a:rPr lang="en-US" dirty="0" smtClean="0"/>
              <a:t> had to wait in line for a long time. after coming home, </a:t>
            </a:r>
            <a:r>
              <a:rPr lang="en-US" dirty="0" err="1" smtClean="0"/>
              <a:t>i</a:t>
            </a:r>
            <a:r>
              <a:rPr lang="en-US" dirty="0" smtClean="0"/>
              <a:t> realized </a:t>
            </a:r>
            <a:r>
              <a:rPr lang="en-US" dirty="0"/>
              <a:t>I</a:t>
            </a:r>
            <a:r>
              <a:rPr lang="en-US" dirty="0" smtClean="0"/>
              <a:t> forgot to buy milk. later, </a:t>
            </a:r>
            <a:r>
              <a:rPr lang="en-US" dirty="0"/>
              <a:t>I</a:t>
            </a:r>
            <a:r>
              <a:rPr lang="en-US" dirty="0" smtClean="0"/>
              <a:t> used a grocery app which made shopping faster and easier.</a:t>
            </a:r>
          </a:p>
          <a:p>
            <a:r>
              <a:rPr lang="en-US" b="1" dirty="0" smtClean="0">
                <a:solidFill>
                  <a:srgbClr val="843C0C"/>
                </a:solidFill>
              </a:rPr>
              <a:t>Continue…</a:t>
            </a:r>
          </a:p>
          <a:p>
            <a:r>
              <a:rPr lang="en-US" dirty="0" smtClean="0"/>
              <a:t> </a:t>
            </a:r>
            <a:endParaRPr lang="en-US" dirty="0"/>
          </a:p>
        </p:txBody>
      </p:sp>
      <p:grpSp>
        <p:nvGrpSpPr>
          <p:cNvPr id="17" name="Group 16"/>
          <p:cNvGrpSpPr/>
          <p:nvPr/>
        </p:nvGrpSpPr>
        <p:grpSpPr>
          <a:xfrm>
            <a:off x="9376286" y="2373833"/>
            <a:ext cx="2544099" cy="3126658"/>
            <a:chOff x="9382430" y="2153265"/>
            <a:chExt cx="2544099" cy="3126658"/>
          </a:xfrm>
        </p:grpSpPr>
        <p:sp>
          <p:nvSpPr>
            <p:cNvPr id="13" name="Rounded Rectangle 12"/>
            <p:cNvSpPr/>
            <p:nvPr/>
          </p:nvSpPr>
          <p:spPr>
            <a:xfrm>
              <a:off x="9389806" y="2644877"/>
              <a:ext cx="2536723" cy="2635046"/>
            </a:xfrm>
            <a:prstGeom prst="roundRect">
              <a:avLst/>
            </a:prstGeom>
            <a:noFill/>
            <a:ln w="38100">
              <a:solidFill>
                <a:srgbClr val="843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0127226" y="2153265"/>
              <a:ext cx="988140" cy="874901"/>
            </a:xfrm>
            <a:prstGeom prst="roundRect">
              <a:avLst/>
            </a:prstGeom>
            <a:solidFill>
              <a:srgbClr val="843C0C"/>
            </a:solidFill>
            <a:ln>
              <a:solidFill>
                <a:srgbClr val="843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221861" y="2229464"/>
              <a:ext cx="798870" cy="72250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843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382430" y="3367378"/>
              <a:ext cx="254409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</a:t>
              </a:r>
              <a:r>
                <a:rPr lang="en-US" dirty="0" smtClean="0"/>
                <a:t>plit </a:t>
              </a:r>
              <a:r>
                <a:rPr lang="en-US" b="1" dirty="0" smtClean="0">
                  <a:solidFill>
                    <a:srgbClr val="843C0C"/>
                  </a:solidFill>
                </a:rPr>
                <a:t>by keeping length fixed</a:t>
              </a:r>
              <a:r>
                <a:rPr lang="en-US" dirty="0" smtClean="0"/>
                <a:t>.</a:t>
              </a:r>
              <a:r>
                <a:rPr lang="en-US" dirty="0"/>
                <a:t> </a:t>
              </a:r>
              <a:r>
                <a:rPr lang="en-US" dirty="0" smtClean="0"/>
                <a:t>The sentences overlap and context is not lost.</a:t>
              </a:r>
              <a:endParaRPr lang="en-US" dirty="0"/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9358" y="2520538"/>
            <a:ext cx="585327" cy="60736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04286BF-E51B-4703-8315-FCE50EFF4290}"/>
              </a:ext>
            </a:extLst>
          </p:cNvPr>
          <p:cNvSpPr txBox="1"/>
          <p:nvPr/>
        </p:nvSpPr>
        <p:spPr>
          <a:xfrm>
            <a:off x="11724959" y="6488668"/>
            <a:ext cx="934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 smtClean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09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9418392" y="29578"/>
            <a:ext cx="2604546" cy="642552"/>
            <a:chOff x="8503992" y="95295"/>
            <a:chExt cx="3439354" cy="800395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23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126186" y="127929"/>
              <a:ext cx="817160" cy="7677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61621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1277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0943" y="735083"/>
            <a:ext cx="7472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CHUNCKING STRATERGY…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0943" y="3023763"/>
            <a:ext cx="2202426" cy="2320413"/>
          </a:xfrm>
          <a:prstGeom prst="rect">
            <a:avLst/>
          </a:prstGeom>
          <a:solidFill>
            <a:srgbClr val="843C0C"/>
          </a:solidFill>
          <a:ln>
            <a:solidFill>
              <a:srgbClr val="843C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54627" y="3296607"/>
            <a:ext cx="1755058" cy="17747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843C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56304" y="3638093"/>
            <a:ext cx="19517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843C0C"/>
                </a:solidFill>
              </a:rPr>
              <a:t>SENTENCE </a:t>
            </a:r>
          </a:p>
          <a:p>
            <a:pPr algn="ctr"/>
            <a:r>
              <a:rPr lang="en-US" sz="2400" b="1" dirty="0" smtClean="0">
                <a:solidFill>
                  <a:srgbClr val="843C0C"/>
                </a:solidFill>
              </a:rPr>
              <a:t>BASED</a:t>
            </a:r>
          </a:p>
          <a:p>
            <a:pPr algn="ctr"/>
            <a:r>
              <a:rPr lang="en-US" sz="2400" b="1" dirty="0" smtClean="0">
                <a:solidFill>
                  <a:srgbClr val="843C0C"/>
                </a:solidFill>
              </a:rPr>
              <a:t>CHUNCKING</a:t>
            </a:r>
            <a:endParaRPr lang="en-US" sz="2400" b="1" dirty="0">
              <a:solidFill>
                <a:srgbClr val="843C0C"/>
              </a:solidFill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3012359" y="2315013"/>
            <a:ext cx="6088624" cy="3218431"/>
            <a:chOff x="3183195" y="2342224"/>
            <a:chExt cx="6088624" cy="3218431"/>
          </a:xfrm>
        </p:grpSpPr>
        <p:sp>
          <p:nvSpPr>
            <p:cNvPr id="6" name="TextBox 5"/>
            <p:cNvSpPr txBox="1"/>
            <p:nvPr/>
          </p:nvSpPr>
          <p:spPr>
            <a:xfrm>
              <a:off x="3421627" y="2342224"/>
              <a:ext cx="45818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 smtClean="0">
                  <a:solidFill>
                    <a:srgbClr val="843C0C"/>
                  </a:solidFill>
                </a:rPr>
                <a:t>CHUNK SIZE: 10</a:t>
              </a:r>
              <a:endParaRPr lang="en-US" sz="2400" b="1" dirty="0">
                <a:solidFill>
                  <a:srgbClr val="843C0C"/>
                </a:solidFill>
              </a:endParaRP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183195" y="2799734"/>
              <a:ext cx="6088624" cy="2760921"/>
            </a:xfrm>
            <a:prstGeom prst="roundRect">
              <a:avLst/>
            </a:prstGeom>
            <a:noFill/>
            <a:ln>
              <a:solidFill>
                <a:srgbClr val="843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18044" y="2948121"/>
            <a:ext cx="583052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chunk 1: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I</a:t>
            </a:r>
            <a:r>
              <a:rPr lang="en-US" dirty="0" smtClean="0"/>
              <a:t> went to the market to buy fruits and vegetables.</a:t>
            </a:r>
          </a:p>
          <a:p>
            <a:r>
              <a:rPr lang="en-US" b="1" dirty="0" smtClean="0"/>
              <a:t>chunk 2: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the shop was crowded, and </a:t>
            </a:r>
            <a:r>
              <a:rPr lang="en-US" dirty="0"/>
              <a:t>I</a:t>
            </a:r>
            <a:r>
              <a:rPr lang="en-US" dirty="0" smtClean="0"/>
              <a:t> had to wait in line for a long time.</a:t>
            </a:r>
          </a:p>
          <a:p>
            <a:r>
              <a:rPr lang="en-US" b="1" dirty="0" smtClean="0"/>
              <a:t>chunk 3: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after coming home, </a:t>
            </a:r>
            <a:r>
              <a:rPr lang="en-US" dirty="0"/>
              <a:t>I</a:t>
            </a:r>
            <a:r>
              <a:rPr lang="en-US" dirty="0" smtClean="0"/>
              <a:t> realized </a:t>
            </a:r>
            <a:r>
              <a:rPr lang="en-US" dirty="0"/>
              <a:t>I</a:t>
            </a:r>
            <a:r>
              <a:rPr lang="en-US" dirty="0" smtClean="0"/>
              <a:t> forgot to buy milk.</a:t>
            </a:r>
          </a:p>
          <a:p>
            <a:r>
              <a:rPr lang="en-US" b="1" dirty="0" smtClean="0">
                <a:solidFill>
                  <a:srgbClr val="843C0C"/>
                </a:solidFill>
              </a:rPr>
              <a:t>Continue…</a:t>
            </a:r>
          </a:p>
          <a:p>
            <a:r>
              <a:rPr lang="en-US" dirty="0" smtClean="0"/>
              <a:t> </a:t>
            </a:r>
            <a:endParaRPr lang="en-US" dirty="0"/>
          </a:p>
        </p:txBody>
      </p:sp>
      <p:grpSp>
        <p:nvGrpSpPr>
          <p:cNvPr id="17" name="Group 16"/>
          <p:cNvGrpSpPr/>
          <p:nvPr/>
        </p:nvGrpSpPr>
        <p:grpSpPr>
          <a:xfrm>
            <a:off x="9383662" y="2373833"/>
            <a:ext cx="2554371" cy="3126658"/>
            <a:chOff x="9389806" y="2153265"/>
            <a:chExt cx="2554371" cy="3126658"/>
          </a:xfrm>
        </p:grpSpPr>
        <p:sp>
          <p:nvSpPr>
            <p:cNvPr id="13" name="Rounded Rectangle 12"/>
            <p:cNvSpPr/>
            <p:nvPr/>
          </p:nvSpPr>
          <p:spPr>
            <a:xfrm>
              <a:off x="9389806" y="2644877"/>
              <a:ext cx="2536723" cy="2635046"/>
            </a:xfrm>
            <a:prstGeom prst="roundRect">
              <a:avLst/>
            </a:prstGeom>
            <a:noFill/>
            <a:ln w="38100">
              <a:solidFill>
                <a:srgbClr val="843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0127226" y="2153265"/>
              <a:ext cx="988140" cy="874901"/>
            </a:xfrm>
            <a:prstGeom prst="roundRect">
              <a:avLst/>
            </a:prstGeom>
            <a:solidFill>
              <a:srgbClr val="843C0C"/>
            </a:solidFill>
            <a:ln>
              <a:solidFill>
                <a:srgbClr val="843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221861" y="2229464"/>
              <a:ext cx="798870" cy="72250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843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400078" y="3519778"/>
              <a:ext cx="254409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Split by keeping each</a:t>
              </a:r>
            </a:p>
            <a:p>
              <a:pPr algn="ctr"/>
              <a:r>
                <a:rPr lang="en-US" b="1" dirty="0" smtClean="0">
                  <a:solidFill>
                    <a:srgbClr val="843C0C"/>
                  </a:solidFill>
                </a:rPr>
                <a:t>sentence </a:t>
              </a:r>
            </a:p>
            <a:p>
              <a:pPr algn="ctr"/>
              <a:r>
                <a:rPr lang="en-US" b="1" dirty="0" smtClean="0">
                  <a:solidFill>
                    <a:srgbClr val="843C0C"/>
                  </a:solidFill>
                </a:rPr>
                <a:t>separately. </a:t>
              </a:r>
              <a:endParaRPr lang="en-US" b="1" dirty="0">
                <a:solidFill>
                  <a:srgbClr val="843C0C"/>
                </a:solidFill>
              </a:endParaRPr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9358" y="2520538"/>
            <a:ext cx="585327" cy="60736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04286BF-E51B-4703-8315-FCE50EFF4290}"/>
              </a:ext>
            </a:extLst>
          </p:cNvPr>
          <p:cNvSpPr txBox="1"/>
          <p:nvPr/>
        </p:nvSpPr>
        <p:spPr>
          <a:xfrm>
            <a:off x="11724959" y="6488668"/>
            <a:ext cx="934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 smtClean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10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9418392" y="29578"/>
            <a:ext cx="2604546" cy="642552"/>
            <a:chOff x="8503992" y="95295"/>
            <a:chExt cx="3439354" cy="800395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23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126186" y="127929"/>
              <a:ext cx="817160" cy="7677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71377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1277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0943" y="735083"/>
            <a:ext cx="7472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CHUNCKING STRATERGY…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0943" y="3023763"/>
            <a:ext cx="2202426" cy="2320413"/>
          </a:xfrm>
          <a:prstGeom prst="rect">
            <a:avLst/>
          </a:prstGeom>
          <a:solidFill>
            <a:srgbClr val="843C0C"/>
          </a:solidFill>
          <a:ln>
            <a:solidFill>
              <a:srgbClr val="843C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54627" y="3296607"/>
            <a:ext cx="1755058" cy="17747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843C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56304" y="3638093"/>
            <a:ext cx="19517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843C0C"/>
                </a:solidFill>
              </a:rPr>
              <a:t>STRUCTURE</a:t>
            </a:r>
          </a:p>
          <a:p>
            <a:pPr algn="ctr"/>
            <a:r>
              <a:rPr lang="en-US" sz="2400" b="1" dirty="0" smtClean="0">
                <a:solidFill>
                  <a:srgbClr val="843C0C"/>
                </a:solidFill>
              </a:rPr>
              <a:t>BASED</a:t>
            </a:r>
          </a:p>
          <a:p>
            <a:pPr algn="ctr"/>
            <a:r>
              <a:rPr lang="en-US" sz="2400" b="1" dirty="0" smtClean="0">
                <a:solidFill>
                  <a:srgbClr val="843C0C"/>
                </a:solidFill>
              </a:rPr>
              <a:t>CHUNCKING</a:t>
            </a:r>
            <a:endParaRPr lang="en-US" sz="2400" b="1" dirty="0">
              <a:solidFill>
                <a:srgbClr val="843C0C"/>
              </a:solidFill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3012359" y="2315013"/>
            <a:ext cx="6088624" cy="3218431"/>
            <a:chOff x="3183195" y="2342224"/>
            <a:chExt cx="6088624" cy="3218431"/>
          </a:xfrm>
        </p:grpSpPr>
        <p:sp>
          <p:nvSpPr>
            <p:cNvPr id="6" name="TextBox 5"/>
            <p:cNvSpPr txBox="1"/>
            <p:nvPr/>
          </p:nvSpPr>
          <p:spPr>
            <a:xfrm>
              <a:off x="3421627" y="2342224"/>
              <a:ext cx="45818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 smtClean="0">
                  <a:solidFill>
                    <a:srgbClr val="843C0C"/>
                  </a:solidFill>
                </a:rPr>
                <a:t>CHUNK SIZE: 10</a:t>
              </a:r>
              <a:endParaRPr lang="en-US" sz="2400" b="1" dirty="0">
                <a:solidFill>
                  <a:srgbClr val="843C0C"/>
                </a:solidFill>
              </a:endParaRP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183195" y="2799734"/>
              <a:ext cx="6088624" cy="2760921"/>
            </a:xfrm>
            <a:prstGeom prst="roundRect">
              <a:avLst/>
            </a:prstGeom>
            <a:noFill/>
            <a:ln>
              <a:solidFill>
                <a:srgbClr val="843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18044" y="2948121"/>
            <a:ext cx="583052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chunk 1 (situation):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I</a:t>
            </a:r>
            <a:r>
              <a:rPr lang="en-US" dirty="0" smtClean="0"/>
              <a:t> went to the market to buy fruits and vegetables.</a:t>
            </a:r>
          </a:p>
          <a:p>
            <a:r>
              <a:rPr lang="en-US" b="1" dirty="0" smtClean="0"/>
              <a:t>chunk 2 (problem):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the shop was crowded, and </a:t>
            </a:r>
            <a:r>
              <a:rPr lang="en-US" dirty="0"/>
              <a:t>I</a:t>
            </a:r>
            <a:r>
              <a:rPr lang="en-US" dirty="0" smtClean="0"/>
              <a:t> had to wait in line for a long time.</a:t>
            </a:r>
          </a:p>
          <a:p>
            <a:r>
              <a:rPr lang="en-US" b="1" dirty="0" smtClean="0"/>
              <a:t>chunk 3 (mistake):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after coming home, </a:t>
            </a:r>
            <a:r>
              <a:rPr lang="en-US" dirty="0"/>
              <a:t>I</a:t>
            </a:r>
            <a:r>
              <a:rPr lang="en-US" dirty="0" smtClean="0"/>
              <a:t> realized </a:t>
            </a:r>
            <a:r>
              <a:rPr lang="en-US" dirty="0"/>
              <a:t>I</a:t>
            </a:r>
            <a:r>
              <a:rPr lang="en-US" dirty="0" smtClean="0"/>
              <a:t> forgot to buy milk.</a:t>
            </a:r>
          </a:p>
          <a:p>
            <a:r>
              <a:rPr lang="en-US" b="1" dirty="0" smtClean="0">
                <a:solidFill>
                  <a:srgbClr val="843C0C"/>
                </a:solidFill>
              </a:rPr>
              <a:t>Continue…</a:t>
            </a:r>
          </a:p>
          <a:p>
            <a:r>
              <a:rPr lang="en-US" dirty="0" smtClean="0"/>
              <a:t> </a:t>
            </a:r>
            <a:endParaRPr lang="en-US" dirty="0"/>
          </a:p>
        </p:txBody>
      </p:sp>
      <p:grpSp>
        <p:nvGrpSpPr>
          <p:cNvPr id="17" name="Group 16"/>
          <p:cNvGrpSpPr/>
          <p:nvPr/>
        </p:nvGrpSpPr>
        <p:grpSpPr>
          <a:xfrm>
            <a:off x="9379973" y="2373833"/>
            <a:ext cx="2544099" cy="3126658"/>
            <a:chOff x="9386117" y="2153265"/>
            <a:chExt cx="2544099" cy="3126658"/>
          </a:xfrm>
        </p:grpSpPr>
        <p:sp>
          <p:nvSpPr>
            <p:cNvPr id="13" name="Rounded Rectangle 12"/>
            <p:cNvSpPr/>
            <p:nvPr/>
          </p:nvSpPr>
          <p:spPr>
            <a:xfrm>
              <a:off x="9389806" y="2644877"/>
              <a:ext cx="2536723" cy="2635046"/>
            </a:xfrm>
            <a:prstGeom prst="roundRect">
              <a:avLst/>
            </a:prstGeom>
            <a:noFill/>
            <a:ln w="38100">
              <a:solidFill>
                <a:srgbClr val="843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0127226" y="2153265"/>
              <a:ext cx="988140" cy="874901"/>
            </a:xfrm>
            <a:prstGeom prst="roundRect">
              <a:avLst/>
            </a:prstGeom>
            <a:solidFill>
              <a:srgbClr val="843C0C"/>
            </a:solidFill>
            <a:ln>
              <a:solidFill>
                <a:srgbClr val="843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221861" y="2229464"/>
              <a:ext cx="798870" cy="72250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843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386117" y="3622275"/>
              <a:ext cx="25440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</a:t>
              </a:r>
              <a:r>
                <a:rPr lang="en-US" dirty="0" smtClean="0"/>
                <a:t>plit </a:t>
              </a:r>
              <a:r>
                <a:rPr lang="en-US" b="1" dirty="0" smtClean="0">
                  <a:solidFill>
                    <a:srgbClr val="843C0C"/>
                  </a:solidFill>
                </a:rPr>
                <a:t>by text by grouping the same ideas.</a:t>
              </a:r>
              <a:endParaRPr lang="en-US" dirty="0"/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9358" y="2520538"/>
            <a:ext cx="585327" cy="60736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04286BF-E51B-4703-8315-FCE50EFF4290}"/>
              </a:ext>
            </a:extLst>
          </p:cNvPr>
          <p:cNvSpPr txBox="1"/>
          <p:nvPr/>
        </p:nvSpPr>
        <p:spPr>
          <a:xfrm>
            <a:off x="11724959" y="6488668"/>
            <a:ext cx="934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</a:t>
            </a:r>
            <a:r>
              <a:rPr lang="en-GB" b="1" dirty="0" smtClean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9418392" y="29578"/>
            <a:ext cx="2604546" cy="642552"/>
            <a:chOff x="8503992" y="95295"/>
            <a:chExt cx="3439354" cy="800395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23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126186" y="127929"/>
              <a:ext cx="817160" cy="7677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53426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1444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32620" y="735083"/>
            <a:ext cx="7472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VECTORDB CREATION 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767471"/>
            <a:ext cx="10058400" cy="510294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517058" y="2595716"/>
            <a:ext cx="2517058" cy="15928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225845" y="2595716"/>
            <a:ext cx="3957484" cy="15928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4286BF-E51B-4703-8315-FCE50EFF4290}"/>
              </a:ext>
            </a:extLst>
          </p:cNvPr>
          <p:cNvSpPr txBox="1"/>
          <p:nvPr/>
        </p:nvSpPr>
        <p:spPr>
          <a:xfrm>
            <a:off x="11724959" y="6488668"/>
            <a:ext cx="934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 smtClean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</a:t>
            </a:r>
            <a:r>
              <a:rPr lang="en-GB" b="1" dirty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9418392" y="29578"/>
            <a:ext cx="2604546" cy="642552"/>
            <a:chOff x="8503992" y="95295"/>
            <a:chExt cx="3439354" cy="800395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13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26186" y="127929"/>
              <a:ext cx="817160" cy="7677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57347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xit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downLeft)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501444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32620" y="735083"/>
            <a:ext cx="7472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WHAT ARE EMBEDDINGS 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983177" y="2531805"/>
            <a:ext cx="8622990" cy="3175819"/>
            <a:chOff x="1238815" y="2605548"/>
            <a:chExt cx="8622990" cy="3175819"/>
          </a:xfrm>
        </p:grpSpPr>
        <p:sp>
          <p:nvSpPr>
            <p:cNvPr id="6" name="TextBox 5"/>
            <p:cNvSpPr txBox="1"/>
            <p:nvPr/>
          </p:nvSpPr>
          <p:spPr>
            <a:xfrm>
              <a:off x="2487461" y="2611268"/>
              <a:ext cx="2900515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smtClean="0"/>
                <a:t>I went to the market to buy fruits and vegetables. The shop was crowded, and </a:t>
              </a:r>
              <a:r>
                <a:rPr lang="en-US" sz="2000" dirty="0"/>
                <a:t>I</a:t>
              </a:r>
              <a:r>
                <a:rPr lang="en-US" sz="2000" dirty="0" smtClean="0"/>
                <a:t> had to wait in line for a long time. After coming home, </a:t>
              </a:r>
              <a:r>
                <a:rPr lang="en-US" sz="2000" dirty="0"/>
                <a:t>I</a:t>
              </a:r>
              <a:r>
                <a:rPr lang="en-US" sz="2000" dirty="0" smtClean="0"/>
                <a:t> realized I forgot to buy milk. Later, </a:t>
              </a:r>
              <a:r>
                <a:rPr lang="en-US" sz="2000" dirty="0"/>
                <a:t>I</a:t>
              </a:r>
              <a:r>
                <a:rPr lang="en-US" sz="2000" dirty="0" smtClean="0"/>
                <a:t> used a grocery app which made shopping faster and easier.</a:t>
              </a:r>
              <a:endParaRPr lang="en-US" sz="2000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418685" y="2605548"/>
              <a:ext cx="3038065" cy="3175819"/>
            </a:xfrm>
            <a:prstGeom prst="rect">
              <a:avLst/>
            </a:prstGeom>
            <a:noFill/>
            <a:ln w="28575">
              <a:solidFill>
                <a:srgbClr val="843C0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1238815" y="3827328"/>
              <a:ext cx="169114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 smtClean="0">
                  <a:solidFill>
                    <a:srgbClr val="C00000"/>
                  </a:solidFill>
                </a:rPr>
                <a:t>TEXT</a:t>
              </a:r>
              <a:endParaRPr lang="en-US" sz="32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9" name="Straight Arrow Connector 8"/>
            <p:cNvCxnSpPr/>
            <p:nvPr/>
          </p:nvCxnSpPr>
          <p:spPr>
            <a:xfrm>
              <a:off x="5594555" y="4119716"/>
              <a:ext cx="1091380" cy="0"/>
            </a:xfrm>
            <a:prstGeom prst="straightConnector1">
              <a:avLst/>
            </a:prstGeom>
            <a:ln w="28575">
              <a:solidFill>
                <a:srgbClr val="843C0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/>
            <p:cNvSpPr/>
            <p:nvPr/>
          </p:nvSpPr>
          <p:spPr>
            <a:xfrm>
              <a:off x="6823740" y="2605548"/>
              <a:ext cx="3038065" cy="3175819"/>
            </a:xfrm>
            <a:prstGeom prst="rect">
              <a:avLst/>
            </a:prstGeom>
            <a:noFill/>
            <a:ln w="28575">
              <a:solidFill>
                <a:srgbClr val="843C0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9743972" y="3765771"/>
            <a:ext cx="2261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C00000"/>
                </a:solidFill>
              </a:rPr>
              <a:t>NUMERICAL </a:t>
            </a:r>
          </a:p>
          <a:p>
            <a:r>
              <a:rPr lang="en-US" sz="2000" b="1" dirty="0" smtClean="0">
                <a:solidFill>
                  <a:srgbClr val="C00000"/>
                </a:solidFill>
              </a:rPr>
              <a:t>REPRESENTATION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95768" y="2723535"/>
            <a:ext cx="29103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[0.21, 0.78, 0.45, 0.12, 0.66</a:t>
            </a:r>
            <a:r>
              <a:rPr lang="en-US" dirty="0" smtClean="0"/>
              <a:t>]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/>
              <a:t>[0.63, 0.14, 0.88, 0.34, 0.51</a:t>
            </a:r>
            <a:r>
              <a:rPr lang="en-US" dirty="0" smtClean="0"/>
              <a:t>]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0563048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043015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589174"/>
              </p:ext>
            </p:extLst>
          </p:nvPr>
        </p:nvGraphicFramePr>
        <p:xfrm>
          <a:off x="6695768" y="4310486"/>
          <a:ext cx="4785698" cy="1188720"/>
        </p:xfrm>
        <a:graphic>
          <a:graphicData uri="http://schemas.openxmlformats.org/drawingml/2006/table">
            <a:tbl>
              <a:tblPr/>
              <a:tblGrid>
                <a:gridCol w="4785698">
                  <a:extLst>
                    <a:ext uri="{9D8B030D-6E8A-4147-A177-3AD203B41FA5}">
                      <a16:colId xmlns:a16="http://schemas.microsoft.com/office/drawing/2014/main" val="27950485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[0.72, 0.56, 0.19, 0.81, 0.27</a:t>
                      </a:r>
                      <a:r>
                        <a:rPr lang="en-US" dirty="0" smtClean="0"/>
                        <a:t>]</a:t>
                      </a:r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[0.33, 0.69, 0.74, 0.22, 0.58]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168764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404286BF-E51B-4703-8315-FCE50EFF4290}"/>
              </a:ext>
            </a:extLst>
          </p:cNvPr>
          <p:cNvSpPr txBox="1"/>
          <p:nvPr/>
        </p:nvSpPr>
        <p:spPr>
          <a:xfrm>
            <a:off x="11724959" y="6488668"/>
            <a:ext cx="934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 smtClean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</a:t>
            </a:r>
            <a:r>
              <a:rPr lang="en-GB" b="1" dirty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9418392" y="29578"/>
            <a:ext cx="2604546" cy="642552"/>
            <a:chOff x="8503992" y="95295"/>
            <a:chExt cx="3439354" cy="800395"/>
          </a:xfrm>
        </p:grpSpPr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20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26186" y="127929"/>
              <a:ext cx="817160" cy="7677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12769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1277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0943" y="735083"/>
            <a:ext cx="7472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EMBEDDING STRATERGY…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889774"/>
              </p:ext>
            </p:extLst>
          </p:nvPr>
        </p:nvGraphicFramePr>
        <p:xfrm>
          <a:off x="1076632" y="2054943"/>
          <a:ext cx="9689691" cy="35947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1124">
                  <a:extLst>
                    <a:ext uri="{9D8B030D-6E8A-4147-A177-3AD203B41FA5}">
                      <a16:colId xmlns:a16="http://schemas.microsoft.com/office/drawing/2014/main" val="2476868528"/>
                    </a:ext>
                  </a:extLst>
                </a:gridCol>
                <a:gridCol w="2858243">
                  <a:extLst>
                    <a:ext uri="{9D8B030D-6E8A-4147-A177-3AD203B41FA5}">
                      <a16:colId xmlns:a16="http://schemas.microsoft.com/office/drawing/2014/main" val="2619964041"/>
                    </a:ext>
                  </a:extLst>
                </a:gridCol>
                <a:gridCol w="3400324">
                  <a:extLst>
                    <a:ext uri="{9D8B030D-6E8A-4147-A177-3AD203B41FA5}">
                      <a16:colId xmlns:a16="http://schemas.microsoft.com/office/drawing/2014/main" val="2284555779"/>
                    </a:ext>
                  </a:extLst>
                </a:gridCol>
              </a:tblGrid>
              <a:tr h="71646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</a:rPr>
                        <a:t>EMBEDDING</a:t>
                      </a:r>
                      <a:r>
                        <a:rPr lang="en-US" baseline="0" dirty="0" smtClean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</a:rPr>
                        <a:t> MODEL</a:t>
                      </a:r>
                      <a:r>
                        <a:rPr lang="en-US" dirty="0" smtClean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</a:rPr>
                        <a:t> </a:t>
                      </a:r>
                      <a:endParaRPr lang="en-US" dirty="0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3C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</a:rPr>
                        <a:t>TYPE</a:t>
                      </a:r>
                      <a:endParaRPr lang="en-US" dirty="0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3C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</a:rPr>
                        <a:t>STRATERGY</a:t>
                      </a:r>
                      <a:endParaRPr lang="en-US" dirty="0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3C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028765"/>
                  </a:ext>
                </a:extLst>
              </a:tr>
              <a:tr h="728879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Paraphrase-mpnet-base-v2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General</a:t>
                      </a:r>
                      <a:r>
                        <a:rPr lang="en-US" baseline="0" dirty="0" smtClean="0"/>
                        <a:t> P</a:t>
                      </a:r>
                      <a:r>
                        <a:rPr lang="en-US" dirty="0" smtClean="0"/>
                        <a:t>urpose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b="1" dirty="0" smtClean="0">
                          <a:solidFill>
                            <a:srgbClr val="843C0C"/>
                          </a:solidFill>
                        </a:rPr>
                        <a:t>Dense vector </a:t>
                      </a:r>
                      <a:r>
                        <a:rPr lang="en-US" dirty="0" smtClean="0"/>
                        <a:t>Embedding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324549"/>
                  </a:ext>
                </a:extLst>
              </a:tr>
              <a:tr h="71646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text-embedding-3-large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General</a:t>
                      </a:r>
                      <a:r>
                        <a:rPr lang="en-US" baseline="0" dirty="0" smtClean="0"/>
                        <a:t> P</a:t>
                      </a:r>
                      <a:r>
                        <a:rPr lang="en-US" dirty="0" smtClean="0"/>
                        <a:t>urpose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rgbClr val="843C0C"/>
                          </a:solidFill>
                        </a:rPr>
                        <a:t>Sentence-level</a:t>
                      </a:r>
                      <a:r>
                        <a:rPr lang="en-US" dirty="0" smtClean="0"/>
                        <a:t> Embedding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49056"/>
                  </a:ext>
                </a:extLst>
              </a:tr>
              <a:tr h="716462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Bio_ClinicalBERT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Biomedical BERT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rgbClr val="843C0C"/>
                          </a:solidFill>
                        </a:rPr>
                        <a:t>Domain</a:t>
                      </a:r>
                      <a:r>
                        <a:rPr lang="en-US" b="1" baseline="0" dirty="0" smtClean="0">
                          <a:solidFill>
                            <a:srgbClr val="843C0C"/>
                          </a:solidFill>
                        </a:rPr>
                        <a:t> S</a:t>
                      </a:r>
                      <a:r>
                        <a:rPr lang="en-US" b="1" dirty="0" smtClean="0">
                          <a:solidFill>
                            <a:srgbClr val="843C0C"/>
                          </a:solidFill>
                        </a:rPr>
                        <a:t>pecific contextual </a:t>
                      </a:r>
                      <a:r>
                        <a:rPr lang="en-US" dirty="0" smtClean="0"/>
                        <a:t>Embedding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025459"/>
                  </a:ext>
                </a:extLst>
              </a:tr>
              <a:tr h="71646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CLIP / </a:t>
                      </a:r>
                      <a:r>
                        <a:rPr lang="en-US" dirty="0" err="1" smtClean="0"/>
                        <a:t>OpenCLIP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Multimodal</a:t>
                      </a:r>
                      <a:r>
                        <a:rPr lang="en-US" baseline="0" dirty="0" smtClean="0"/>
                        <a:t> Data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Joint </a:t>
                      </a:r>
                      <a:r>
                        <a:rPr lang="en-US" b="1" dirty="0" smtClean="0">
                          <a:solidFill>
                            <a:srgbClr val="843C0C"/>
                          </a:solidFill>
                        </a:rPr>
                        <a:t>text +</a:t>
                      </a:r>
                      <a:r>
                        <a:rPr lang="en-US" b="1" baseline="0" dirty="0" smtClean="0">
                          <a:solidFill>
                            <a:srgbClr val="843C0C"/>
                          </a:solidFill>
                        </a:rPr>
                        <a:t> </a:t>
                      </a:r>
                      <a:r>
                        <a:rPr lang="en-US" b="1" dirty="0" smtClean="0">
                          <a:solidFill>
                            <a:srgbClr val="843C0C"/>
                          </a:solidFill>
                        </a:rPr>
                        <a:t>image </a:t>
                      </a:r>
                      <a:r>
                        <a:rPr lang="en-US" dirty="0" smtClean="0"/>
                        <a:t>Embedding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967339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04286BF-E51B-4703-8315-FCE50EFF4290}"/>
              </a:ext>
            </a:extLst>
          </p:cNvPr>
          <p:cNvSpPr txBox="1"/>
          <p:nvPr/>
        </p:nvSpPr>
        <p:spPr>
          <a:xfrm>
            <a:off x="11724959" y="6488668"/>
            <a:ext cx="934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 smtClean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</a:t>
            </a:r>
            <a:r>
              <a:rPr lang="en-GB" b="1" dirty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9418392" y="29578"/>
            <a:ext cx="2604546" cy="642552"/>
            <a:chOff x="8503992" y="95295"/>
            <a:chExt cx="3439354" cy="800395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9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26186" y="127929"/>
              <a:ext cx="817160" cy="7677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27130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1444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32620" y="735083"/>
            <a:ext cx="7472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RETRIEVAL PHASE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187" y="1533832"/>
            <a:ext cx="9291484" cy="52264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49498" y="4149213"/>
            <a:ext cx="983226" cy="82591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351641" y="3854245"/>
            <a:ext cx="1720644" cy="14158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141111" y="4346761"/>
            <a:ext cx="34707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Compare query embedding with </a:t>
            </a:r>
          </a:p>
          <a:p>
            <a:r>
              <a:rPr lang="en-US" dirty="0" err="1" smtClean="0"/>
              <a:t>VectorDB</a:t>
            </a:r>
            <a:r>
              <a:rPr lang="en-US" dirty="0" smtClean="0"/>
              <a:t> embeddings.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Cosine Similarity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4286BF-E51B-4703-8315-FCE50EFF4290}"/>
              </a:ext>
            </a:extLst>
          </p:cNvPr>
          <p:cNvSpPr txBox="1"/>
          <p:nvPr/>
        </p:nvSpPr>
        <p:spPr>
          <a:xfrm>
            <a:off x="11724959" y="6488668"/>
            <a:ext cx="934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 smtClean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</a:t>
            </a:r>
            <a:r>
              <a:rPr lang="en-GB" b="1" dirty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9418392" y="29578"/>
            <a:ext cx="2604546" cy="642552"/>
            <a:chOff x="8503992" y="95295"/>
            <a:chExt cx="3439354" cy="800395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13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26186" y="127929"/>
              <a:ext cx="817160" cy="7677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16228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1444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32620" y="735083"/>
            <a:ext cx="7472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Cosine SIMILARITY 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58413" y="1976284"/>
            <a:ext cx="90751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Cosine </a:t>
            </a:r>
            <a:r>
              <a:rPr lang="en-US" sz="2400" dirty="0"/>
              <a:t>similarity </a:t>
            </a:r>
            <a:r>
              <a:rPr lang="en-US" sz="2400" dirty="0" smtClean="0"/>
              <a:t>measures similarity between </a:t>
            </a:r>
            <a:r>
              <a:rPr lang="en-US" sz="2400" dirty="0"/>
              <a:t>two embeddings </a:t>
            </a:r>
            <a:r>
              <a:rPr lang="en-US" sz="2400" dirty="0" smtClean="0"/>
              <a:t>by </a:t>
            </a:r>
            <a:r>
              <a:rPr lang="en-US" sz="2400" dirty="0"/>
              <a:t>checking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A</a:t>
            </a:r>
            <a:r>
              <a:rPr lang="en-US" sz="2400" b="1" dirty="0" smtClean="0">
                <a:solidFill>
                  <a:srgbClr val="C00000"/>
                </a:solidFill>
              </a:rPr>
              <a:t>ngle</a:t>
            </a:r>
            <a:r>
              <a:rPr lang="en-US" sz="2400" b="1" dirty="0" smtClean="0"/>
              <a:t> </a:t>
            </a:r>
            <a:r>
              <a:rPr lang="en-US" sz="2400" dirty="0"/>
              <a:t>between </a:t>
            </a:r>
            <a:r>
              <a:rPr lang="en-US" sz="2400" dirty="0" smtClean="0"/>
              <a:t>them. </a:t>
            </a:r>
            <a:endParaRPr lang="en-US" sz="2400" dirty="0"/>
          </a:p>
        </p:txBody>
      </p:sp>
      <p:sp>
        <p:nvSpPr>
          <p:cNvPr id="5" name="Rounded Rectangle 4"/>
          <p:cNvSpPr/>
          <p:nvPr/>
        </p:nvSpPr>
        <p:spPr>
          <a:xfrm>
            <a:off x="757084" y="3185652"/>
            <a:ext cx="6656439" cy="3460954"/>
          </a:xfrm>
          <a:prstGeom prst="roundRect">
            <a:avLst/>
          </a:prstGeom>
          <a:solidFill>
            <a:srgbClr val="F7CAAB"/>
          </a:solidFill>
          <a:ln>
            <a:solidFill>
              <a:srgbClr val="843C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278194" y="3382297"/>
                <a:ext cx="5093109" cy="2891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 smtClean="0"/>
                  <a:t>Given</a:t>
                </a:r>
                <a:endParaRPr lang="en-US" b="1" dirty="0"/>
              </a:p>
              <a:p>
                <a:r>
                  <a:rPr lang="en-US" dirty="0"/>
                  <a:t>vector A = [</a:t>
                </a:r>
                <a:r>
                  <a:rPr lang="en-US" dirty="0" smtClean="0"/>
                  <a:t>1,2], vector </a:t>
                </a:r>
                <a:r>
                  <a:rPr lang="en-US" dirty="0"/>
                  <a:t>B = [2,4</a:t>
                </a:r>
                <a:r>
                  <a:rPr lang="en-US" dirty="0" smtClean="0"/>
                  <a:t>]</a:t>
                </a:r>
              </a:p>
              <a:p>
                <a:endParaRPr lang="en-US" dirty="0"/>
              </a:p>
              <a:p>
                <a:r>
                  <a:rPr lang="en-US" dirty="0" smtClean="0"/>
                  <a:t>Cosine similarity: </a:t>
                </a:r>
                <a:r>
                  <a:rPr lang="it-IT" dirty="0"/>
                  <a:t>cosine similarity</a:t>
                </a:r>
                <a:r>
                  <a:rPr lang="it-IT" dirty="0" smtClean="0"/>
                  <a:t>= </a:t>
                </a:r>
                <a:r>
                  <a:rPr lang="it-IT" dirty="0"/>
                  <a:t>A⋅B </a:t>
                </a:r>
                <a:r>
                  <a:rPr lang="it-IT" dirty="0" smtClean="0"/>
                  <a:t>/ ∥</a:t>
                </a:r>
                <a:r>
                  <a:rPr lang="it-IT" dirty="0"/>
                  <a:t>A∥∥B</a:t>
                </a:r>
                <a:r>
                  <a:rPr lang="it-IT" dirty="0" smtClean="0"/>
                  <a:t>∥​</a:t>
                </a:r>
              </a:p>
              <a:p>
                <a:endParaRPr lang="it-IT" dirty="0"/>
              </a:p>
              <a:p>
                <a:r>
                  <a:rPr lang="it-IT" dirty="0" smtClean="0"/>
                  <a:t>Calculation: </a:t>
                </a:r>
                <a:br>
                  <a:rPr lang="it-IT" dirty="0" smtClean="0"/>
                </a:br>
                <a:r>
                  <a:rPr lang="en-US" dirty="0"/>
                  <a:t>cosine </a:t>
                </a:r>
                <a:r>
                  <a:rPr lang="en-US" dirty="0" smtClean="0"/>
                  <a:t>similarity= 10 /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20</m:t>
                        </m:r>
                      </m:e>
                    </m:rad>
                  </m:oMath>
                </a14:m>
                <a:endParaRPr lang="en-US" b="0" dirty="0" smtClean="0">
                  <a:ea typeface="Cambria Math" panose="02040503050406030204" pitchFamily="18" charset="0"/>
                </a:endParaRPr>
              </a:p>
              <a:p>
                <a:r>
                  <a:rPr lang="en-US" dirty="0" smtClean="0"/>
                  <a:t>                             = 10 / 10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                            = 1.0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194" y="3382297"/>
                <a:ext cx="5093109" cy="2891176"/>
              </a:xfrm>
              <a:prstGeom prst="rect">
                <a:avLst/>
              </a:prstGeom>
              <a:blipFill>
                <a:blip r:embed="rId2"/>
                <a:stretch>
                  <a:fillRect l="-1078" t="-12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>
            <a:off x="3519948" y="5810865"/>
            <a:ext cx="1150375" cy="9832"/>
          </a:xfrm>
          <a:prstGeom prst="straightConnector1">
            <a:avLst/>
          </a:prstGeom>
          <a:ln>
            <a:solidFill>
              <a:srgbClr val="843C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670323" y="5269789"/>
            <a:ext cx="18681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Exactly </a:t>
            </a:r>
            <a:r>
              <a:rPr lang="en-US" b="1" dirty="0">
                <a:solidFill>
                  <a:srgbClr val="C00000"/>
                </a:solidFill>
              </a:rPr>
              <a:t>the same direction, so they represent identical meaning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9831" y="3185652"/>
            <a:ext cx="3618271" cy="2949677"/>
          </a:xfrm>
          <a:prstGeom prst="roundRect">
            <a:avLst/>
          </a:prstGeom>
          <a:noFill/>
          <a:ln w="28575">
            <a:solidFill>
              <a:srgbClr val="843C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816645" y="3510116"/>
            <a:ext cx="31463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Value </a:t>
            </a:r>
            <a:r>
              <a:rPr lang="en-US" b="1" dirty="0">
                <a:solidFill>
                  <a:srgbClr val="C00000"/>
                </a:solidFill>
              </a:rPr>
              <a:t>range</a:t>
            </a:r>
          </a:p>
          <a:p>
            <a:r>
              <a:rPr lang="en-US" b="1" dirty="0">
                <a:solidFill>
                  <a:srgbClr val="843C0C"/>
                </a:solidFill>
              </a:rPr>
              <a:t>1.0 → </a:t>
            </a:r>
            <a:r>
              <a:rPr lang="en-US" dirty="0"/>
              <a:t>exactly the same meaning</a:t>
            </a:r>
          </a:p>
          <a:p>
            <a:r>
              <a:rPr lang="en-US" b="1" dirty="0">
                <a:solidFill>
                  <a:srgbClr val="843C0C"/>
                </a:solidFill>
              </a:rPr>
              <a:t>0.0 → </a:t>
            </a:r>
            <a:r>
              <a:rPr lang="en-US" dirty="0"/>
              <a:t>no similarity</a:t>
            </a:r>
          </a:p>
          <a:p>
            <a:r>
              <a:rPr lang="en-US" b="1" dirty="0">
                <a:solidFill>
                  <a:srgbClr val="843C0C"/>
                </a:solidFill>
              </a:rPr>
              <a:t>–1.0</a:t>
            </a:r>
            <a:r>
              <a:rPr lang="en-US" dirty="0">
                <a:solidFill>
                  <a:srgbClr val="843C0C"/>
                </a:solidFill>
              </a:rPr>
              <a:t> → </a:t>
            </a:r>
            <a:r>
              <a:rPr lang="en-US" dirty="0"/>
              <a:t>opposite meaning (rare in text)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4286BF-E51B-4703-8315-FCE50EFF4290}"/>
              </a:ext>
            </a:extLst>
          </p:cNvPr>
          <p:cNvSpPr txBox="1"/>
          <p:nvPr/>
        </p:nvSpPr>
        <p:spPr>
          <a:xfrm>
            <a:off x="11724959" y="6488668"/>
            <a:ext cx="934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 smtClean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</a:t>
            </a:r>
            <a:r>
              <a:rPr lang="en-GB" b="1" dirty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9418392" y="29578"/>
            <a:ext cx="2604546" cy="642552"/>
            <a:chOff x="8503992" y="95295"/>
            <a:chExt cx="3439354" cy="800395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16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26186" y="127929"/>
              <a:ext cx="817160" cy="7677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88483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1444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32620" y="735083"/>
            <a:ext cx="7472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RETRIEVAL PHASE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187" y="1533832"/>
            <a:ext cx="9291484" cy="52264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49498" y="4149213"/>
            <a:ext cx="983226" cy="82591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028335" y="3942735"/>
            <a:ext cx="1907459" cy="14158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4286BF-E51B-4703-8315-FCE50EFF4290}"/>
              </a:ext>
            </a:extLst>
          </p:cNvPr>
          <p:cNvSpPr txBox="1"/>
          <p:nvPr/>
        </p:nvSpPr>
        <p:spPr>
          <a:xfrm>
            <a:off x="11724959" y="6488668"/>
            <a:ext cx="934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 smtClean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</a:t>
            </a:r>
            <a:r>
              <a:rPr lang="en-GB" b="1" dirty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7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9418392" y="29578"/>
            <a:ext cx="2604546" cy="642552"/>
            <a:chOff x="8503992" y="95295"/>
            <a:chExt cx="3439354" cy="800395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12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26186" y="127929"/>
              <a:ext cx="817160" cy="7677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18725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1444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32620" y="735083"/>
            <a:ext cx="7472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TOP-k STRATEGIES 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852" y="2795910"/>
            <a:ext cx="5975709" cy="40620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05367" y="3746091"/>
            <a:ext cx="36281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Too SLOW!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 smtClean="0">
                <a:solidFill>
                  <a:srgbClr val="C00000"/>
                </a:solidFill>
              </a:rPr>
              <a:t>If there are N embedding vectors and each has D dimensions, the computational complexity is in the order of  </a:t>
            </a:r>
            <a:r>
              <a:rPr lang="en-US" b="1" dirty="0" smtClean="0"/>
              <a:t>O(N* D), </a:t>
            </a:r>
            <a:r>
              <a:rPr lang="en-US" b="1" dirty="0" smtClean="0">
                <a:solidFill>
                  <a:srgbClr val="C00000"/>
                </a:solidFill>
              </a:rPr>
              <a:t>TOO SLOW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2620" y="1816857"/>
            <a:ext cx="3991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843C0C"/>
                </a:solidFill>
                <a:latin typeface="+mj-lt"/>
              </a:rPr>
              <a:t>1. K-NN: a naïve approach</a:t>
            </a:r>
            <a:endParaRPr lang="en-US" sz="2400" b="1" dirty="0">
              <a:solidFill>
                <a:srgbClr val="843C0C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4286BF-E51B-4703-8315-FCE50EFF4290}"/>
              </a:ext>
            </a:extLst>
          </p:cNvPr>
          <p:cNvSpPr txBox="1"/>
          <p:nvPr/>
        </p:nvSpPr>
        <p:spPr>
          <a:xfrm>
            <a:off x="11724959" y="6488668"/>
            <a:ext cx="934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 smtClean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</a:t>
            </a:r>
            <a:r>
              <a:rPr lang="en-GB" b="1" dirty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9418392" y="29578"/>
            <a:ext cx="2604546" cy="642552"/>
            <a:chOff x="8503992" y="95295"/>
            <a:chExt cx="3439354" cy="800395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12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26186" y="127929"/>
              <a:ext cx="817160" cy="7677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03359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1444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32620" y="735083"/>
            <a:ext cx="7472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TOP-k STRATEGIES 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006348" y="3726427"/>
            <a:ext cx="26252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We keep the search by 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With randomly choosing starting point and then keep the Top-k among all the visited notes. 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2620" y="1816857"/>
            <a:ext cx="5673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843C0C"/>
                </a:solidFill>
                <a:latin typeface="+mj-lt"/>
              </a:rPr>
              <a:t>2</a:t>
            </a:r>
            <a:r>
              <a:rPr lang="en-US" sz="2400" b="1" dirty="0" smtClean="0">
                <a:solidFill>
                  <a:srgbClr val="843C0C"/>
                </a:solidFill>
                <a:latin typeface="+mj-lt"/>
              </a:rPr>
              <a:t>. Navigable Small Words for searching K-NN</a:t>
            </a:r>
            <a:endParaRPr lang="en-US" sz="2400" b="1" dirty="0">
              <a:solidFill>
                <a:srgbClr val="843C0C"/>
              </a:solidFill>
              <a:latin typeface="+mj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554" y="2412284"/>
            <a:ext cx="8391525" cy="40195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4286BF-E51B-4703-8315-FCE50EFF4290}"/>
              </a:ext>
            </a:extLst>
          </p:cNvPr>
          <p:cNvSpPr txBox="1"/>
          <p:nvPr/>
        </p:nvSpPr>
        <p:spPr>
          <a:xfrm>
            <a:off x="11724959" y="6488668"/>
            <a:ext cx="934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 smtClean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</a:t>
            </a:r>
            <a:r>
              <a:rPr lang="en-GB" b="1" dirty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9418392" y="29578"/>
            <a:ext cx="2604546" cy="642552"/>
            <a:chOff x="8503992" y="95295"/>
            <a:chExt cx="3439354" cy="800395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12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26186" y="127929"/>
              <a:ext cx="817160" cy="7677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34687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1444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32620" y="735083"/>
            <a:ext cx="7472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RETRIEVAL PHASE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187" y="1533832"/>
            <a:ext cx="9291484" cy="52264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49498" y="4149213"/>
            <a:ext cx="983226" cy="82591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005781" y="5614218"/>
            <a:ext cx="3382296" cy="10520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4286BF-E51B-4703-8315-FCE50EFF4290}"/>
              </a:ext>
            </a:extLst>
          </p:cNvPr>
          <p:cNvSpPr txBox="1"/>
          <p:nvPr/>
        </p:nvSpPr>
        <p:spPr>
          <a:xfrm>
            <a:off x="11724959" y="6488668"/>
            <a:ext cx="934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noProof="0" dirty="0" smtClean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9418392" y="29578"/>
            <a:ext cx="2604546" cy="642552"/>
            <a:chOff x="8503992" y="95295"/>
            <a:chExt cx="3439354" cy="800395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12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26186" y="127929"/>
              <a:ext cx="817160" cy="7677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0022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1444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32620" y="735083"/>
            <a:ext cx="7472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AUGMENTATION 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29" y="1767471"/>
            <a:ext cx="10058400" cy="56578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4286BF-E51B-4703-8315-FCE50EFF4290}"/>
              </a:ext>
            </a:extLst>
          </p:cNvPr>
          <p:cNvSpPr txBox="1"/>
          <p:nvPr/>
        </p:nvSpPr>
        <p:spPr>
          <a:xfrm>
            <a:off x="11724959" y="6488668"/>
            <a:ext cx="934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noProof="0" dirty="0" smtClean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21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9418392" y="29578"/>
            <a:ext cx="2604546" cy="642552"/>
            <a:chOff x="8503992" y="95295"/>
            <a:chExt cx="3439354" cy="800395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9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26186" y="127929"/>
              <a:ext cx="817160" cy="7677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68962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1444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32620" y="735083"/>
            <a:ext cx="7472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GENERATION 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420" y="1767471"/>
            <a:ext cx="10058400" cy="5657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4286BF-E51B-4703-8315-FCE50EFF4290}"/>
              </a:ext>
            </a:extLst>
          </p:cNvPr>
          <p:cNvSpPr txBox="1"/>
          <p:nvPr/>
        </p:nvSpPr>
        <p:spPr>
          <a:xfrm>
            <a:off x="11724959" y="6488668"/>
            <a:ext cx="934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noProof="0" dirty="0" smtClean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22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9418392" y="29578"/>
            <a:ext cx="2604546" cy="642552"/>
            <a:chOff x="8503992" y="95295"/>
            <a:chExt cx="3439354" cy="800395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10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26186" y="127929"/>
              <a:ext cx="817160" cy="7677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79304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1" y="1319858"/>
            <a:ext cx="10972798" cy="565785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501444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32620" y="735083"/>
            <a:ext cx="7472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End-to-End RAG Pipeline 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Round Same Side Corner Rectangle 5"/>
          <p:cNvSpPr/>
          <p:nvPr/>
        </p:nvSpPr>
        <p:spPr>
          <a:xfrm>
            <a:off x="3500284" y="1533832"/>
            <a:ext cx="5132439" cy="157316"/>
          </a:xfrm>
          <a:prstGeom prst="round2Same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4286BF-E51B-4703-8315-FCE50EFF4290}"/>
              </a:ext>
            </a:extLst>
          </p:cNvPr>
          <p:cNvSpPr txBox="1"/>
          <p:nvPr/>
        </p:nvSpPr>
        <p:spPr>
          <a:xfrm>
            <a:off x="11724959" y="6488668"/>
            <a:ext cx="934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noProof="0" dirty="0" smtClean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23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9418392" y="29578"/>
            <a:ext cx="2604546" cy="642552"/>
            <a:chOff x="8503992" y="95295"/>
            <a:chExt cx="3439354" cy="800395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11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26186" y="127929"/>
              <a:ext cx="817160" cy="7677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6469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43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8503992" y="95295"/>
            <a:ext cx="3441880" cy="800395"/>
            <a:chOff x="8503992" y="95295"/>
            <a:chExt cx="3441880" cy="800395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15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26186" y="127928"/>
              <a:ext cx="819686" cy="754791"/>
            </a:xfrm>
            <a:prstGeom prst="rect">
              <a:avLst/>
            </a:prstGeom>
          </p:spPr>
        </p:pic>
      </p:grpSp>
      <p:sp>
        <p:nvSpPr>
          <p:cNvPr id="19" name="TextBox 18"/>
          <p:cNvSpPr txBox="1"/>
          <p:nvPr/>
        </p:nvSpPr>
        <p:spPr>
          <a:xfrm>
            <a:off x="7006887" y="182910"/>
            <a:ext cx="18779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bg2"/>
                </a:solidFill>
              </a:rPr>
              <a:t>IMAGE ANALYSIS LAB</a:t>
            </a:r>
            <a:endParaRPr lang="en-US" sz="1600" b="1" dirty="0">
              <a:solidFill>
                <a:schemeClr val="bg2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49832" y="3474453"/>
            <a:ext cx="913447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rgbClr val="843C0C"/>
                </a:solidFill>
              </a:rPr>
              <a:t>HOW TO APPLY </a:t>
            </a:r>
            <a:r>
              <a:rPr lang="en-US" sz="2800" b="1" dirty="0">
                <a:solidFill>
                  <a:srgbClr val="843C0C"/>
                </a:solidFill>
              </a:rPr>
              <a:t>RAG </a:t>
            </a:r>
            <a:r>
              <a:rPr lang="en-US" sz="2800" b="1" dirty="0" smtClean="0">
                <a:solidFill>
                  <a:srgbClr val="843C0C"/>
                </a:solidFill>
              </a:rPr>
              <a:t>ON DIFFERENT DATA TYPES</a:t>
            </a:r>
            <a:endParaRPr lang="en-US" sz="2800" b="1" dirty="0">
              <a:solidFill>
                <a:srgbClr val="843C0C"/>
              </a:solidFill>
            </a:endParaRPr>
          </a:p>
          <a:p>
            <a:endParaRPr lang="en-US" sz="2800" dirty="0">
              <a:solidFill>
                <a:srgbClr val="843C0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5302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87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5333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Multimodal RAG?</a:t>
            </a:r>
            <a:endParaRPr lang="en-US" sz="5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87680" y="1701289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dirty="0">
                <a:solidFill>
                  <a:srgbClr val="843C0C"/>
                </a:solidFill>
                <a:latin typeface="Calibri" panose="020F0502020204030204"/>
              </a:rPr>
              <a:t>Traditional RAG focuses on text only, but real-world data comes in many forms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609600" y="2861187"/>
            <a:ext cx="10972800" cy="3048000"/>
            <a:chOff x="609600" y="2438400"/>
            <a:chExt cx="10972800" cy="3048000"/>
          </a:xfrm>
        </p:grpSpPr>
        <p:sp>
          <p:nvSpPr>
            <p:cNvPr id="4" name="Shape 2"/>
            <p:cNvSpPr/>
            <p:nvPr/>
          </p:nvSpPr>
          <p:spPr>
            <a:xfrm>
              <a:off x="609600" y="2438400"/>
              <a:ext cx="2560320" cy="30480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843C0C"/>
              </a:solidFill>
              <a:prstDash val="solid"/>
            </a:ln>
          </p:spPr>
        </p:sp>
        <p:pic>
          <p:nvPicPr>
            <p:cNvPr id="5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84960" y="2804160"/>
              <a:ext cx="609600" cy="609600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731520" y="3657600"/>
              <a:ext cx="231648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2400" b="1" dirty="0">
                  <a:solidFill>
                    <a:srgbClr val="843C0C"/>
                  </a:solidFill>
                  <a:latin typeface="Calibri" panose="020F0502020204030204"/>
                </a:rPr>
                <a:t>Text</a:t>
              </a:r>
              <a:endParaRPr lang="en-US" sz="2400" dirty="0">
                <a:solidFill>
                  <a:srgbClr val="843C0C"/>
                </a:solidFill>
                <a:latin typeface="Calibri" panose="020F0502020204030204"/>
              </a:endParaRPr>
            </a:p>
          </p:txBody>
        </p:sp>
        <p:sp>
          <p:nvSpPr>
            <p:cNvPr id="7" name="Text 4"/>
            <p:cNvSpPr/>
            <p:nvPr/>
          </p:nvSpPr>
          <p:spPr>
            <a:xfrm>
              <a:off x="731520" y="4267200"/>
              <a:ext cx="2316480" cy="975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1600" dirty="0">
                  <a:solidFill>
                    <a:srgbClr val="5A5A5A"/>
                  </a:solidFill>
                  <a:latin typeface="Calibri" panose="020F0502020204030204"/>
                </a:rPr>
                <a:t>Documents, articles, reports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Shape 5"/>
            <p:cNvSpPr/>
            <p:nvPr/>
          </p:nvSpPr>
          <p:spPr>
            <a:xfrm>
              <a:off x="3413760" y="2438400"/>
              <a:ext cx="2560320" cy="30480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843C0C"/>
              </a:solidFill>
              <a:prstDash val="solid"/>
            </a:ln>
          </p:spPr>
        </p:sp>
        <p:pic>
          <p:nvPicPr>
            <p:cNvPr id="9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89120" y="2804160"/>
              <a:ext cx="609600" cy="609600"/>
            </a:xfrm>
            <a:prstGeom prst="rect">
              <a:avLst/>
            </a:prstGeom>
          </p:spPr>
        </p:pic>
        <p:sp>
          <p:nvSpPr>
            <p:cNvPr id="10" name="Text 6"/>
            <p:cNvSpPr/>
            <p:nvPr/>
          </p:nvSpPr>
          <p:spPr>
            <a:xfrm>
              <a:off x="3535680" y="3657600"/>
              <a:ext cx="231648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2400" b="1" dirty="0">
                  <a:solidFill>
                    <a:srgbClr val="843C0C"/>
                  </a:solidFill>
                  <a:latin typeface="Calibri" panose="020F0502020204030204"/>
                </a:rPr>
                <a:t>Images</a:t>
              </a:r>
              <a:endParaRPr lang="en-US" sz="2400" dirty="0">
                <a:solidFill>
                  <a:srgbClr val="843C0C"/>
                </a:solidFill>
                <a:latin typeface="Calibri" panose="020F0502020204030204"/>
              </a:endParaRPr>
            </a:p>
          </p:txBody>
        </p:sp>
        <p:sp>
          <p:nvSpPr>
            <p:cNvPr id="11" name="Text 7"/>
            <p:cNvSpPr/>
            <p:nvPr/>
          </p:nvSpPr>
          <p:spPr>
            <a:xfrm>
              <a:off x="3535680" y="4267200"/>
              <a:ext cx="2316480" cy="975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1600" dirty="0">
                  <a:solidFill>
                    <a:srgbClr val="5A5A5A"/>
                  </a:solidFill>
                  <a:latin typeface="Calibri" panose="020F0502020204030204"/>
                </a:rPr>
                <a:t>Photos, diagrams, charts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" name="Shape 8"/>
            <p:cNvSpPr/>
            <p:nvPr/>
          </p:nvSpPr>
          <p:spPr>
            <a:xfrm>
              <a:off x="6217920" y="2438400"/>
              <a:ext cx="2560320" cy="30480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843C0C"/>
              </a:solidFill>
              <a:prstDash val="solid"/>
            </a:ln>
          </p:spPr>
        </p:sp>
        <p:pic>
          <p:nvPicPr>
            <p:cNvPr id="13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93280" y="2804160"/>
              <a:ext cx="609600" cy="609600"/>
            </a:xfrm>
            <a:prstGeom prst="rect">
              <a:avLst/>
            </a:prstGeom>
          </p:spPr>
        </p:pic>
        <p:sp>
          <p:nvSpPr>
            <p:cNvPr id="14" name="Text 9"/>
            <p:cNvSpPr/>
            <p:nvPr/>
          </p:nvSpPr>
          <p:spPr>
            <a:xfrm>
              <a:off x="6339840" y="3657600"/>
              <a:ext cx="231648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2400" b="1" dirty="0">
                  <a:solidFill>
                    <a:srgbClr val="843C0C"/>
                  </a:solidFill>
                  <a:latin typeface="Calibri" panose="020F0502020204030204"/>
                </a:rPr>
                <a:t>Audio</a:t>
              </a:r>
              <a:endParaRPr lang="en-US" sz="2400" dirty="0">
                <a:solidFill>
                  <a:srgbClr val="843C0C"/>
                </a:solidFill>
                <a:latin typeface="Calibri" panose="020F0502020204030204"/>
              </a:endParaRPr>
            </a:p>
          </p:txBody>
        </p:sp>
        <p:sp>
          <p:nvSpPr>
            <p:cNvPr id="15" name="Text 10"/>
            <p:cNvSpPr/>
            <p:nvPr/>
          </p:nvSpPr>
          <p:spPr>
            <a:xfrm>
              <a:off x="6339840" y="4267200"/>
              <a:ext cx="2316480" cy="975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1600" dirty="0">
                  <a:solidFill>
                    <a:srgbClr val="5A5A5A"/>
                  </a:solidFill>
                  <a:latin typeface="Calibri" panose="020F0502020204030204"/>
                </a:rPr>
                <a:t>Speech, music, sounds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Shape 11"/>
            <p:cNvSpPr/>
            <p:nvPr/>
          </p:nvSpPr>
          <p:spPr>
            <a:xfrm>
              <a:off x="9022080" y="2438400"/>
              <a:ext cx="2560320" cy="30480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843C0C"/>
              </a:solidFill>
              <a:prstDash val="solid"/>
            </a:ln>
          </p:spPr>
        </p:sp>
        <p:pic>
          <p:nvPicPr>
            <p:cNvPr id="17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997440" y="2804160"/>
              <a:ext cx="609600" cy="609600"/>
            </a:xfrm>
            <a:prstGeom prst="rect">
              <a:avLst/>
            </a:prstGeom>
          </p:spPr>
        </p:pic>
        <p:sp>
          <p:nvSpPr>
            <p:cNvPr id="18" name="Text 12"/>
            <p:cNvSpPr/>
            <p:nvPr/>
          </p:nvSpPr>
          <p:spPr>
            <a:xfrm>
              <a:off x="9144000" y="3657600"/>
              <a:ext cx="231648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2400" b="1" dirty="0">
                  <a:solidFill>
                    <a:srgbClr val="843C0C"/>
                  </a:solidFill>
                  <a:latin typeface="Calibri" panose="020F0502020204030204"/>
                </a:rPr>
                <a:t>Video</a:t>
              </a:r>
              <a:endParaRPr lang="en-US" sz="2400" dirty="0">
                <a:solidFill>
                  <a:srgbClr val="843C0C"/>
                </a:solidFill>
                <a:latin typeface="Calibri" panose="020F0502020204030204"/>
              </a:endParaRPr>
            </a:p>
          </p:txBody>
        </p:sp>
        <p:sp>
          <p:nvSpPr>
            <p:cNvPr id="19" name="Text 13"/>
            <p:cNvSpPr/>
            <p:nvPr/>
          </p:nvSpPr>
          <p:spPr>
            <a:xfrm>
              <a:off x="9144000" y="4267200"/>
              <a:ext cx="2316480" cy="975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1600" dirty="0">
                  <a:solidFill>
                    <a:srgbClr val="5A5A5A"/>
                  </a:solidFill>
                  <a:latin typeface="Calibri" panose="020F0502020204030204"/>
                </a:rPr>
                <a:t>Recordings, presentations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0" name="Rectangle 19"/>
          <p:cNvSpPr/>
          <p:nvPr/>
        </p:nvSpPr>
        <p:spPr>
          <a:xfrm>
            <a:off x="0" y="467073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432620" y="700712"/>
            <a:ext cx="7472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WHY MULTIMODAL RAG?</a:t>
            </a:r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9418392" y="-4793"/>
            <a:ext cx="2604546" cy="642552"/>
            <a:chOff x="8503992" y="95295"/>
            <a:chExt cx="3439354" cy="800395"/>
          </a:xfrm>
        </p:grpSpPr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25" name="object 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126186" y="127929"/>
              <a:ext cx="817160" cy="7677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02377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32620" y="2005698"/>
            <a:ext cx="2194560" cy="21945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rgbClr val="843C0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100" y="2249538"/>
            <a:ext cx="609600" cy="60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32620" y="2981058"/>
            <a:ext cx="219456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defTabSz="1219170"/>
            <a:r>
              <a:rPr lang="en-US" sz="1733" b="1" dirty="0">
                <a:solidFill>
                  <a:srgbClr val="843C0C"/>
                </a:solidFill>
                <a:latin typeface="Calibri" panose="020F0502020204030204"/>
              </a:rPr>
              <a:t>User Query</a:t>
            </a:r>
            <a:endParaRPr lang="en-US" sz="1733" dirty="0">
              <a:solidFill>
                <a:srgbClr val="843C0C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432620" y="371257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333" i="1" dirty="0">
                <a:solidFill>
                  <a:srgbClr val="5A5A5A"/>
                </a:solidFill>
                <a:latin typeface="Calibri" panose="020F0502020204030204"/>
              </a:rPr>
              <a:t>(text/image/audio)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8140" y="2981058"/>
            <a:ext cx="365760" cy="3657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114860" y="2005698"/>
            <a:ext cx="1950720" cy="21945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rgbClr val="843C0C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5420" y="2249538"/>
            <a:ext cx="609600" cy="609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114860" y="2981058"/>
            <a:ext cx="195072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defTabSz="1219170"/>
            <a:r>
              <a:rPr lang="en-US" sz="1733" b="1" dirty="0">
                <a:solidFill>
                  <a:srgbClr val="843C0C"/>
                </a:solidFill>
                <a:latin typeface="Calibri" panose="020F0502020204030204"/>
              </a:rPr>
              <a:t>Embedding</a:t>
            </a:r>
            <a:endParaRPr lang="en-US" sz="1733" dirty="0">
              <a:solidFill>
                <a:srgbClr val="843C0C"/>
              </a:solidFill>
              <a:latin typeface="Calibri" panose="020F0502020204030204"/>
            </a:endParaRPr>
          </a:p>
          <a:p>
            <a:pPr algn="ctr" defTabSz="1219170"/>
            <a:r>
              <a:rPr lang="en-US" sz="1733" b="1" dirty="0">
                <a:solidFill>
                  <a:srgbClr val="843C0C"/>
                </a:solidFill>
                <a:latin typeface="Calibri" panose="020F0502020204030204"/>
              </a:rPr>
              <a:t>Model</a:t>
            </a:r>
            <a:endParaRPr lang="en-US" sz="1733" dirty="0">
              <a:solidFill>
                <a:srgbClr val="843C0C"/>
              </a:solidFill>
              <a:latin typeface="Calibri" panose="020F0502020204030204"/>
            </a:endParaRPr>
          </a:p>
        </p:txBody>
      </p:sp>
      <p:sp>
        <p:nvSpPr>
          <p:cNvPr id="11" name="Text 6"/>
          <p:cNvSpPr/>
          <p:nvPr/>
        </p:nvSpPr>
        <p:spPr>
          <a:xfrm>
            <a:off x="3114860" y="3712578"/>
            <a:ext cx="195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333" i="1" dirty="0">
                <a:solidFill>
                  <a:srgbClr val="5A5A5A"/>
                </a:solidFill>
                <a:latin typeface="Calibri" panose="020F0502020204030204"/>
              </a:rPr>
              <a:t>Multimodal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6540" y="2981058"/>
            <a:ext cx="365760" cy="36576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5553260" y="2005698"/>
            <a:ext cx="1950720" cy="21945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rgbClr val="843C0C"/>
            </a:solidFill>
            <a:prstDash val="solid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  <a14:imgEffect>
                      <a14:colorTemperature colorTemp="11500"/>
                    </a14:imgEffect>
                    <a14:imgEffect>
                      <a14:saturation sat="296000"/>
                    </a14:imgEffect>
                    <a14:imgEffect>
                      <a14:brightnessContrast bright="-100000" contras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23820" y="2249538"/>
            <a:ext cx="609600" cy="609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553260" y="2981058"/>
            <a:ext cx="195072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defTabSz="1219170"/>
            <a:r>
              <a:rPr lang="en-US" sz="1733" b="1" dirty="0">
                <a:solidFill>
                  <a:srgbClr val="843C0C"/>
                </a:solidFill>
                <a:latin typeface="Calibri" panose="020F0502020204030204"/>
              </a:rPr>
              <a:t>Vector</a:t>
            </a:r>
            <a:endParaRPr lang="en-US" sz="1733" dirty="0">
              <a:solidFill>
                <a:srgbClr val="843C0C"/>
              </a:solidFill>
              <a:latin typeface="Calibri" panose="020F0502020204030204"/>
            </a:endParaRPr>
          </a:p>
          <a:p>
            <a:pPr algn="ctr" defTabSz="1219170"/>
            <a:r>
              <a:rPr lang="en-US" sz="1733" b="1" dirty="0">
                <a:solidFill>
                  <a:srgbClr val="843C0C"/>
                </a:solidFill>
                <a:latin typeface="Calibri" panose="020F0502020204030204"/>
              </a:rPr>
              <a:t>Database</a:t>
            </a:r>
            <a:endParaRPr lang="en-US" sz="1733" dirty="0">
              <a:solidFill>
                <a:srgbClr val="843C0C"/>
              </a:solidFill>
              <a:latin typeface="Calibri" panose="020F0502020204030204"/>
            </a:endParaRPr>
          </a:p>
        </p:txBody>
      </p:sp>
      <p:sp>
        <p:nvSpPr>
          <p:cNvPr id="16" name="Text 9"/>
          <p:cNvSpPr/>
          <p:nvPr/>
        </p:nvSpPr>
        <p:spPr>
          <a:xfrm>
            <a:off x="5553260" y="3712578"/>
            <a:ext cx="195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333" i="1" dirty="0">
                <a:solidFill>
                  <a:srgbClr val="5A5A5A"/>
                </a:solidFill>
                <a:latin typeface="Calibri" panose="020F0502020204030204"/>
              </a:rPr>
              <a:t>Similarity Search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4940" y="2981058"/>
            <a:ext cx="365760" cy="36576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7991660" y="2005698"/>
            <a:ext cx="1950720" cy="21945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rgbClr val="843C0C"/>
            </a:solidFill>
            <a:prstDash val="solid"/>
          </a:ln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2220" y="2249538"/>
            <a:ext cx="609600" cy="6096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7991660" y="2981058"/>
            <a:ext cx="195072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defTabSz="1219170"/>
            <a:r>
              <a:rPr lang="en-US" sz="1733" b="1" dirty="0">
                <a:solidFill>
                  <a:srgbClr val="843C0C"/>
                </a:solidFill>
                <a:latin typeface="Calibri" panose="020F0502020204030204"/>
              </a:rPr>
              <a:t>Retrieved</a:t>
            </a:r>
            <a:endParaRPr lang="en-US" sz="1733" dirty="0">
              <a:solidFill>
                <a:srgbClr val="843C0C"/>
              </a:solidFill>
              <a:latin typeface="Calibri" panose="020F0502020204030204"/>
            </a:endParaRPr>
          </a:p>
          <a:p>
            <a:pPr algn="ctr" defTabSz="1219170"/>
            <a:r>
              <a:rPr lang="en-US" sz="1733" b="1" dirty="0">
                <a:solidFill>
                  <a:srgbClr val="843C0C"/>
                </a:solidFill>
                <a:latin typeface="Calibri" panose="020F0502020204030204"/>
              </a:rPr>
              <a:t>Context</a:t>
            </a:r>
            <a:endParaRPr lang="en-US" sz="1733" dirty="0">
              <a:solidFill>
                <a:srgbClr val="843C0C"/>
              </a:solidFill>
              <a:latin typeface="Calibri" panose="020F0502020204030204"/>
            </a:endParaRPr>
          </a:p>
        </p:txBody>
      </p:sp>
      <p:sp>
        <p:nvSpPr>
          <p:cNvPr id="21" name="Text 12"/>
          <p:cNvSpPr/>
          <p:nvPr/>
        </p:nvSpPr>
        <p:spPr>
          <a:xfrm>
            <a:off x="7991660" y="3712578"/>
            <a:ext cx="195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333" i="1" dirty="0">
                <a:solidFill>
                  <a:srgbClr val="5A5A5A"/>
                </a:solidFill>
                <a:latin typeface="Calibri" panose="020F0502020204030204"/>
              </a:rPr>
              <a:t>Top-K Results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3340" y="2981058"/>
            <a:ext cx="365760" cy="365760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10430060" y="2005698"/>
            <a:ext cx="1463040" cy="21945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rgbClr val="843C0C"/>
            </a:solidFill>
            <a:prstDash val="solid"/>
          </a:ln>
        </p:spPr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56780" y="2249538"/>
            <a:ext cx="609600" cy="60960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10430060" y="2981058"/>
            <a:ext cx="146304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defTabSz="1219170"/>
            <a:r>
              <a:rPr lang="en-US" sz="1733" b="1" dirty="0">
                <a:solidFill>
                  <a:srgbClr val="843C0C"/>
                </a:solidFill>
                <a:latin typeface="Calibri" panose="020F0502020204030204"/>
              </a:rPr>
              <a:t>LLM</a:t>
            </a:r>
            <a:endParaRPr lang="en-US" sz="1733" dirty="0">
              <a:solidFill>
                <a:srgbClr val="843C0C"/>
              </a:solidFill>
              <a:latin typeface="Calibri" panose="020F0502020204030204"/>
            </a:endParaRPr>
          </a:p>
        </p:txBody>
      </p:sp>
      <p:sp>
        <p:nvSpPr>
          <p:cNvPr id="26" name="Text 15"/>
          <p:cNvSpPr/>
          <p:nvPr/>
        </p:nvSpPr>
        <p:spPr>
          <a:xfrm>
            <a:off x="10430060" y="371257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333" i="1" dirty="0">
                <a:solidFill>
                  <a:srgbClr val="5A5A5A"/>
                </a:solidFill>
                <a:latin typeface="Calibri" panose="020F0502020204030204"/>
              </a:rPr>
              <a:t>Generation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16"/>
          <p:cNvSpPr/>
          <p:nvPr/>
        </p:nvSpPr>
        <p:spPr>
          <a:xfrm>
            <a:off x="432620" y="4566018"/>
            <a:ext cx="57912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843C0C"/>
            </a:solidFill>
            <a:prstDash val="solid"/>
          </a:ln>
        </p:spPr>
      </p:sp>
      <p:sp>
        <p:nvSpPr>
          <p:cNvPr id="28" name="Text 17"/>
          <p:cNvSpPr/>
          <p:nvPr/>
        </p:nvSpPr>
        <p:spPr>
          <a:xfrm>
            <a:off x="676460" y="4809858"/>
            <a:ext cx="1048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843C0C"/>
                </a:solidFill>
                <a:latin typeface="Calibri" panose="020F0502020204030204"/>
              </a:rPr>
              <a:t>Indexed Knowledge Base</a:t>
            </a:r>
            <a:endParaRPr lang="en-US" sz="2133" dirty="0">
              <a:solidFill>
                <a:srgbClr val="843C0C"/>
              </a:solidFill>
              <a:latin typeface="Calibri" panose="020F0502020204030204"/>
            </a:endParaRPr>
          </a:p>
        </p:txBody>
      </p:sp>
      <p:sp>
        <p:nvSpPr>
          <p:cNvPr id="29" name="Text 18"/>
          <p:cNvSpPr/>
          <p:nvPr/>
        </p:nvSpPr>
        <p:spPr>
          <a:xfrm>
            <a:off x="676460" y="5220764"/>
            <a:ext cx="99974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dirty="0">
                <a:solidFill>
                  <a:srgbClr val="1A1A1A"/>
                </a:solidFill>
                <a:latin typeface="Calibri" panose="020F0502020204030204"/>
              </a:rPr>
              <a:t>• Documents (PDFs, Word, Web pages)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00" dirty="0">
                <a:solidFill>
                  <a:srgbClr val="1A1A1A"/>
                </a:solidFill>
                <a:latin typeface="Calibri" panose="020F0502020204030204"/>
              </a:rPr>
              <a:t>• Images (Product catalogs, Medical scans, Diagrams)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00" dirty="0">
                <a:solidFill>
                  <a:srgbClr val="1A1A1A"/>
                </a:solidFill>
                <a:latin typeface="Calibri" panose="020F0502020204030204"/>
              </a:rPr>
              <a:t>• Audio/Video (Transcripts, Podcasts, Training videos)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501444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432620" y="735083"/>
            <a:ext cx="7472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MULTIMODAL RAG ARCHITECTURE</a:t>
            </a:r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9418392" y="29578"/>
            <a:ext cx="2604546" cy="642552"/>
            <a:chOff x="8503992" y="95295"/>
            <a:chExt cx="3439354" cy="800395"/>
          </a:xfrm>
        </p:grpSpPr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35" name="object 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126186" y="127929"/>
              <a:ext cx="817160" cy="7677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431165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/>
          <p:cNvGrpSpPr/>
          <p:nvPr/>
        </p:nvGrpSpPr>
        <p:grpSpPr>
          <a:xfrm>
            <a:off x="479815" y="1712493"/>
            <a:ext cx="11033760" cy="4943945"/>
            <a:chOff x="548640" y="1633835"/>
            <a:chExt cx="11033760" cy="4943945"/>
          </a:xfrm>
        </p:grpSpPr>
        <p:sp>
          <p:nvSpPr>
            <p:cNvPr id="3" name="Shape 1"/>
            <p:cNvSpPr/>
            <p:nvPr/>
          </p:nvSpPr>
          <p:spPr>
            <a:xfrm>
              <a:off x="548640" y="1633835"/>
              <a:ext cx="5486400" cy="494394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853440" y="1706880"/>
              <a:ext cx="499872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2400" b="1" dirty="0">
                  <a:solidFill>
                    <a:srgbClr val="843C0C"/>
                  </a:solidFill>
                  <a:latin typeface="Calibri" panose="020F0502020204030204"/>
                </a:rPr>
                <a:t>Ingestion Pipeline</a:t>
              </a:r>
              <a:endParaRPr lang="en-US" sz="2400" dirty="0">
                <a:solidFill>
                  <a:srgbClr val="843C0C"/>
                </a:solidFill>
                <a:latin typeface="Calibri" panose="020F0502020204030204"/>
              </a:endParaRPr>
            </a:p>
          </p:txBody>
        </p:sp>
        <p:sp>
          <p:nvSpPr>
            <p:cNvPr id="5" name="Text 3"/>
            <p:cNvSpPr/>
            <p:nvPr/>
          </p:nvSpPr>
          <p:spPr>
            <a:xfrm>
              <a:off x="1097280" y="2438400"/>
              <a:ext cx="219456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600" b="1" dirty="0">
                  <a:solidFill>
                    <a:srgbClr val="843C0C"/>
                  </a:solidFill>
                  <a:latin typeface="Calibri" panose="020F0502020204030204"/>
                </a:rPr>
                <a:t>1. Data Collection</a:t>
              </a:r>
              <a:endParaRPr lang="en-US" sz="1600" dirty="0">
                <a:solidFill>
                  <a:srgbClr val="843C0C"/>
                </a:solidFill>
                <a:latin typeface="Calibri" panose="020F0502020204030204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1097280" y="2743200"/>
              <a:ext cx="463296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333" dirty="0">
                  <a:solidFill>
                    <a:srgbClr val="5A5A5A"/>
                  </a:solidFill>
                  <a:latin typeface="Calibri" panose="020F0502020204030204"/>
                </a:rPr>
                <a:t>Crawl, upload, stream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1097280" y="3169920"/>
              <a:ext cx="219456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600" b="1" dirty="0">
                  <a:solidFill>
                    <a:srgbClr val="843C0C"/>
                  </a:solidFill>
                  <a:latin typeface="Calibri" panose="020F0502020204030204"/>
                </a:rPr>
                <a:t>2. Preprocessing</a:t>
              </a:r>
              <a:endParaRPr lang="en-US" sz="1600" dirty="0">
                <a:solidFill>
                  <a:srgbClr val="843C0C"/>
                </a:solidFill>
                <a:latin typeface="Calibri" panose="020F0502020204030204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1097280" y="3474720"/>
              <a:ext cx="463296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333" dirty="0">
                  <a:solidFill>
                    <a:srgbClr val="5A5A5A"/>
                  </a:solidFill>
                  <a:latin typeface="Calibri" panose="020F0502020204030204"/>
                </a:rPr>
                <a:t>OCR, transcription, cleanup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1097280" y="3901440"/>
              <a:ext cx="219456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600" b="1" dirty="0">
                  <a:solidFill>
                    <a:srgbClr val="843C0C"/>
                  </a:solidFill>
                  <a:latin typeface="Calibri" panose="020F0502020204030204"/>
                </a:rPr>
                <a:t>3. Chunking</a:t>
              </a:r>
              <a:endParaRPr lang="en-US" sz="1600" dirty="0">
                <a:solidFill>
                  <a:srgbClr val="843C0C"/>
                </a:solidFill>
                <a:latin typeface="Calibri" panose="020F0502020204030204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1097280" y="4206240"/>
              <a:ext cx="463296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333" dirty="0">
                  <a:solidFill>
                    <a:srgbClr val="5A5A5A"/>
                  </a:solidFill>
                  <a:latin typeface="Calibri" panose="020F0502020204030204"/>
                </a:rPr>
                <a:t>Split into semantic units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1097280" y="4632960"/>
              <a:ext cx="219456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600" b="1" dirty="0">
                  <a:solidFill>
                    <a:srgbClr val="843C0C"/>
                  </a:solidFill>
                  <a:latin typeface="Calibri" panose="020F0502020204030204"/>
                </a:rPr>
                <a:t>4. Embedding</a:t>
              </a:r>
              <a:endParaRPr lang="en-US" sz="1600" dirty="0">
                <a:solidFill>
                  <a:srgbClr val="843C0C"/>
                </a:solidFill>
                <a:latin typeface="Calibri" panose="020F0502020204030204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1097280" y="4937760"/>
              <a:ext cx="463296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333" dirty="0">
                  <a:solidFill>
                    <a:srgbClr val="5A5A5A"/>
                  </a:solidFill>
                  <a:latin typeface="Calibri" panose="020F0502020204030204"/>
                </a:rPr>
                <a:t>Convert to vectors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1097280" y="5364480"/>
              <a:ext cx="219456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600" b="1" dirty="0">
                  <a:solidFill>
                    <a:srgbClr val="843C0C"/>
                  </a:solidFill>
                  <a:latin typeface="Calibri" panose="020F0502020204030204"/>
                </a:rPr>
                <a:t>5. Indexing</a:t>
              </a:r>
              <a:endParaRPr lang="en-US" sz="1600" dirty="0">
                <a:solidFill>
                  <a:srgbClr val="843C0C"/>
                </a:solidFill>
                <a:latin typeface="Calibri" panose="020F0502020204030204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1097280" y="5669280"/>
              <a:ext cx="463296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333" dirty="0">
                  <a:solidFill>
                    <a:srgbClr val="5A5A5A"/>
                  </a:solidFill>
                  <a:latin typeface="Calibri" panose="020F0502020204030204"/>
                </a:rPr>
                <a:t>Store in vector DB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6339840" y="1633835"/>
              <a:ext cx="5242560" cy="4943945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843C0C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6583680" y="1706880"/>
              <a:ext cx="475488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2400" b="1" dirty="0">
                  <a:solidFill>
                    <a:srgbClr val="843C0C"/>
                  </a:solidFill>
                  <a:latin typeface="Calibri" panose="020F0502020204030204"/>
                </a:rPr>
                <a:t>Query Pipeline</a:t>
              </a:r>
              <a:endParaRPr lang="en-US" sz="2400" dirty="0">
                <a:solidFill>
                  <a:srgbClr val="843C0C"/>
                </a:solidFill>
                <a:latin typeface="Calibri" panose="020F0502020204030204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6827520" y="2438400"/>
              <a:ext cx="219456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600" b="1" dirty="0">
                  <a:solidFill>
                    <a:srgbClr val="843C0C"/>
                  </a:solidFill>
                  <a:latin typeface="Calibri" panose="020F0502020204030204"/>
                </a:rPr>
                <a:t>1. Query Processing</a:t>
              </a:r>
              <a:endParaRPr lang="en-US" sz="1600" dirty="0">
                <a:solidFill>
                  <a:srgbClr val="843C0C"/>
                </a:solidFill>
                <a:latin typeface="Calibri" panose="020F0502020204030204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6827520" y="2743200"/>
              <a:ext cx="438912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333" dirty="0">
                  <a:solidFill>
                    <a:srgbClr val="5A5A5A"/>
                  </a:solidFill>
                  <a:latin typeface="Calibri" panose="020F0502020204030204"/>
                </a:rPr>
                <a:t>Parse and normalize input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6827520" y="3108960"/>
              <a:ext cx="219456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600" b="1" dirty="0">
                  <a:solidFill>
                    <a:srgbClr val="843C0C"/>
                  </a:solidFill>
                  <a:latin typeface="Calibri" panose="020F0502020204030204"/>
                </a:rPr>
                <a:t>2. Embedding</a:t>
              </a:r>
              <a:endParaRPr lang="en-US" sz="1600" dirty="0">
                <a:solidFill>
                  <a:srgbClr val="843C0C"/>
                </a:solidFill>
                <a:latin typeface="Calibri" panose="020F0502020204030204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6827520" y="3413760"/>
              <a:ext cx="438912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333" dirty="0">
                  <a:solidFill>
                    <a:srgbClr val="5A5A5A"/>
                  </a:solidFill>
                  <a:latin typeface="Calibri" panose="020F0502020204030204"/>
                </a:rPr>
                <a:t>Encode query to vector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6827520" y="3779520"/>
              <a:ext cx="219456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600" b="1" dirty="0">
                  <a:solidFill>
                    <a:srgbClr val="843C0C"/>
                  </a:solidFill>
                  <a:latin typeface="Calibri" panose="020F0502020204030204"/>
                </a:rPr>
                <a:t>3. Similarity Search</a:t>
              </a:r>
              <a:endParaRPr lang="en-US" sz="1600" dirty="0">
                <a:solidFill>
                  <a:srgbClr val="843C0C"/>
                </a:solidFill>
                <a:latin typeface="Calibri" panose="020F0502020204030204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6827520" y="4084320"/>
              <a:ext cx="438912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333" dirty="0">
                  <a:solidFill>
                    <a:srgbClr val="5A5A5A"/>
                  </a:solidFill>
                  <a:latin typeface="Calibri" panose="020F0502020204030204"/>
                </a:rPr>
                <a:t>Find top-K matches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6827520" y="4450080"/>
              <a:ext cx="219456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600" b="1" dirty="0">
                  <a:solidFill>
                    <a:srgbClr val="843C0C"/>
                  </a:solidFill>
                  <a:latin typeface="Calibri" panose="020F0502020204030204"/>
                </a:rPr>
                <a:t>4. Reranking</a:t>
              </a:r>
              <a:endParaRPr lang="en-US" sz="1600" dirty="0">
                <a:solidFill>
                  <a:srgbClr val="843C0C"/>
                </a:solidFill>
                <a:latin typeface="Calibri" panose="020F0502020204030204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6827520" y="4754880"/>
              <a:ext cx="438912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333" dirty="0">
                  <a:solidFill>
                    <a:srgbClr val="5A5A5A"/>
                  </a:solidFill>
                  <a:latin typeface="Calibri" panose="020F0502020204030204"/>
                </a:rPr>
                <a:t>Score and filter results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6827520" y="5120640"/>
              <a:ext cx="219456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600" b="1" dirty="0">
                  <a:solidFill>
                    <a:srgbClr val="843C0C"/>
                  </a:solidFill>
                  <a:latin typeface="Calibri" panose="020F0502020204030204"/>
                </a:rPr>
                <a:t>5. Context Assembly</a:t>
              </a:r>
              <a:endParaRPr lang="en-US" sz="1600" dirty="0">
                <a:solidFill>
                  <a:srgbClr val="843C0C"/>
                </a:solidFill>
                <a:latin typeface="Calibri" panose="020F0502020204030204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6827520" y="5425440"/>
              <a:ext cx="438912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333" dirty="0">
                  <a:solidFill>
                    <a:srgbClr val="5A5A5A"/>
                  </a:solidFill>
                  <a:latin typeface="Calibri" panose="020F0502020204030204"/>
                </a:rPr>
                <a:t>Format for LLM prompt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6827520" y="5791200"/>
              <a:ext cx="219456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600" b="1" dirty="0">
                  <a:solidFill>
                    <a:srgbClr val="843C0C"/>
                  </a:solidFill>
                  <a:latin typeface="Calibri" panose="020F0502020204030204"/>
                </a:rPr>
                <a:t>6. Generation</a:t>
              </a:r>
              <a:endParaRPr lang="en-US" sz="1600" dirty="0">
                <a:solidFill>
                  <a:srgbClr val="843C0C"/>
                </a:solidFill>
                <a:latin typeface="Calibri" panose="020F0502020204030204"/>
              </a:endParaRPr>
            </a:p>
          </p:txBody>
        </p:sp>
        <p:sp>
          <p:nvSpPr>
            <p:cNvPr id="28" name="Text 26"/>
            <p:cNvSpPr/>
            <p:nvPr/>
          </p:nvSpPr>
          <p:spPr>
            <a:xfrm>
              <a:off x="6827520" y="6096000"/>
              <a:ext cx="438912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1219170"/>
              <a:r>
                <a:rPr lang="en-US" sz="1333" dirty="0">
                  <a:solidFill>
                    <a:srgbClr val="5A5A5A"/>
                  </a:solidFill>
                  <a:latin typeface="Calibri" panose="020F0502020204030204"/>
                </a:rPr>
                <a:t>LLM produces response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6" name="Text 0"/>
          <p:cNvSpPr/>
          <p:nvPr/>
        </p:nvSpPr>
        <p:spPr>
          <a:xfrm>
            <a:off x="609600" y="487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5333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Multimodal RAG?</a:t>
            </a:r>
            <a:endParaRPr lang="en-US" sz="5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0" y="467073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432620" y="700712"/>
            <a:ext cx="7472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DETAILED RAG SYSTEM ARCHITECTURE</a:t>
            </a:r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9418392" y="-4793"/>
            <a:ext cx="2604546" cy="642552"/>
            <a:chOff x="8503992" y="95295"/>
            <a:chExt cx="3439354" cy="800395"/>
          </a:xfrm>
        </p:grpSpPr>
        <p:pic>
          <p:nvPicPr>
            <p:cNvPr id="40" name="Picture 3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41" name="Picture 4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42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26186" y="127929"/>
              <a:ext cx="817160" cy="7677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53191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609600" y="2237822"/>
            <a:ext cx="10972800" cy="3535680"/>
            <a:chOff x="609600" y="1706880"/>
            <a:chExt cx="10972800" cy="353568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3" name="Shape 1"/>
            <p:cNvSpPr/>
            <p:nvPr/>
          </p:nvSpPr>
          <p:spPr>
            <a:xfrm>
              <a:off x="609600" y="1706880"/>
              <a:ext cx="1828800" cy="853440"/>
            </a:xfrm>
            <a:prstGeom prst="rect">
              <a:avLst/>
            </a:prstGeom>
            <a:grpFill/>
            <a:ln/>
          </p:spPr>
        </p:sp>
        <p:sp>
          <p:nvSpPr>
            <p:cNvPr id="4" name="Text 2"/>
            <p:cNvSpPr/>
            <p:nvPr/>
          </p:nvSpPr>
          <p:spPr>
            <a:xfrm>
              <a:off x="609600" y="1706880"/>
              <a:ext cx="1828800" cy="853440"/>
            </a:xfrm>
            <a:prstGeom prst="rect">
              <a:avLst/>
            </a:prstGeom>
            <a:grpFill/>
            <a:ln>
              <a:solidFill>
                <a:srgbClr val="843C0C"/>
              </a:solidFill>
            </a:ln>
          </p:spPr>
          <p:txBody>
            <a:bodyPr wrap="square" rtlCol="0" anchor="ctr"/>
            <a:lstStyle/>
            <a:p>
              <a:pPr algn="ctr" defTabSz="1219170"/>
              <a:r>
                <a:rPr lang="en-US" sz="1467" dirty="0">
                  <a:solidFill>
                    <a:srgbClr val="843C0C"/>
                  </a:solidFill>
                  <a:latin typeface="Calibri" panose="020F0502020204030204"/>
                </a:rPr>
                <a:t>Documents</a:t>
              </a:r>
            </a:p>
            <a:p>
              <a:pPr algn="ctr" defTabSz="1219170"/>
              <a:r>
                <a:rPr lang="en-US" sz="1467" dirty="0">
                  <a:solidFill>
                    <a:srgbClr val="843C0C"/>
                  </a:solidFill>
                  <a:latin typeface="Calibri" panose="020F0502020204030204"/>
                </a:rPr>
                <a:t>Articles</a:t>
              </a:r>
            </a:p>
          </p:txBody>
        </p:sp>
        <p:sp>
          <p:nvSpPr>
            <p:cNvPr id="5" name="Shape 3"/>
            <p:cNvSpPr/>
            <p:nvPr/>
          </p:nvSpPr>
          <p:spPr>
            <a:xfrm>
              <a:off x="2560320" y="2133600"/>
              <a:ext cx="487680" cy="0"/>
            </a:xfrm>
            <a:prstGeom prst="line">
              <a:avLst/>
            </a:prstGeom>
            <a:grpFill/>
            <a:ln w="25400">
              <a:solidFill>
                <a:srgbClr val="00A896"/>
              </a:solidFill>
              <a:prstDash val="solid"/>
              <a:tailEnd type="triangle"/>
            </a:ln>
          </p:spPr>
        </p:sp>
        <p:sp>
          <p:nvSpPr>
            <p:cNvPr id="6" name="Shape 4"/>
            <p:cNvSpPr/>
            <p:nvPr/>
          </p:nvSpPr>
          <p:spPr>
            <a:xfrm>
              <a:off x="3169920" y="1706880"/>
              <a:ext cx="1950720" cy="853440"/>
            </a:xfrm>
            <a:prstGeom prst="rect">
              <a:avLst/>
            </a:prstGeom>
            <a:grpFill/>
            <a:ln/>
          </p:spPr>
        </p:sp>
        <p:sp>
          <p:nvSpPr>
            <p:cNvPr id="7" name="Text 5"/>
            <p:cNvSpPr/>
            <p:nvPr/>
          </p:nvSpPr>
          <p:spPr>
            <a:xfrm>
              <a:off x="3169920" y="1706880"/>
              <a:ext cx="1950720" cy="85344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1333" b="1" dirty="0">
                  <a:solidFill>
                    <a:srgbClr val="843C0C"/>
                  </a:solidFill>
                  <a:latin typeface="Calibri" panose="020F0502020204030204"/>
                </a:rPr>
                <a:t>Text</a:t>
              </a:r>
              <a:endParaRPr lang="en-US" sz="1333" dirty="0">
                <a:solidFill>
                  <a:srgbClr val="843C0C"/>
                </a:solidFill>
                <a:latin typeface="Calibri" panose="020F0502020204030204"/>
              </a:endParaRPr>
            </a:p>
            <a:p>
              <a:pPr algn="ctr" defTabSz="1219170"/>
              <a:r>
                <a:rPr lang="en-US" sz="1333" b="1" dirty="0">
                  <a:solidFill>
                    <a:srgbClr val="843C0C"/>
                  </a:solidFill>
                  <a:latin typeface="Calibri" panose="020F0502020204030204"/>
                </a:rPr>
                <a:t>Encoder</a:t>
              </a:r>
              <a:endParaRPr lang="en-US" sz="1333" dirty="0">
                <a:solidFill>
                  <a:srgbClr val="843C0C"/>
                </a:solidFill>
                <a:latin typeface="Calibri" panose="020F0502020204030204"/>
              </a:endParaRPr>
            </a:p>
            <a:p>
              <a:pPr algn="ctr" defTabSz="1219170"/>
              <a:r>
                <a:rPr lang="en-US" sz="1333" b="1" dirty="0">
                  <a:solidFill>
                    <a:srgbClr val="843C0C"/>
                  </a:solidFill>
                  <a:latin typeface="Calibri" panose="020F0502020204030204"/>
                </a:rPr>
                <a:t>(BERT/GPT)</a:t>
              </a:r>
              <a:endParaRPr lang="en-US" sz="1333" dirty="0">
                <a:solidFill>
                  <a:srgbClr val="843C0C"/>
                </a:solidFill>
                <a:latin typeface="Calibri" panose="020F0502020204030204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5242560" y="2133600"/>
              <a:ext cx="487680" cy="0"/>
            </a:xfrm>
            <a:prstGeom prst="line">
              <a:avLst/>
            </a:prstGeom>
            <a:grpFill/>
            <a:ln w="25400">
              <a:solidFill>
                <a:srgbClr val="00A896"/>
              </a:solidFill>
              <a:prstDash val="solid"/>
              <a:tailEnd type="triangle"/>
            </a:ln>
          </p:spPr>
        </p:sp>
        <p:sp>
          <p:nvSpPr>
            <p:cNvPr id="9" name="Shape 7"/>
            <p:cNvSpPr/>
            <p:nvPr/>
          </p:nvSpPr>
          <p:spPr>
            <a:xfrm>
              <a:off x="609600" y="3048000"/>
              <a:ext cx="1828800" cy="853440"/>
            </a:xfrm>
            <a:prstGeom prst="rect">
              <a:avLst/>
            </a:prstGeom>
            <a:grpFill/>
            <a:ln/>
          </p:spPr>
        </p:sp>
        <p:sp>
          <p:nvSpPr>
            <p:cNvPr id="10" name="Text 8"/>
            <p:cNvSpPr/>
            <p:nvPr/>
          </p:nvSpPr>
          <p:spPr>
            <a:xfrm>
              <a:off x="609600" y="3048000"/>
              <a:ext cx="1828800" cy="853440"/>
            </a:xfrm>
            <a:prstGeom prst="rect">
              <a:avLst/>
            </a:prstGeom>
            <a:grpFill/>
            <a:ln>
              <a:solidFill>
                <a:srgbClr val="843C0C"/>
              </a:solidFill>
            </a:ln>
          </p:spPr>
          <p:txBody>
            <a:bodyPr wrap="square" rtlCol="0" anchor="ctr"/>
            <a:lstStyle/>
            <a:p>
              <a:pPr algn="ctr" defTabSz="1219170"/>
              <a:r>
                <a:rPr lang="en-US" sz="1467" dirty="0">
                  <a:solidFill>
                    <a:srgbClr val="1A1A1A"/>
                  </a:solidFill>
                  <a:latin typeface="Calibri" panose="020F0502020204030204"/>
                </a:rPr>
                <a:t>Photos</a:t>
              </a:r>
              <a:endParaRPr lang="en-US" sz="1467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algn="ctr" defTabSz="1219170"/>
              <a:r>
                <a:rPr lang="en-US" sz="1467" dirty="0">
                  <a:solidFill>
                    <a:srgbClr val="1A1A1A"/>
                  </a:solidFill>
                  <a:latin typeface="Calibri" panose="020F0502020204030204"/>
                </a:rPr>
                <a:t>Diagrams</a:t>
              </a:r>
              <a:endParaRPr lang="en-US" sz="1467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2560320" y="3474720"/>
              <a:ext cx="487680" cy="0"/>
            </a:xfrm>
            <a:prstGeom prst="line">
              <a:avLst/>
            </a:prstGeom>
            <a:grpFill/>
            <a:ln w="25400">
              <a:solidFill>
                <a:srgbClr val="00A896"/>
              </a:solidFill>
              <a:prstDash val="solid"/>
              <a:tailEnd type="triangle"/>
            </a:ln>
          </p:spPr>
        </p:sp>
        <p:sp>
          <p:nvSpPr>
            <p:cNvPr id="12" name="Shape 10"/>
            <p:cNvSpPr/>
            <p:nvPr/>
          </p:nvSpPr>
          <p:spPr>
            <a:xfrm>
              <a:off x="3169920" y="3048000"/>
              <a:ext cx="1950720" cy="853440"/>
            </a:xfrm>
            <a:prstGeom prst="rect">
              <a:avLst/>
            </a:prstGeom>
            <a:grpFill/>
            <a:ln/>
          </p:spPr>
        </p:sp>
        <p:sp>
          <p:nvSpPr>
            <p:cNvPr id="13" name="Text 11"/>
            <p:cNvSpPr/>
            <p:nvPr/>
          </p:nvSpPr>
          <p:spPr>
            <a:xfrm>
              <a:off x="3169920" y="3048000"/>
              <a:ext cx="1950720" cy="85344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1333" b="1" dirty="0">
                  <a:solidFill>
                    <a:srgbClr val="843C0C"/>
                  </a:solidFill>
                  <a:latin typeface="Calibri" panose="020F0502020204030204"/>
                </a:rPr>
                <a:t>Vision</a:t>
              </a:r>
              <a:endParaRPr lang="en-US" sz="1333" dirty="0">
                <a:solidFill>
                  <a:srgbClr val="843C0C"/>
                </a:solidFill>
                <a:latin typeface="Calibri" panose="020F0502020204030204"/>
              </a:endParaRPr>
            </a:p>
            <a:p>
              <a:pPr algn="ctr" defTabSz="1219170"/>
              <a:r>
                <a:rPr lang="en-US" sz="1333" b="1" dirty="0">
                  <a:solidFill>
                    <a:srgbClr val="843C0C"/>
                  </a:solidFill>
                  <a:latin typeface="Calibri" panose="020F0502020204030204"/>
                </a:rPr>
                <a:t>Encoder</a:t>
              </a:r>
              <a:endParaRPr lang="en-US" sz="1333" dirty="0">
                <a:solidFill>
                  <a:srgbClr val="843C0C"/>
                </a:solidFill>
                <a:latin typeface="Calibri" panose="020F0502020204030204"/>
              </a:endParaRPr>
            </a:p>
            <a:p>
              <a:pPr algn="ctr" defTabSz="1219170"/>
              <a:r>
                <a:rPr lang="en-US" sz="1333" b="1" dirty="0">
                  <a:solidFill>
                    <a:srgbClr val="843C0C"/>
                  </a:solidFill>
                  <a:latin typeface="Calibri" panose="020F0502020204030204"/>
                </a:rPr>
                <a:t>(ViT/ResNet)</a:t>
              </a:r>
              <a:endParaRPr lang="en-US" sz="1333" dirty="0">
                <a:solidFill>
                  <a:srgbClr val="843C0C"/>
                </a:solidFill>
                <a:latin typeface="Calibri" panose="020F0502020204030204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5242560" y="3474720"/>
              <a:ext cx="487680" cy="0"/>
            </a:xfrm>
            <a:prstGeom prst="line">
              <a:avLst/>
            </a:prstGeom>
            <a:grpFill/>
            <a:ln w="25400">
              <a:solidFill>
                <a:srgbClr val="00A896"/>
              </a:solidFill>
              <a:prstDash val="solid"/>
              <a:tailEnd type="triangle"/>
            </a:ln>
          </p:spPr>
        </p:sp>
        <p:sp>
          <p:nvSpPr>
            <p:cNvPr id="15" name="Shape 13"/>
            <p:cNvSpPr/>
            <p:nvPr/>
          </p:nvSpPr>
          <p:spPr>
            <a:xfrm>
              <a:off x="609600" y="4389120"/>
              <a:ext cx="1828800" cy="853440"/>
            </a:xfrm>
            <a:prstGeom prst="rect">
              <a:avLst/>
            </a:prstGeom>
            <a:grpFill/>
            <a:ln/>
          </p:spPr>
        </p:sp>
        <p:sp>
          <p:nvSpPr>
            <p:cNvPr id="16" name="Text 14"/>
            <p:cNvSpPr/>
            <p:nvPr/>
          </p:nvSpPr>
          <p:spPr>
            <a:xfrm>
              <a:off x="609600" y="4389120"/>
              <a:ext cx="1828800" cy="853440"/>
            </a:xfrm>
            <a:prstGeom prst="rect">
              <a:avLst/>
            </a:prstGeom>
            <a:grpFill/>
            <a:ln>
              <a:solidFill>
                <a:srgbClr val="843C0C"/>
              </a:solidFill>
            </a:ln>
          </p:spPr>
          <p:txBody>
            <a:bodyPr wrap="square" rtlCol="0" anchor="ctr"/>
            <a:lstStyle/>
            <a:p>
              <a:pPr algn="ctr" defTabSz="1219170"/>
              <a:r>
                <a:rPr lang="en-US" sz="1467" dirty="0">
                  <a:solidFill>
                    <a:srgbClr val="1A1A1A"/>
                  </a:solidFill>
                  <a:latin typeface="Calibri" panose="020F0502020204030204"/>
                </a:rPr>
                <a:t>Speech</a:t>
              </a:r>
              <a:endParaRPr lang="en-US" sz="1467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algn="ctr" defTabSz="1219170"/>
              <a:r>
                <a:rPr lang="en-US" sz="1467" dirty="0">
                  <a:solidFill>
                    <a:srgbClr val="1A1A1A"/>
                  </a:solidFill>
                  <a:latin typeface="Calibri" panose="020F0502020204030204"/>
                </a:rPr>
                <a:t>Music</a:t>
              </a:r>
              <a:endParaRPr lang="en-US" sz="1467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2560320" y="4815840"/>
              <a:ext cx="487680" cy="0"/>
            </a:xfrm>
            <a:prstGeom prst="line">
              <a:avLst/>
            </a:prstGeom>
            <a:grpFill/>
            <a:ln w="25400">
              <a:solidFill>
                <a:srgbClr val="00A896"/>
              </a:solidFill>
              <a:prstDash val="solid"/>
              <a:tailEnd type="triangle"/>
            </a:ln>
          </p:spPr>
        </p:sp>
        <p:sp>
          <p:nvSpPr>
            <p:cNvPr id="18" name="Shape 16"/>
            <p:cNvSpPr/>
            <p:nvPr/>
          </p:nvSpPr>
          <p:spPr>
            <a:xfrm>
              <a:off x="3169920" y="4389120"/>
              <a:ext cx="1950720" cy="853440"/>
            </a:xfrm>
            <a:prstGeom prst="rect">
              <a:avLst/>
            </a:prstGeom>
            <a:grpFill/>
            <a:ln/>
          </p:spPr>
        </p:sp>
        <p:sp>
          <p:nvSpPr>
            <p:cNvPr id="19" name="Text 17"/>
            <p:cNvSpPr/>
            <p:nvPr/>
          </p:nvSpPr>
          <p:spPr>
            <a:xfrm>
              <a:off x="3169920" y="4389120"/>
              <a:ext cx="1950720" cy="85344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1333" b="1" dirty="0">
                  <a:solidFill>
                    <a:srgbClr val="843C0C"/>
                  </a:solidFill>
                  <a:latin typeface="Calibri" panose="020F0502020204030204"/>
                </a:rPr>
                <a:t>Audio</a:t>
              </a:r>
              <a:endParaRPr lang="en-US" sz="1333" dirty="0">
                <a:solidFill>
                  <a:srgbClr val="843C0C"/>
                </a:solidFill>
                <a:latin typeface="Calibri" panose="020F0502020204030204"/>
              </a:endParaRPr>
            </a:p>
            <a:p>
              <a:pPr algn="ctr" defTabSz="1219170"/>
              <a:r>
                <a:rPr lang="en-US" sz="1333" b="1" dirty="0">
                  <a:solidFill>
                    <a:srgbClr val="843C0C"/>
                  </a:solidFill>
                  <a:latin typeface="Calibri" panose="020F0502020204030204"/>
                </a:rPr>
                <a:t>Encoder</a:t>
              </a:r>
              <a:endParaRPr lang="en-US" sz="1333" dirty="0">
                <a:solidFill>
                  <a:srgbClr val="843C0C"/>
                </a:solidFill>
                <a:latin typeface="Calibri" panose="020F0502020204030204"/>
              </a:endParaRPr>
            </a:p>
            <a:p>
              <a:pPr algn="ctr" defTabSz="1219170"/>
              <a:r>
                <a:rPr lang="en-US" sz="1333" b="1" dirty="0">
                  <a:solidFill>
                    <a:srgbClr val="843C0C"/>
                  </a:solidFill>
                  <a:latin typeface="Calibri" panose="020F0502020204030204"/>
                </a:rPr>
                <a:t>(Whisper)</a:t>
              </a:r>
              <a:endParaRPr lang="en-US" sz="1333" dirty="0">
                <a:solidFill>
                  <a:srgbClr val="843C0C"/>
                </a:solidFill>
                <a:latin typeface="Calibri" panose="020F0502020204030204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5242560" y="4815840"/>
              <a:ext cx="487680" cy="0"/>
            </a:xfrm>
            <a:prstGeom prst="line">
              <a:avLst/>
            </a:prstGeom>
            <a:grpFill/>
            <a:ln w="25400">
              <a:solidFill>
                <a:srgbClr val="00A896"/>
              </a:solidFill>
              <a:prstDash val="solid"/>
              <a:tailEnd type="triangle"/>
            </a:ln>
          </p:spPr>
        </p:sp>
        <p:sp>
          <p:nvSpPr>
            <p:cNvPr id="21" name="Shape 19"/>
            <p:cNvSpPr/>
            <p:nvPr/>
          </p:nvSpPr>
          <p:spPr>
            <a:xfrm>
              <a:off x="5852160" y="1706880"/>
              <a:ext cx="2682240" cy="3535680"/>
            </a:xfrm>
            <a:prstGeom prst="rect">
              <a:avLst/>
            </a:prstGeom>
            <a:grpFill/>
            <a:ln w="38100">
              <a:solidFill>
                <a:srgbClr val="843C0C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852160" y="2438400"/>
              <a:ext cx="2682240" cy="97536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2400" b="1" dirty="0">
                  <a:solidFill>
                    <a:srgbClr val="843C0C"/>
                  </a:solidFill>
                  <a:latin typeface="Calibri" panose="020F0502020204030204"/>
                </a:rPr>
                <a:t>Shared Vector</a:t>
              </a:r>
              <a:endParaRPr lang="en-US" sz="2400" dirty="0">
                <a:solidFill>
                  <a:srgbClr val="843C0C"/>
                </a:solidFill>
                <a:latin typeface="Calibri" panose="020F0502020204030204"/>
              </a:endParaRPr>
            </a:p>
            <a:p>
              <a:pPr algn="ctr" defTabSz="1219170"/>
              <a:r>
                <a:rPr lang="en-US" sz="2400" b="1" dirty="0">
                  <a:solidFill>
                    <a:srgbClr val="843C0C"/>
                  </a:solidFill>
                  <a:latin typeface="Calibri" panose="020F0502020204030204"/>
                </a:rPr>
                <a:t>Space</a:t>
              </a:r>
              <a:endParaRPr lang="en-US" sz="2400" dirty="0">
                <a:solidFill>
                  <a:srgbClr val="843C0C"/>
                </a:solidFill>
                <a:latin typeface="Calibri" panose="020F0502020204030204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5852160" y="3657600"/>
              <a:ext cx="2682240" cy="73152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1600" dirty="0">
                  <a:solidFill>
                    <a:srgbClr val="843C0C"/>
                  </a:solidFill>
                  <a:latin typeface="Calibri" panose="020F0502020204030204"/>
                </a:rPr>
                <a:t>768-dimensional</a:t>
              </a:r>
            </a:p>
            <a:p>
              <a:pPr algn="ctr" defTabSz="1219170"/>
              <a:r>
                <a:rPr lang="en-US" sz="1600" dirty="0">
                  <a:solidFill>
                    <a:srgbClr val="843C0C"/>
                  </a:solidFill>
                  <a:latin typeface="Calibri" panose="020F0502020204030204"/>
                </a:rPr>
                <a:t>embeddings</a:t>
              </a:r>
            </a:p>
          </p:txBody>
        </p:sp>
        <p:sp>
          <p:nvSpPr>
            <p:cNvPr id="24" name="Shape 22"/>
            <p:cNvSpPr/>
            <p:nvPr/>
          </p:nvSpPr>
          <p:spPr>
            <a:xfrm>
              <a:off x="8900160" y="1706880"/>
              <a:ext cx="2682240" cy="3535680"/>
            </a:xfrm>
            <a:prstGeom prst="rect">
              <a:avLst/>
            </a:prstGeom>
            <a:grpFill/>
            <a:ln/>
          </p:spPr>
        </p:sp>
        <p:sp>
          <p:nvSpPr>
            <p:cNvPr id="25" name="Text 23"/>
            <p:cNvSpPr/>
            <p:nvPr/>
          </p:nvSpPr>
          <p:spPr>
            <a:xfrm>
              <a:off x="9144000" y="1950720"/>
              <a:ext cx="2194560" cy="36576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defTabSz="1219170"/>
              <a:r>
                <a:rPr lang="en-US" sz="1867" b="1" dirty="0">
                  <a:solidFill>
                    <a:srgbClr val="843C0C"/>
                  </a:solidFill>
                  <a:latin typeface="Calibri" panose="020F0502020204030204"/>
                </a:rPr>
                <a:t>Benefits</a:t>
              </a:r>
              <a:endParaRPr lang="en-US" sz="1867" dirty="0">
                <a:solidFill>
                  <a:srgbClr val="843C0C"/>
                </a:solidFill>
                <a:latin typeface="Calibri" panose="020F0502020204030204"/>
              </a:endParaRPr>
            </a:p>
          </p:txBody>
        </p:sp>
        <p:pic>
          <p:nvPicPr>
            <p:cNvPr id="26" name="Image 0" descr="preencoded.png"/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144000" y="2560320"/>
              <a:ext cx="304800" cy="304800"/>
            </a:xfrm>
            <a:prstGeom prst="rect">
              <a:avLst/>
            </a:prstGeom>
            <a:grpFill/>
          </p:spPr>
        </p:pic>
        <p:sp>
          <p:nvSpPr>
            <p:cNvPr id="27" name="Text 24"/>
            <p:cNvSpPr/>
            <p:nvPr/>
          </p:nvSpPr>
          <p:spPr>
            <a:xfrm>
              <a:off x="9570720" y="2535936"/>
              <a:ext cx="1828800" cy="36576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defTabSz="1219170"/>
              <a:r>
                <a:rPr lang="en-US" sz="1467" dirty="0">
                  <a:solidFill>
                    <a:srgbClr val="1A1A1A"/>
                  </a:solidFill>
                  <a:latin typeface="Calibri" panose="020F0502020204030204"/>
                </a:rPr>
                <a:t>Cross-modal search</a:t>
              </a:r>
              <a:endParaRPr lang="en-US" sz="1467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28" name="Image 1" descr="preencoded.png"/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144000" y="3169920"/>
              <a:ext cx="304800" cy="304800"/>
            </a:xfrm>
            <a:prstGeom prst="rect">
              <a:avLst/>
            </a:prstGeom>
            <a:grpFill/>
          </p:spPr>
        </p:pic>
        <p:sp>
          <p:nvSpPr>
            <p:cNvPr id="29" name="Text 25"/>
            <p:cNvSpPr/>
            <p:nvPr/>
          </p:nvSpPr>
          <p:spPr>
            <a:xfrm>
              <a:off x="9570720" y="3145536"/>
              <a:ext cx="1828800" cy="36576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defTabSz="1219170"/>
              <a:r>
                <a:rPr lang="en-US" sz="1467" dirty="0">
                  <a:solidFill>
                    <a:srgbClr val="1A1A1A"/>
                  </a:solidFill>
                  <a:latin typeface="Calibri" panose="020F0502020204030204"/>
                </a:rPr>
                <a:t>Unified similarity</a:t>
              </a:r>
              <a:endParaRPr lang="en-US" sz="1467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30" name="Image 2" descr="preencoded.png"/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144000" y="3779520"/>
              <a:ext cx="304800" cy="304800"/>
            </a:xfrm>
            <a:prstGeom prst="rect">
              <a:avLst/>
            </a:prstGeom>
            <a:grpFill/>
          </p:spPr>
        </p:pic>
        <p:sp>
          <p:nvSpPr>
            <p:cNvPr id="31" name="Text 26"/>
            <p:cNvSpPr/>
            <p:nvPr/>
          </p:nvSpPr>
          <p:spPr>
            <a:xfrm>
              <a:off x="9570720" y="3755136"/>
              <a:ext cx="1828800" cy="36576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defTabSz="1219170"/>
              <a:r>
                <a:rPr lang="en-US" sz="1467" dirty="0">
                  <a:solidFill>
                    <a:srgbClr val="1A1A1A"/>
                  </a:solidFill>
                  <a:latin typeface="Calibri" panose="020F0502020204030204"/>
                </a:rPr>
                <a:t>Semantic matching</a:t>
              </a:r>
              <a:endParaRPr lang="en-US" sz="1467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32" name="Image 3" descr="preencoded.png"/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144000" y="4389120"/>
              <a:ext cx="304800" cy="304800"/>
            </a:xfrm>
            <a:prstGeom prst="rect">
              <a:avLst/>
            </a:prstGeom>
            <a:grpFill/>
          </p:spPr>
        </p:pic>
        <p:sp>
          <p:nvSpPr>
            <p:cNvPr id="33" name="Text 27"/>
            <p:cNvSpPr/>
            <p:nvPr/>
          </p:nvSpPr>
          <p:spPr>
            <a:xfrm>
              <a:off x="9570720" y="4364736"/>
              <a:ext cx="1828800" cy="36576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defTabSz="1219170"/>
              <a:r>
                <a:rPr lang="en-US" sz="1467" dirty="0">
                  <a:solidFill>
                    <a:srgbClr val="1A1A1A"/>
                  </a:solidFill>
                  <a:latin typeface="Calibri" panose="020F0502020204030204"/>
                </a:rPr>
                <a:t>Scalable indexing</a:t>
              </a:r>
              <a:endParaRPr lang="en-US" sz="1467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4" name="Text 0"/>
          <p:cNvSpPr/>
          <p:nvPr/>
        </p:nvSpPr>
        <p:spPr>
          <a:xfrm>
            <a:off x="609600" y="487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5333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Multimodal RAG?</a:t>
            </a:r>
            <a:endParaRPr lang="en-US" sz="5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0" y="467073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432620" y="700712"/>
            <a:ext cx="84675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 MULTIMODAL EMBEDDING ARCHITECTURE</a:t>
            </a:r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9418392" y="-4793"/>
            <a:ext cx="2604546" cy="642552"/>
            <a:chOff x="8503992" y="95295"/>
            <a:chExt cx="3439354" cy="800395"/>
          </a:xfrm>
        </p:grpSpPr>
        <p:pic>
          <p:nvPicPr>
            <p:cNvPr id="38" name="Picture 3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40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126186" y="127929"/>
              <a:ext cx="817160" cy="7677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408366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09600" y="1820934"/>
            <a:ext cx="10972800" cy="43891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853440" y="2064774"/>
            <a:ext cx="1048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843C0C"/>
                </a:solidFill>
                <a:latin typeface="Calibri" panose="020F0502020204030204"/>
              </a:rPr>
              <a:t>Index Algorithms</a:t>
            </a:r>
            <a:endParaRPr lang="en-US" sz="2133" dirty="0">
              <a:solidFill>
                <a:srgbClr val="843C0C"/>
              </a:solidFill>
              <a:latin typeface="Calibri" panose="020F0502020204030204"/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1828800" y="2687567"/>
            <a:ext cx="8534400" cy="1584960"/>
            <a:chOff x="975360" y="2674374"/>
            <a:chExt cx="8534400" cy="1584960"/>
          </a:xfrm>
        </p:grpSpPr>
        <p:sp>
          <p:nvSpPr>
            <p:cNvPr id="5" name="Shape 3"/>
            <p:cNvSpPr/>
            <p:nvPr/>
          </p:nvSpPr>
          <p:spPr>
            <a:xfrm>
              <a:off x="975360" y="2674374"/>
              <a:ext cx="2682240" cy="158496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843C0C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1097280" y="2857254"/>
              <a:ext cx="24384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2133" b="1" dirty="0">
                  <a:solidFill>
                    <a:srgbClr val="843C0C"/>
                  </a:solidFill>
                  <a:latin typeface="Calibri" panose="020F0502020204030204"/>
                </a:rPr>
                <a:t>HNSW</a:t>
              </a:r>
              <a:endParaRPr lang="en-US" sz="2133" dirty="0">
                <a:solidFill>
                  <a:srgbClr val="843C0C"/>
                </a:solidFill>
                <a:latin typeface="Calibri" panose="020F0502020204030204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1097280" y="3283974"/>
              <a:ext cx="2438400" cy="609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1467" dirty="0">
                  <a:solidFill>
                    <a:srgbClr val="1A1A1A"/>
                  </a:solidFill>
                  <a:latin typeface="Calibri" panose="020F0502020204030204"/>
                </a:rPr>
                <a:t>Hierarchical Navigable</a:t>
              </a:r>
              <a:endParaRPr lang="en-US" sz="1467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algn="ctr" defTabSz="1219170"/>
              <a:r>
                <a:rPr lang="en-US" sz="1467" dirty="0">
                  <a:solidFill>
                    <a:srgbClr val="1A1A1A"/>
                  </a:solidFill>
                  <a:latin typeface="Calibri" panose="020F0502020204030204"/>
                </a:rPr>
                <a:t>Small World</a:t>
              </a:r>
              <a:endParaRPr lang="en-US" sz="1467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1097280" y="3893574"/>
              <a:ext cx="2438400" cy="243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1333" i="1" dirty="0">
                  <a:solidFill>
                    <a:srgbClr val="5A5A5A"/>
                  </a:solidFill>
                  <a:latin typeface="Calibri" panose="020F0502020204030204"/>
                </a:rPr>
                <a:t>Fast, Accurate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3901440" y="2674374"/>
              <a:ext cx="2682240" cy="158496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843C0C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4023360" y="2857254"/>
              <a:ext cx="24384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2133" b="1" dirty="0">
                  <a:solidFill>
                    <a:srgbClr val="843C0C"/>
                  </a:solidFill>
                  <a:latin typeface="Calibri" panose="020F0502020204030204"/>
                </a:rPr>
                <a:t>IVF</a:t>
              </a:r>
              <a:endParaRPr lang="en-US" sz="2133" dirty="0">
                <a:solidFill>
                  <a:srgbClr val="843C0C"/>
                </a:solidFill>
                <a:latin typeface="Calibri" panose="020F0502020204030204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4023360" y="3283974"/>
              <a:ext cx="2438400" cy="609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1467" dirty="0">
                  <a:solidFill>
                    <a:srgbClr val="1A1A1A"/>
                  </a:solidFill>
                  <a:latin typeface="Calibri" panose="020F0502020204030204"/>
                </a:rPr>
                <a:t>Inverted File</a:t>
              </a:r>
              <a:endParaRPr lang="en-US" sz="1467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algn="ctr" defTabSz="1219170"/>
              <a:r>
                <a:rPr lang="en-US" sz="1467" dirty="0">
                  <a:solidFill>
                    <a:srgbClr val="1A1A1A"/>
                  </a:solidFill>
                  <a:latin typeface="Calibri" panose="020F0502020204030204"/>
                </a:rPr>
                <a:t>Index</a:t>
              </a:r>
              <a:endParaRPr lang="en-US" sz="1467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4023360" y="3893574"/>
              <a:ext cx="2438400" cy="243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1333" i="1" dirty="0">
                  <a:solidFill>
                    <a:srgbClr val="5A5A5A"/>
                  </a:solidFill>
                  <a:latin typeface="Calibri" panose="020F0502020204030204"/>
                </a:rPr>
                <a:t>Scalable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6827520" y="2674374"/>
              <a:ext cx="2682240" cy="158496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843C0C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6949440" y="2857254"/>
              <a:ext cx="24384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2133" b="1" dirty="0">
                  <a:solidFill>
                    <a:srgbClr val="843C0C"/>
                  </a:solidFill>
                  <a:latin typeface="Calibri" panose="020F0502020204030204"/>
                </a:rPr>
                <a:t>PQ</a:t>
              </a:r>
              <a:endParaRPr lang="en-US" sz="2133" dirty="0">
                <a:solidFill>
                  <a:srgbClr val="843C0C"/>
                </a:solidFill>
                <a:latin typeface="Calibri" panose="020F0502020204030204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6949440" y="3283974"/>
              <a:ext cx="2438400" cy="609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1467" dirty="0">
                  <a:solidFill>
                    <a:srgbClr val="1A1A1A"/>
                  </a:solidFill>
                  <a:latin typeface="Calibri" panose="020F0502020204030204"/>
                </a:rPr>
                <a:t>Product</a:t>
              </a:r>
              <a:endParaRPr lang="en-US" sz="1467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algn="ctr" defTabSz="1219170"/>
              <a:r>
                <a:rPr lang="en-US" sz="1467" dirty="0">
                  <a:solidFill>
                    <a:srgbClr val="1A1A1A"/>
                  </a:solidFill>
                  <a:latin typeface="Calibri" panose="020F0502020204030204"/>
                </a:rPr>
                <a:t>Quantization</a:t>
              </a:r>
              <a:endParaRPr lang="en-US" sz="1467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6949440" y="3893574"/>
              <a:ext cx="2438400" cy="243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1333" i="1" dirty="0">
                  <a:solidFill>
                    <a:srgbClr val="5A5A5A"/>
                  </a:solidFill>
                  <a:latin typeface="Calibri" panose="020F0502020204030204"/>
                </a:rPr>
                <a:t>Memory Efficient</a:t>
              </a:r>
              <a:endParaRPr lang="en-US" sz="13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7" name="Text 15"/>
          <p:cNvSpPr/>
          <p:nvPr/>
        </p:nvSpPr>
        <p:spPr>
          <a:xfrm>
            <a:off x="853440" y="4625094"/>
            <a:ext cx="1048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843C0C"/>
                </a:solidFill>
                <a:latin typeface="Calibri" panose="020F0502020204030204"/>
              </a:rPr>
              <a:t>Key Capabilities</a:t>
            </a:r>
            <a:endParaRPr lang="en-US" sz="1867" dirty="0">
              <a:solidFill>
                <a:srgbClr val="843C0C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97280" y="5112774"/>
            <a:ext cx="1024128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anose="020F0502020204030204"/>
              </a:rPr>
              <a:t>Approximate Nearest Neighbor (ANN) search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buSzPct val="100000"/>
              <a:buFontTx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anose="020F0502020204030204"/>
              </a:rPr>
              <a:t>Metadata filtering and hybrid search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buSzPct val="100000"/>
              <a:buFontTx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anose="020F0502020204030204"/>
              </a:rPr>
              <a:t>Horizontal scaling and sharding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buSzPct val="100000"/>
              <a:buFontTx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anose="020F0502020204030204"/>
              </a:rPr>
              <a:t>Real-time indexing and updates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0"/>
          <p:cNvSpPr/>
          <p:nvPr/>
        </p:nvSpPr>
        <p:spPr>
          <a:xfrm>
            <a:off x="609600" y="487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5333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Multimodal RAG?</a:t>
            </a:r>
            <a:endParaRPr lang="en-US" sz="5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467073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432620" y="700712"/>
            <a:ext cx="7472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VECTOR DATABASE ARCHITECTURE 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9418392" y="-4793"/>
            <a:ext cx="2604546" cy="642552"/>
            <a:chOff x="8503992" y="95295"/>
            <a:chExt cx="3439354" cy="800395"/>
          </a:xfrm>
        </p:grpSpPr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25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26186" y="127929"/>
              <a:ext cx="817160" cy="7677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67238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723225" y="2151299"/>
            <a:ext cx="9997440" cy="4145280"/>
            <a:chOff x="1584960" y="2682240"/>
            <a:chExt cx="9997440" cy="4145280"/>
          </a:xfrm>
          <a:solidFill>
            <a:srgbClr val="F7CAAB"/>
          </a:solidFill>
        </p:grpSpPr>
        <p:sp>
          <p:nvSpPr>
            <p:cNvPr id="4" name="Shape 1"/>
            <p:cNvSpPr/>
            <p:nvPr/>
          </p:nvSpPr>
          <p:spPr>
            <a:xfrm>
              <a:off x="1584960" y="2682240"/>
              <a:ext cx="609600" cy="609600"/>
            </a:xfrm>
            <a:prstGeom prst="ellipse">
              <a:avLst/>
            </a:prstGeom>
            <a:grpFill/>
            <a:ln/>
          </p:spPr>
        </p:sp>
        <p:sp>
          <p:nvSpPr>
            <p:cNvPr id="5" name="Text 2"/>
            <p:cNvSpPr/>
            <p:nvPr/>
          </p:nvSpPr>
          <p:spPr>
            <a:xfrm>
              <a:off x="1584960" y="2682240"/>
              <a:ext cx="609600" cy="60960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2667" b="1" dirty="0">
                  <a:solidFill>
                    <a:srgbClr val="FFFFFF"/>
                  </a:solidFill>
                  <a:latin typeface="Calibri" panose="020F0502020204030204"/>
                </a:rPr>
                <a:t>1</a:t>
              </a:r>
              <a:endParaRPr lang="en-US" sz="2667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" name="Shape 3"/>
            <p:cNvSpPr/>
            <p:nvPr/>
          </p:nvSpPr>
          <p:spPr>
            <a:xfrm>
              <a:off x="2438400" y="2682240"/>
              <a:ext cx="9144000" cy="853440"/>
            </a:xfrm>
            <a:prstGeom prst="rect">
              <a:avLst/>
            </a:prstGeom>
            <a:grpFill/>
            <a:ln/>
          </p:spPr>
        </p:sp>
        <p:sp>
          <p:nvSpPr>
            <p:cNvPr id="7" name="Text 4"/>
            <p:cNvSpPr/>
            <p:nvPr/>
          </p:nvSpPr>
          <p:spPr>
            <a:xfrm>
              <a:off x="2682240" y="2779776"/>
              <a:ext cx="2438400" cy="36576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defTabSz="1219170"/>
              <a:r>
                <a:rPr lang="en-US" sz="2133" b="1" dirty="0">
                  <a:solidFill>
                    <a:srgbClr val="843C0C"/>
                  </a:solidFill>
                  <a:latin typeface="Calibri" panose="020F0502020204030204"/>
                </a:rPr>
                <a:t>Encode</a:t>
              </a:r>
              <a:endParaRPr lang="en-US" sz="2133" dirty="0">
                <a:solidFill>
                  <a:srgbClr val="843C0C"/>
                </a:solidFill>
                <a:latin typeface="Calibri" panose="020F0502020204030204"/>
              </a:endParaRPr>
            </a:p>
          </p:txBody>
        </p:sp>
        <p:sp>
          <p:nvSpPr>
            <p:cNvPr id="8" name="Text 5"/>
            <p:cNvSpPr/>
            <p:nvPr/>
          </p:nvSpPr>
          <p:spPr>
            <a:xfrm>
              <a:off x="2682240" y="3108960"/>
              <a:ext cx="8534400" cy="36576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defTabSz="1219170"/>
              <a:r>
                <a:rPr lang="en-US" sz="1733" dirty="0">
                  <a:solidFill>
                    <a:srgbClr val="1A1A1A"/>
                  </a:solidFill>
                  <a:latin typeface="Calibri" panose="020F0502020204030204"/>
                </a:rPr>
                <a:t>Convert all data types to vector embeddings</a:t>
              </a:r>
              <a:endParaRPr lang="en-US" sz="17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Shape 6"/>
            <p:cNvSpPr/>
            <p:nvPr/>
          </p:nvSpPr>
          <p:spPr>
            <a:xfrm>
              <a:off x="1889760" y="3413760"/>
              <a:ext cx="0" cy="487680"/>
            </a:xfrm>
            <a:prstGeom prst="line">
              <a:avLst/>
            </a:prstGeom>
            <a:grpFill/>
            <a:ln w="38100">
              <a:solidFill>
                <a:srgbClr val="843C0C"/>
              </a:solidFill>
              <a:prstDash val="solid"/>
              <a:tailEnd type="triangle"/>
            </a:ln>
          </p:spPr>
        </p:sp>
        <p:sp>
          <p:nvSpPr>
            <p:cNvPr id="10" name="Shape 7"/>
            <p:cNvSpPr/>
            <p:nvPr/>
          </p:nvSpPr>
          <p:spPr>
            <a:xfrm>
              <a:off x="1584960" y="3779520"/>
              <a:ext cx="609600" cy="609600"/>
            </a:xfrm>
            <a:prstGeom prst="ellipse">
              <a:avLst/>
            </a:prstGeom>
            <a:grpFill/>
            <a:ln/>
          </p:spPr>
        </p:sp>
        <p:sp>
          <p:nvSpPr>
            <p:cNvPr id="11" name="Text 8"/>
            <p:cNvSpPr/>
            <p:nvPr/>
          </p:nvSpPr>
          <p:spPr>
            <a:xfrm>
              <a:off x="1584960" y="3779520"/>
              <a:ext cx="609600" cy="60960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2667" b="1" dirty="0">
                  <a:solidFill>
                    <a:srgbClr val="FFFFFF"/>
                  </a:solidFill>
                  <a:latin typeface="Calibri" panose="020F0502020204030204"/>
                </a:rPr>
                <a:t>2</a:t>
              </a:r>
              <a:endParaRPr lang="en-US" sz="2667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" name="Shape 9"/>
            <p:cNvSpPr/>
            <p:nvPr/>
          </p:nvSpPr>
          <p:spPr>
            <a:xfrm>
              <a:off x="2438400" y="3779520"/>
              <a:ext cx="9144000" cy="853440"/>
            </a:xfrm>
            <a:prstGeom prst="rect">
              <a:avLst/>
            </a:prstGeom>
            <a:grpFill/>
            <a:ln/>
          </p:spPr>
        </p:sp>
        <p:sp>
          <p:nvSpPr>
            <p:cNvPr id="13" name="Text 10"/>
            <p:cNvSpPr/>
            <p:nvPr/>
          </p:nvSpPr>
          <p:spPr>
            <a:xfrm>
              <a:off x="2682240" y="3877056"/>
              <a:ext cx="2438400" cy="36576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defTabSz="1219170"/>
              <a:r>
                <a:rPr lang="en-US" sz="2133" b="1" dirty="0">
                  <a:solidFill>
                    <a:srgbClr val="843C0C"/>
                  </a:solidFill>
                  <a:latin typeface="Calibri" panose="020F0502020204030204"/>
                </a:rPr>
                <a:t>Store</a:t>
              </a:r>
              <a:endParaRPr lang="en-US" sz="2133" dirty="0">
                <a:solidFill>
                  <a:srgbClr val="843C0C"/>
                </a:solidFill>
                <a:latin typeface="Calibri" panose="020F0502020204030204"/>
              </a:endParaRPr>
            </a:p>
          </p:txBody>
        </p:sp>
        <p:sp>
          <p:nvSpPr>
            <p:cNvPr id="14" name="Text 11"/>
            <p:cNvSpPr/>
            <p:nvPr/>
          </p:nvSpPr>
          <p:spPr>
            <a:xfrm>
              <a:off x="2682240" y="4206240"/>
              <a:ext cx="8534400" cy="36576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defTabSz="1219170"/>
              <a:r>
                <a:rPr lang="en-US" sz="1733" dirty="0">
                  <a:solidFill>
                    <a:srgbClr val="1A1A1A"/>
                  </a:solidFill>
                  <a:latin typeface="Calibri" panose="020F0502020204030204"/>
                </a:rPr>
                <a:t>Index vectors in a multimodal database</a:t>
              </a:r>
              <a:endParaRPr lang="en-US" sz="17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Shape 12"/>
            <p:cNvSpPr/>
            <p:nvPr/>
          </p:nvSpPr>
          <p:spPr>
            <a:xfrm>
              <a:off x="1889760" y="4511040"/>
              <a:ext cx="0" cy="487680"/>
            </a:xfrm>
            <a:prstGeom prst="line">
              <a:avLst/>
            </a:prstGeom>
            <a:grpFill/>
            <a:ln w="38100">
              <a:solidFill>
                <a:srgbClr val="843C0C"/>
              </a:solidFill>
              <a:prstDash val="solid"/>
              <a:tailEnd type="triangle"/>
            </a:ln>
          </p:spPr>
        </p:sp>
        <p:sp>
          <p:nvSpPr>
            <p:cNvPr id="16" name="Shape 13"/>
            <p:cNvSpPr/>
            <p:nvPr/>
          </p:nvSpPr>
          <p:spPr>
            <a:xfrm>
              <a:off x="1584960" y="4876800"/>
              <a:ext cx="609600" cy="609600"/>
            </a:xfrm>
            <a:prstGeom prst="ellipse">
              <a:avLst/>
            </a:prstGeom>
            <a:grpFill/>
            <a:ln/>
          </p:spPr>
        </p:sp>
        <p:sp>
          <p:nvSpPr>
            <p:cNvPr id="17" name="Text 14"/>
            <p:cNvSpPr/>
            <p:nvPr/>
          </p:nvSpPr>
          <p:spPr>
            <a:xfrm>
              <a:off x="1584960" y="4876800"/>
              <a:ext cx="609600" cy="60960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2667" b="1" dirty="0">
                  <a:solidFill>
                    <a:srgbClr val="FFFFFF"/>
                  </a:solidFill>
                  <a:latin typeface="Calibri" panose="020F0502020204030204"/>
                </a:rPr>
                <a:t>3</a:t>
              </a:r>
              <a:endParaRPr lang="en-US" sz="2667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8" name="Shape 15"/>
            <p:cNvSpPr/>
            <p:nvPr/>
          </p:nvSpPr>
          <p:spPr>
            <a:xfrm>
              <a:off x="2438400" y="4876800"/>
              <a:ext cx="9144000" cy="853440"/>
            </a:xfrm>
            <a:prstGeom prst="rect">
              <a:avLst/>
            </a:prstGeom>
            <a:grpFill/>
            <a:ln/>
          </p:spPr>
        </p:sp>
        <p:sp>
          <p:nvSpPr>
            <p:cNvPr id="19" name="Text 16"/>
            <p:cNvSpPr/>
            <p:nvPr/>
          </p:nvSpPr>
          <p:spPr>
            <a:xfrm>
              <a:off x="2682240" y="4974336"/>
              <a:ext cx="2438400" cy="36576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defTabSz="1219170"/>
              <a:r>
                <a:rPr lang="en-US" sz="2133" b="1" dirty="0">
                  <a:solidFill>
                    <a:srgbClr val="843C0C"/>
                  </a:solidFill>
                  <a:latin typeface="Calibri" panose="020F0502020204030204"/>
                </a:rPr>
                <a:t>Retrieve</a:t>
              </a:r>
              <a:endParaRPr lang="en-US" sz="2133" dirty="0">
                <a:solidFill>
                  <a:srgbClr val="843C0C"/>
                </a:solidFill>
                <a:latin typeface="Calibri" panose="020F0502020204030204"/>
              </a:endParaRPr>
            </a:p>
          </p:txBody>
        </p:sp>
        <p:sp>
          <p:nvSpPr>
            <p:cNvPr id="20" name="Text 17"/>
            <p:cNvSpPr/>
            <p:nvPr/>
          </p:nvSpPr>
          <p:spPr>
            <a:xfrm>
              <a:off x="2682240" y="5303520"/>
              <a:ext cx="8534400" cy="36576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defTabSz="1219170"/>
              <a:r>
                <a:rPr lang="en-US" sz="1733" dirty="0">
                  <a:solidFill>
                    <a:srgbClr val="1A1A1A"/>
                  </a:solidFill>
                  <a:latin typeface="Calibri" panose="020F0502020204030204"/>
                </a:rPr>
                <a:t>Query across modalities to find relevant data</a:t>
              </a:r>
              <a:endParaRPr lang="en-US" sz="17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1" name="Shape 18"/>
            <p:cNvSpPr/>
            <p:nvPr/>
          </p:nvSpPr>
          <p:spPr>
            <a:xfrm>
              <a:off x="1889760" y="5608320"/>
              <a:ext cx="0" cy="487680"/>
            </a:xfrm>
            <a:prstGeom prst="line">
              <a:avLst/>
            </a:prstGeom>
            <a:grpFill/>
            <a:ln w="38100">
              <a:solidFill>
                <a:srgbClr val="843C0C"/>
              </a:solidFill>
              <a:prstDash val="solid"/>
              <a:tailEnd type="triangle"/>
            </a:ln>
          </p:spPr>
        </p:sp>
        <p:sp>
          <p:nvSpPr>
            <p:cNvPr id="22" name="Shape 19"/>
            <p:cNvSpPr/>
            <p:nvPr/>
          </p:nvSpPr>
          <p:spPr>
            <a:xfrm>
              <a:off x="1584960" y="5974080"/>
              <a:ext cx="609600" cy="609600"/>
            </a:xfrm>
            <a:prstGeom prst="ellipse">
              <a:avLst/>
            </a:prstGeom>
            <a:grpFill/>
            <a:ln/>
          </p:spPr>
        </p:sp>
        <p:sp>
          <p:nvSpPr>
            <p:cNvPr id="23" name="Text 20"/>
            <p:cNvSpPr/>
            <p:nvPr/>
          </p:nvSpPr>
          <p:spPr>
            <a:xfrm>
              <a:off x="1584960" y="5974080"/>
              <a:ext cx="609600" cy="60960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2667" b="1" dirty="0">
                  <a:solidFill>
                    <a:srgbClr val="FFFFFF"/>
                  </a:solidFill>
                  <a:latin typeface="Calibri" panose="020F0502020204030204"/>
                </a:rPr>
                <a:t>4</a:t>
              </a:r>
              <a:endParaRPr lang="en-US" sz="2667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4" name="Shape 21"/>
            <p:cNvSpPr/>
            <p:nvPr/>
          </p:nvSpPr>
          <p:spPr>
            <a:xfrm>
              <a:off x="2438400" y="5974080"/>
              <a:ext cx="9144000" cy="853440"/>
            </a:xfrm>
            <a:prstGeom prst="rect">
              <a:avLst/>
            </a:prstGeom>
            <a:grpFill/>
            <a:ln/>
          </p:spPr>
        </p:sp>
        <p:sp>
          <p:nvSpPr>
            <p:cNvPr id="25" name="Text 22"/>
            <p:cNvSpPr/>
            <p:nvPr/>
          </p:nvSpPr>
          <p:spPr>
            <a:xfrm>
              <a:off x="2682240" y="6071616"/>
              <a:ext cx="2438400" cy="36576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defTabSz="1219170"/>
              <a:r>
                <a:rPr lang="en-US" sz="2133" b="1" dirty="0">
                  <a:solidFill>
                    <a:srgbClr val="843C0C"/>
                  </a:solidFill>
                  <a:latin typeface="Calibri" panose="020F0502020204030204"/>
                </a:rPr>
                <a:t>Generate</a:t>
              </a:r>
              <a:endParaRPr lang="en-US" sz="2133" dirty="0">
                <a:solidFill>
                  <a:srgbClr val="843C0C"/>
                </a:solidFill>
                <a:latin typeface="Calibri" panose="020F0502020204030204"/>
              </a:endParaRPr>
            </a:p>
          </p:txBody>
        </p:sp>
        <p:sp>
          <p:nvSpPr>
            <p:cNvPr id="26" name="Text 23"/>
            <p:cNvSpPr/>
            <p:nvPr/>
          </p:nvSpPr>
          <p:spPr>
            <a:xfrm>
              <a:off x="2682240" y="6400800"/>
              <a:ext cx="8534400" cy="36576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defTabSz="1219170"/>
              <a:r>
                <a:rPr lang="en-US" sz="1733" dirty="0">
                  <a:solidFill>
                    <a:srgbClr val="1A1A1A"/>
                  </a:solidFill>
                  <a:latin typeface="Calibri" panose="020F0502020204030204"/>
                </a:rPr>
                <a:t>Use retrieved context for informed responses</a:t>
              </a:r>
              <a:endParaRPr lang="en-US" sz="173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7" name="Text 0"/>
          <p:cNvSpPr/>
          <p:nvPr/>
        </p:nvSpPr>
        <p:spPr>
          <a:xfrm>
            <a:off x="609600" y="487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5333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Multimodal RAG?</a:t>
            </a:r>
            <a:endParaRPr lang="en-US" sz="5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467073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432620" y="700712"/>
            <a:ext cx="7472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HOW MULTIMODAL RAG WORKS?</a:t>
            </a:r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9418392" y="-4793"/>
            <a:ext cx="2604546" cy="642552"/>
            <a:chOff x="8503992" y="95295"/>
            <a:chExt cx="3439354" cy="800395"/>
          </a:xfrm>
        </p:grpSpPr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33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26186" y="127929"/>
              <a:ext cx="817160" cy="7677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097612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1712493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dirty="0">
                <a:solidFill>
                  <a:srgbClr val="5A5A5A"/>
                </a:solidFill>
                <a:latin typeface="Calibri" panose="020F0502020204030204"/>
              </a:rPr>
              <a:t>Models that can encode different data types into a shared vector space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2565933"/>
            <a:ext cx="5486400" cy="4023360"/>
          </a:xfrm>
          <a:prstGeom prst="rect">
            <a:avLst/>
          </a:prstGeom>
          <a:solidFill>
            <a:srgbClr val="F7CAAB"/>
          </a:solidFill>
          <a:ln w="28575">
            <a:solidFill>
              <a:srgbClr val="843C0C"/>
            </a:solidFill>
          </a:ln>
        </p:spPr>
      </p:sp>
      <p:sp>
        <p:nvSpPr>
          <p:cNvPr id="5" name="Text 3"/>
          <p:cNvSpPr/>
          <p:nvPr/>
        </p:nvSpPr>
        <p:spPr>
          <a:xfrm>
            <a:off x="853440" y="2809773"/>
            <a:ext cx="4998720" cy="487680"/>
          </a:xfrm>
          <a:prstGeom prst="rect">
            <a:avLst/>
          </a:prstGeom>
          <a:solidFill>
            <a:srgbClr val="F7CAAB"/>
          </a:solidFill>
          <a:ln/>
        </p:spPr>
        <p:txBody>
          <a:bodyPr wrap="square" rtlCol="0" anchor="ctr"/>
          <a:lstStyle/>
          <a:p>
            <a:pPr defTabSz="1219170"/>
            <a:r>
              <a:rPr lang="en-US" sz="2667" b="1" dirty="0">
                <a:solidFill>
                  <a:srgbClr val="843C0C"/>
                </a:solidFill>
                <a:latin typeface="Calibri" panose="020F0502020204030204"/>
              </a:rPr>
              <a:t>Popular Models</a:t>
            </a:r>
            <a:endParaRPr lang="en-US" sz="2667" dirty="0">
              <a:solidFill>
                <a:srgbClr val="843C0C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786580" y="3266973"/>
            <a:ext cx="4876800" cy="2011680"/>
          </a:xfrm>
          <a:prstGeom prst="rect">
            <a:avLst/>
          </a:prstGeom>
          <a:solidFill>
            <a:srgbClr val="F7CAAB"/>
          </a:solidFill>
          <a:ln/>
        </p:spPr>
        <p:txBody>
          <a:bodyPr wrap="square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Calibri" panose="020F0502020204030204"/>
              </a:rPr>
              <a:t>CLIP (OpenAI) - Images &amp; Text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buSzPct val="100000"/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Calibri" panose="020F0502020204030204"/>
              </a:rPr>
              <a:t>ImageBind (Meta) - 6 modalities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buSzPct val="100000"/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Calibri" panose="020F0502020204030204"/>
              </a:rPr>
              <a:t>BLIP-2 - Vision-language tasks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buSzPct val="100000"/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Calibri" panose="020F0502020204030204"/>
              </a:rPr>
              <a:t>Gemini Embeddings - Multi-format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buSzPct val="100000"/>
              <a:buFontTx/>
              <a:buChar char="•"/>
            </a:pPr>
            <a:r>
              <a:rPr lang="en-US" sz="1867" dirty="0">
                <a:solidFill>
                  <a:srgbClr val="1A1A1A"/>
                </a:solidFill>
                <a:latin typeface="Calibri" panose="020F0502020204030204"/>
              </a:rPr>
              <a:t>Voyage Multimodal - Text &amp; images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61760" y="2565933"/>
            <a:ext cx="5120640" cy="4023360"/>
          </a:xfrm>
          <a:prstGeom prst="rect">
            <a:avLst/>
          </a:prstGeom>
          <a:noFill/>
          <a:ln w="25400">
            <a:solidFill>
              <a:srgbClr val="843C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05600" y="2809773"/>
            <a:ext cx="46329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667" b="1" dirty="0">
                <a:solidFill>
                  <a:srgbClr val="843C0C"/>
                </a:solidFill>
                <a:latin typeface="Calibri" panose="020F0502020204030204"/>
              </a:rPr>
              <a:t>Key Features</a:t>
            </a:r>
            <a:endParaRPr lang="en-US" sz="2667" dirty="0">
              <a:solidFill>
                <a:srgbClr val="843C0C"/>
              </a:solidFill>
              <a:latin typeface="Calibri" panose="020F0502020204030204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27520" y="3663213"/>
            <a:ext cx="365760" cy="365760"/>
          </a:xfrm>
          <a:prstGeom prst="rect">
            <a:avLst/>
          </a:prstGeom>
          <a:noFill/>
        </p:spPr>
      </p:pic>
      <p:sp>
        <p:nvSpPr>
          <p:cNvPr id="10" name="Text 7"/>
          <p:cNvSpPr/>
          <p:nvPr/>
        </p:nvSpPr>
        <p:spPr>
          <a:xfrm>
            <a:off x="7315200" y="3602253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dirty="0">
                <a:solidFill>
                  <a:srgbClr val="1A1A1A"/>
                </a:solidFill>
                <a:latin typeface="Calibri" panose="020F0502020204030204"/>
              </a:rPr>
              <a:t>Cross-modal search capability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27520" y="4272813"/>
            <a:ext cx="365760" cy="365760"/>
          </a:xfrm>
          <a:prstGeom prst="rect">
            <a:avLst/>
          </a:prstGeom>
          <a:noFill/>
        </p:spPr>
      </p:pic>
      <p:sp>
        <p:nvSpPr>
          <p:cNvPr id="12" name="Text 8"/>
          <p:cNvSpPr/>
          <p:nvPr/>
        </p:nvSpPr>
        <p:spPr>
          <a:xfrm>
            <a:off x="7315200" y="4211853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dirty="0">
                <a:solidFill>
                  <a:srgbClr val="1A1A1A"/>
                </a:solidFill>
                <a:latin typeface="Calibri" panose="020F0502020204030204"/>
              </a:rPr>
              <a:t>Unified vector representation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27520" y="4882413"/>
            <a:ext cx="365760" cy="365760"/>
          </a:xfrm>
          <a:prstGeom prst="rect">
            <a:avLst/>
          </a:prstGeom>
          <a:noFill/>
        </p:spPr>
      </p:pic>
      <p:sp>
        <p:nvSpPr>
          <p:cNvPr id="14" name="Text 9"/>
          <p:cNvSpPr/>
          <p:nvPr/>
        </p:nvSpPr>
        <p:spPr>
          <a:xfrm>
            <a:off x="7315200" y="4821453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dirty="0">
                <a:solidFill>
                  <a:srgbClr val="1A1A1A"/>
                </a:solidFill>
                <a:latin typeface="Calibri" panose="020F0502020204030204"/>
              </a:rPr>
              <a:t>Semantic similarity matching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27520" y="5492013"/>
            <a:ext cx="365760" cy="365760"/>
          </a:xfrm>
          <a:prstGeom prst="rect">
            <a:avLst/>
          </a:prstGeom>
          <a:noFill/>
        </p:spPr>
      </p:pic>
      <p:sp>
        <p:nvSpPr>
          <p:cNvPr id="16" name="Text 10"/>
          <p:cNvSpPr/>
          <p:nvPr/>
        </p:nvSpPr>
        <p:spPr>
          <a:xfrm>
            <a:off x="7315200" y="5431053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dirty="0">
                <a:solidFill>
                  <a:srgbClr val="1A1A1A"/>
                </a:solidFill>
                <a:latin typeface="Calibri" panose="020F0502020204030204"/>
              </a:rPr>
              <a:t>Context-aware retrieval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0"/>
          <p:cNvSpPr/>
          <p:nvPr/>
        </p:nvSpPr>
        <p:spPr>
          <a:xfrm>
            <a:off x="609600" y="487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5333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Multimodal RAG?</a:t>
            </a:r>
            <a:endParaRPr lang="en-US" sz="5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467073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432620" y="700712"/>
            <a:ext cx="7472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MULTIMODAL EMBEDDING MODELS</a:t>
            </a:r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9418392" y="-4793"/>
            <a:ext cx="2604546" cy="642552"/>
            <a:chOff x="8503992" y="95295"/>
            <a:chExt cx="3439354" cy="800395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23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126186" y="127929"/>
              <a:ext cx="817160" cy="7677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352167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09600" y="1828800"/>
            <a:ext cx="10972800" cy="853440"/>
          </a:xfrm>
          <a:prstGeom prst="rect">
            <a:avLst/>
          </a:prstGeom>
          <a:solidFill>
            <a:srgbClr val="F7CAAB"/>
          </a:solidFill>
          <a:ln/>
        </p:spPr>
      </p:sp>
      <p:sp>
        <p:nvSpPr>
          <p:cNvPr id="4" name="Shape 2"/>
          <p:cNvSpPr/>
          <p:nvPr/>
        </p:nvSpPr>
        <p:spPr>
          <a:xfrm>
            <a:off x="609600" y="1828800"/>
            <a:ext cx="121920" cy="853440"/>
          </a:xfrm>
          <a:prstGeom prst="rect">
            <a:avLst/>
          </a:prstGeom>
          <a:solidFill>
            <a:srgbClr val="843C0C"/>
          </a:solidFill>
          <a:ln>
            <a:solidFill>
              <a:srgbClr val="843C0C"/>
            </a:solidFill>
          </a:ln>
        </p:spPr>
      </p:sp>
      <p:sp>
        <p:nvSpPr>
          <p:cNvPr id="5" name="Text 3"/>
          <p:cNvSpPr/>
          <p:nvPr/>
        </p:nvSpPr>
        <p:spPr>
          <a:xfrm>
            <a:off x="975360" y="1950720"/>
            <a:ext cx="2438400" cy="365760"/>
          </a:xfrm>
          <a:prstGeom prst="rect">
            <a:avLst/>
          </a:prstGeom>
          <a:solidFill>
            <a:srgbClr val="F7CAAB"/>
          </a:solidFill>
          <a:ln/>
        </p:spPr>
        <p:txBody>
          <a:bodyPr wrap="square" rtlCol="0" anchor="ctr"/>
          <a:lstStyle/>
          <a:p>
            <a:pPr defTabSz="1219170"/>
            <a:r>
              <a:rPr lang="en-US" sz="2400" b="1" dirty="0">
                <a:solidFill>
                  <a:srgbClr val="843C0C"/>
                </a:solidFill>
                <a:latin typeface="Calibri" panose="020F0502020204030204"/>
              </a:rPr>
              <a:t>Pinecone</a:t>
            </a:r>
            <a:endParaRPr lang="en-US" sz="2400" dirty="0">
              <a:solidFill>
                <a:srgbClr val="843C0C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975360" y="2316480"/>
            <a:ext cx="10241280" cy="243840"/>
          </a:xfrm>
          <a:prstGeom prst="rect">
            <a:avLst/>
          </a:prstGeom>
          <a:solidFill>
            <a:srgbClr val="F7CAAB"/>
          </a:solidFill>
          <a:ln/>
        </p:spPr>
        <p:txBody>
          <a:bodyPr wrap="square" rtlCol="0" anchor="ctr"/>
          <a:lstStyle/>
          <a:p>
            <a:pPr defTabSz="1219170"/>
            <a:r>
              <a:rPr lang="en-US" sz="1733" dirty="0">
                <a:solidFill>
                  <a:srgbClr val="5A5A5A"/>
                </a:solidFill>
                <a:latin typeface="Calibri" panose="020F0502020204030204"/>
              </a:rPr>
              <a:t>Managed, scalable, metadata filtering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9600" y="2865120"/>
            <a:ext cx="10972800" cy="853440"/>
          </a:xfrm>
          <a:prstGeom prst="rect">
            <a:avLst/>
          </a:prstGeom>
          <a:solidFill>
            <a:srgbClr val="F7CAAB"/>
          </a:solidFill>
          <a:ln/>
        </p:spPr>
      </p:sp>
      <p:sp>
        <p:nvSpPr>
          <p:cNvPr id="8" name="Shape 6"/>
          <p:cNvSpPr/>
          <p:nvPr/>
        </p:nvSpPr>
        <p:spPr>
          <a:xfrm>
            <a:off x="609600" y="2865120"/>
            <a:ext cx="121920" cy="853440"/>
          </a:xfrm>
          <a:prstGeom prst="rect">
            <a:avLst/>
          </a:prstGeom>
          <a:solidFill>
            <a:srgbClr val="843C0C"/>
          </a:solidFill>
          <a:ln/>
        </p:spPr>
      </p:sp>
      <p:sp>
        <p:nvSpPr>
          <p:cNvPr id="9" name="Text 7"/>
          <p:cNvSpPr/>
          <p:nvPr/>
        </p:nvSpPr>
        <p:spPr>
          <a:xfrm>
            <a:off x="975360" y="2987040"/>
            <a:ext cx="2438400" cy="365760"/>
          </a:xfrm>
          <a:prstGeom prst="rect">
            <a:avLst/>
          </a:prstGeom>
          <a:solidFill>
            <a:srgbClr val="F7CAAB"/>
          </a:solidFill>
          <a:ln/>
        </p:spPr>
        <p:txBody>
          <a:bodyPr wrap="square" rtlCol="0" anchor="ctr"/>
          <a:lstStyle/>
          <a:p>
            <a:pPr defTabSz="1219170"/>
            <a:r>
              <a:rPr lang="en-US" sz="2400" b="1" dirty="0">
                <a:solidFill>
                  <a:srgbClr val="843C0C"/>
                </a:solidFill>
                <a:latin typeface="Calibri" panose="020F0502020204030204"/>
              </a:rPr>
              <a:t>Weaviate</a:t>
            </a:r>
            <a:endParaRPr lang="en-US" sz="2400" dirty="0">
              <a:solidFill>
                <a:srgbClr val="843C0C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75360" y="3352800"/>
            <a:ext cx="10241280" cy="243840"/>
          </a:xfrm>
          <a:prstGeom prst="rect">
            <a:avLst/>
          </a:prstGeom>
          <a:solidFill>
            <a:srgbClr val="F7CAAB"/>
          </a:solidFill>
          <a:ln/>
        </p:spPr>
        <p:txBody>
          <a:bodyPr wrap="square" rtlCol="0" anchor="ctr"/>
          <a:lstStyle/>
          <a:p>
            <a:pPr defTabSz="1219170"/>
            <a:r>
              <a:rPr lang="en-US" sz="1733" dirty="0">
                <a:solidFill>
                  <a:srgbClr val="5A5A5A"/>
                </a:solidFill>
                <a:latin typeface="Calibri" panose="020F0502020204030204"/>
              </a:rPr>
              <a:t>Open-source, GraphQL, multi-tenancy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9600" y="3901440"/>
            <a:ext cx="10972800" cy="853440"/>
          </a:xfrm>
          <a:prstGeom prst="rect">
            <a:avLst/>
          </a:prstGeom>
          <a:solidFill>
            <a:srgbClr val="F7CAAB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600" y="3901440"/>
            <a:ext cx="121920" cy="853440"/>
          </a:xfrm>
          <a:prstGeom prst="rect">
            <a:avLst/>
          </a:prstGeom>
          <a:solidFill>
            <a:srgbClr val="843C0C"/>
          </a:solidFill>
          <a:ln/>
        </p:spPr>
      </p:sp>
      <p:sp>
        <p:nvSpPr>
          <p:cNvPr id="13" name="Text 11"/>
          <p:cNvSpPr/>
          <p:nvPr/>
        </p:nvSpPr>
        <p:spPr>
          <a:xfrm>
            <a:off x="975360" y="4023360"/>
            <a:ext cx="2438400" cy="365760"/>
          </a:xfrm>
          <a:prstGeom prst="rect">
            <a:avLst/>
          </a:prstGeom>
          <a:solidFill>
            <a:srgbClr val="F7CAAB"/>
          </a:solidFill>
          <a:ln/>
        </p:spPr>
        <p:txBody>
          <a:bodyPr wrap="square" rtlCol="0" anchor="ctr"/>
          <a:lstStyle/>
          <a:p>
            <a:pPr defTabSz="1219170"/>
            <a:r>
              <a:rPr lang="en-US" sz="2400" b="1" dirty="0">
                <a:solidFill>
                  <a:srgbClr val="843C0C"/>
                </a:solidFill>
                <a:latin typeface="Calibri" panose="020F0502020204030204"/>
              </a:rPr>
              <a:t>Qdrant</a:t>
            </a:r>
            <a:endParaRPr lang="en-US" sz="2400" dirty="0">
              <a:solidFill>
                <a:srgbClr val="843C0C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75360" y="4389120"/>
            <a:ext cx="10241280" cy="243840"/>
          </a:xfrm>
          <a:prstGeom prst="rect">
            <a:avLst/>
          </a:prstGeom>
          <a:solidFill>
            <a:srgbClr val="F7CAAB"/>
          </a:solidFill>
          <a:ln/>
        </p:spPr>
        <p:txBody>
          <a:bodyPr wrap="square" rtlCol="0" anchor="ctr"/>
          <a:lstStyle/>
          <a:p>
            <a:pPr defTabSz="1219170"/>
            <a:r>
              <a:rPr lang="en-US" sz="1733" dirty="0">
                <a:solidFill>
                  <a:srgbClr val="5A5A5A"/>
                </a:solidFill>
                <a:latin typeface="Calibri" panose="020F0502020204030204"/>
              </a:rPr>
              <a:t>Rust-based, fast filtering, on-prem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9600" y="4937760"/>
            <a:ext cx="10972800" cy="853440"/>
          </a:xfrm>
          <a:prstGeom prst="rect">
            <a:avLst/>
          </a:prstGeom>
          <a:solidFill>
            <a:srgbClr val="F7CAAB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600" y="4937760"/>
            <a:ext cx="121920" cy="853440"/>
          </a:xfrm>
          <a:prstGeom prst="rect">
            <a:avLst/>
          </a:prstGeom>
          <a:solidFill>
            <a:srgbClr val="843C0C"/>
          </a:solidFill>
          <a:ln/>
        </p:spPr>
      </p:sp>
      <p:sp>
        <p:nvSpPr>
          <p:cNvPr id="17" name="Text 15"/>
          <p:cNvSpPr/>
          <p:nvPr/>
        </p:nvSpPr>
        <p:spPr>
          <a:xfrm>
            <a:off x="975360" y="5059680"/>
            <a:ext cx="2438400" cy="365760"/>
          </a:xfrm>
          <a:prstGeom prst="rect">
            <a:avLst/>
          </a:prstGeom>
          <a:solidFill>
            <a:srgbClr val="F7CAAB"/>
          </a:solidFill>
          <a:ln/>
        </p:spPr>
        <p:txBody>
          <a:bodyPr wrap="square" rtlCol="0" anchor="ctr"/>
          <a:lstStyle/>
          <a:p>
            <a:pPr defTabSz="1219170"/>
            <a:r>
              <a:rPr lang="en-US" sz="2400" b="1" dirty="0">
                <a:solidFill>
                  <a:srgbClr val="843C0C"/>
                </a:solidFill>
                <a:latin typeface="Calibri" panose="020F0502020204030204"/>
              </a:rPr>
              <a:t>Milvus</a:t>
            </a:r>
            <a:endParaRPr lang="en-US" sz="2400" dirty="0">
              <a:solidFill>
                <a:srgbClr val="843C0C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75360" y="5425440"/>
            <a:ext cx="10241280" cy="243840"/>
          </a:xfrm>
          <a:prstGeom prst="rect">
            <a:avLst/>
          </a:prstGeom>
          <a:solidFill>
            <a:srgbClr val="F7CAAB"/>
          </a:solidFill>
          <a:ln/>
        </p:spPr>
        <p:txBody>
          <a:bodyPr wrap="square" rtlCol="0" anchor="ctr"/>
          <a:lstStyle/>
          <a:p>
            <a:pPr defTabSz="1219170"/>
            <a:r>
              <a:rPr lang="en-US" sz="1733" dirty="0">
                <a:solidFill>
                  <a:srgbClr val="5A5A5A"/>
                </a:solidFill>
                <a:latin typeface="Calibri" panose="020F0502020204030204"/>
              </a:rPr>
              <a:t>Distributed, GPU support, open-source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0"/>
          <p:cNvSpPr/>
          <p:nvPr/>
        </p:nvSpPr>
        <p:spPr>
          <a:xfrm>
            <a:off x="609600" y="487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5333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Multimodal RAG?</a:t>
            </a:r>
            <a:endParaRPr lang="en-US" sz="5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467073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432619" y="700712"/>
            <a:ext cx="82787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VECTOR DATABASE FOR MULTIMODAL DATA?</a:t>
            </a:r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9418392" y="-4793"/>
            <a:ext cx="2604546" cy="642552"/>
            <a:chOff x="8503992" y="95295"/>
            <a:chExt cx="3439354" cy="800395"/>
          </a:xfrm>
        </p:grpSpPr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25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26186" y="127929"/>
              <a:ext cx="817160" cy="7677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289456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87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5333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Real-World Use Cases</a:t>
            </a:r>
            <a:endParaRPr lang="en-US" sz="5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600" y="1706880"/>
            <a:ext cx="548640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843C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" y="1706880"/>
            <a:ext cx="5486400" cy="609600"/>
          </a:xfrm>
          <a:prstGeom prst="rect">
            <a:avLst/>
          </a:prstGeom>
          <a:solidFill>
            <a:srgbClr val="843C0C"/>
          </a:solidFill>
          <a:ln/>
        </p:spPr>
      </p:sp>
      <p:sp>
        <p:nvSpPr>
          <p:cNvPr id="5" name="Text 3"/>
          <p:cNvSpPr/>
          <p:nvPr/>
        </p:nvSpPr>
        <p:spPr>
          <a:xfrm>
            <a:off x="853440" y="1828800"/>
            <a:ext cx="499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b="1" dirty="0">
                <a:solidFill>
                  <a:srgbClr val="FFFFFF"/>
                </a:solidFill>
                <a:latin typeface="Calibri" panose="020F0502020204030204"/>
              </a:rPr>
              <a:t>Medical Diagnosis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3440" y="2560320"/>
            <a:ext cx="499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dirty="0">
                <a:solidFill>
                  <a:srgbClr val="1A1A1A"/>
                </a:solidFill>
                <a:latin typeface="Calibri" panose="020F0502020204030204"/>
              </a:rPr>
              <a:t>Retrieve patient records, X-rays, and clinical notes for comprehensive analysis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339840" y="1706880"/>
            <a:ext cx="548640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843C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39840" y="1706880"/>
            <a:ext cx="5486400" cy="609600"/>
          </a:xfrm>
          <a:prstGeom prst="rect">
            <a:avLst/>
          </a:prstGeom>
          <a:solidFill>
            <a:srgbClr val="843C0C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828800"/>
            <a:ext cx="499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b="1" dirty="0">
                <a:solidFill>
                  <a:srgbClr val="FFFFFF"/>
                </a:solidFill>
                <a:latin typeface="Calibri" panose="020F0502020204030204"/>
              </a:rPr>
              <a:t>E-commerce Search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583680" y="2560320"/>
            <a:ext cx="499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dirty="0">
                <a:solidFill>
                  <a:srgbClr val="1A1A1A"/>
                </a:solidFill>
                <a:latin typeface="Calibri" panose="020F0502020204030204"/>
              </a:rPr>
              <a:t>Find products using text descriptions, images, or combination of both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9600" y="4389120"/>
            <a:ext cx="548640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843C0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600" y="4389120"/>
            <a:ext cx="5486400" cy="609600"/>
          </a:xfrm>
          <a:prstGeom prst="rect">
            <a:avLst/>
          </a:prstGeom>
          <a:solidFill>
            <a:srgbClr val="843C0C"/>
          </a:solidFill>
          <a:ln/>
        </p:spPr>
      </p:sp>
      <p:sp>
        <p:nvSpPr>
          <p:cNvPr id="13" name="Text 11"/>
          <p:cNvSpPr/>
          <p:nvPr/>
        </p:nvSpPr>
        <p:spPr>
          <a:xfrm>
            <a:off x="853440" y="4511040"/>
            <a:ext cx="499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b="1" dirty="0">
                <a:solidFill>
                  <a:srgbClr val="FFFFFF"/>
                </a:solidFill>
                <a:latin typeface="Calibri" panose="020F0502020204030204"/>
              </a:rPr>
              <a:t>Content Moderation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53440" y="5242560"/>
            <a:ext cx="499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dirty="0">
                <a:solidFill>
                  <a:srgbClr val="1A1A1A"/>
                </a:solidFill>
                <a:latin typeface="Calibri" panose="020F0502020204030204"/>
              </a:rPr>
              <a:t>Detect harmful content across text, images, and video platforms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339840" y="4389120"/>
            <a:ext cx="548640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843C0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39840" y="4389120"/>
            <a:ext cx="5486400" cy="609600"/>
          </a:xfrm>
          <a:prstGeom prst="rect">
            <a:avLst/>
          </a:prstGeom>
          <a:solidFill>
            <a:srgbClr val="843C0C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4511040"/>
            <a:ext cx="499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b="1" dirty="0">
                <a:solidFill>
                  <a:srgbClr val="FFFFFF"/>
                </a:solidFill>
                <a:latin typeface="Calibri" panose="020F0502020204030204"/>
              </a:rPr>
              <a:t>Legal Research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583680" y="5242560"/>
            <a:ext cx="499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dirty="0">
                <a:solidFill>
                  <a:srgbClr val="1A1A1A"/>
                </a:solidFill>
                <a:latin typeface="Calibri" panose="020F0502020204030204"/>
              </a:rPr>
              <a:t>Search through documents, evidence photos, and audio transcripts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0"/>
          <p:cNvSpPr/>
          <p:nvPr/>
        </p:nvSpPr>
        <p:spPr>
          <a:xfrm>
            <a:off x="609600" y="487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5333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Multimodal RAG?</a:t>
            </a:r>
            <a:endParaRPr lang="en-US" sz="5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467073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432620" y="700712"/>
            <a:ext cx="7472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REAL WORLD USE CASES</a:t>
            </a:r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9418392" y="-4793"/>
            <a:ext cx="2604546" cy="642552"/>
            <a:chOff x="8503992" y="95295"/>
            <a:chExt cx="3439354" cy="800395"/>
          </a:xfrm>
        </p:grpSpPr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25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26186" y="127929"/>
              <a:ext cx="817160" cy="7677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104511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53440" y="1828800"/>
            <a:ext cx="487680" cy="487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84960" y="1828800"/>
            <a:ext cx="3657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843C0C"/>
                </a:solidFill>
                <a:latin typeface="Calibri" panose="020F0502020204030204"/>
              </a:rPr>
              <a:t>Computational Cost</a:t>
            </a:r>
            <a:endParaRPr lang="en-US" sz="2133" dirty="0">
              <a:solidFill>
                <a:srgbClr val="843C0C"/>
              </a:solidFill>
              <a:latin typeface="Calibri" panose="020F0502020204030204"/>
            </a:endParaRPr>
          </a:p>
        </p:txBody>
      </p:sp>
      <p:sp>
        <p:nvSpPr>
          <p:cNvPr id="5" name="Text 2"/>
          <p:cNvSpPr/>
          <p:nvPr/>
        </p:nvSpPr>
        <p:spPr>
          <a:xfrm>
            <a:off x="1584960" y="2316480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dirty="0">
                <a:solidFill>
                  <a:srgbClr val="5A5A5A"/>
                </a:solidFill>
                <a:latin typeface="Calibri" panose="020F0502020204030204"/>
              </a:rPr>
              <a:t>Processing and storing embeddings for multiple modalities requires significant resources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53440" y="3048000"/>
            <a:ext cx="487680" cy="487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84960" y="3048000"/>
            <a:ext cx="3657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843C0C"/>
                </a:solidFill>
                <a:latin typeface="Calibri" panose="020F0502020204030204"/>
              </a:rPr>
              <a:t>Data Alignment</a:t>
            </a:r>
            <a:endParaRPr lang="en-US" sz="2133" dirty="0">
              <a:solidFill>
                <a:srgbClr val="843C0C"/>
              </a:solidFill>
              <a:latin typeface="Calibri" panose="020F0502020204030204"/>
            </a:endParaRPr>
          </a:p>
        </p:txBody>
      </p:sp>
      <p:sp>
        <p:nvSpPr>
          <p:cNvPr id="8" name="Text 4"/>
          <p:cNvSpPr/>
          <p:nvPr/>
        </p:nvSpPr>
        <p:spPr>
          <a:xfrm>
            <a:off x="1584960" y="3535680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dirty="0">
                <a:solidFill>
                  <a:srgbClr val="5A5A5A"/>
                </a:solidFill>
                <a:latin typeface="Calibri" panose="020F0502020204030204"/>
              </a:rPr>
              <a:t>Ensuring different modalities are properly synchronized and contextually linked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53440" y="4267200"/>
            <a:ext cx="487680" cy="4876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84960" y="4267200"/>
            <a:ext cx="3657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843C0C"/>
                </a:solidFill>
                <a:latin typeface="Calibri" panose="020F0502020204030204"/>
              </a:rPr>
              <a:t>Quality Control</a:t>
            </a:r>
            <a:endParaRPr lang="en-US" sz="2133" dirty="0">
              <a:solidFill>
                <a:srgbClr val="843C0C"/>
              </a:solidFill>
              <a:latin typeface="Calibri" panose="020F0502020204030204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584960" y="4754880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dirty="0">
                <a:solidFill>
                  <a:srgbClr val="5A5A5A"/>
                </a:solidFill>
                <a:latin typeface="Calibri" panose="020F0502020204030204"/>
              </a:rPr>
              <a:t>Maintaining accuracy across diverse data types and retrieval scenarios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53440" y="5555226"/>
            <a:ext cx="487680" cy="41885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84960" y="5486400"/>
            <a:ext cx="3657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843C0C"/>
                </a:solidFill>
                <a:latin typeface="Calibri" panose="020F0502020204030204"/>
              </a:rPr>
              <a:t>Latency Optimization</a:t>
            </a:r>
            <a:endParaRPr lang="en-US" sz="2133" dirty="0">
              <a:solidFill>
                <a:srgbClr val="843C0C"/>
              </a:solidFill>
              <a:latin typeface="Calibri" panose="020F0502020204030204"/>
            </a:endParaRPr>
          </a:p>
        </p:txBody>
      </p:sp>
      <p:sp>
        <p:nvSpPr>
          <p:cNvPr id="14" name="Text 8"/>
          <p:cNvSpPr/>
          <p:nvPr/>
        </p:nvSpPr>
        <p:spPr>
          <a:xfrm>
            <a:off x="1584960" y="5974080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dirty="0">
                <a:solidFill>
                  <a:srgbClr val="5A5A5A"/>
                </a:solidFill>
                <a:latin typeface="Calibri" panose="020F0502020204030204"/>
              </a:rPr>
              <a:t>Balancing retrieval quality with response time for real-time applications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0"/>
          <p:cNvSpPr/>
          <p:nvPr/>
        </p:nvSpPr>
        <p:spPr>
          <a:xfrm>
            <a:off x="609600" y="487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5333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Multimodal RAG?</a:t>
            </a:r>
            <a:endParaRPr lang="en-US" sz="5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467073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432620" y="700712"/>
            <a:ext cx="7472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CHALLENGES &amp; CONSIDERATION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9418392" y="-4793"/>
            <a:ext cx="2604546" cy="642552"/>
            <a:chOff x="8503992" y="95295"/>
            <a:chExt cx="3439354" cy="800395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21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126186" y="127929"/>
              <a:ext cx="817160" cy="7677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364626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43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8503992" y="95295"/>
            <a:ext cx="3441880" cy="800395"/>
            <a:chOff x="8503992" y="95295"/>
            <a:chExt cx="3441880" cy="800395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15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26186" y="127928"/>
              <a:ext cx="819686" cy="754791"/>
            </a:xfrm>
            <a:prstGeom prst="rect">
              <a:avLst/>
            </a:prstGeom>
          </p:spPr>
        </p:pic>
      </p:grpSp>
      <p:sp>
        <p:nvSpPr>
          <p:cNvPr id="19" name="TextBox 18"/>
          <p:cNvSpPr txBox="1"/>
          <p:nvPr/>
        </p:nvSpPr>
        <p:spPr>
          <a:xfrm>
            <a:off x="7006887" y="182910"/>
            <a:ext cx="18779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bg2"/>
                </a:solidFill>
              </a:rPr>
              <a:t>IMAGE ANALYSIS LAB</a:t>
            </a:r>
            <a:endParaRPr lang="en-US" sz="1600" b="1" dirty="0">
              <a:solidFill>
                <a:schemeClr val="bg2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43124" y="3336801"/>
            <a:ext cx="80805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843C0C"/>
                </a:solidFill>
              </a:rPr>
              <a:t>Integration of RAG in Healthcare Applications </a:t>
            </a:r>
            <a:endParaRPr lang="en-US" sz="2800" dirty="0">
              <a:solidFill>
                <a:srgbClr val="843C0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6828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1443"/>
            <a:ext cx="12192000" cy="1310857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32620" y="735083"/>
            <a:ext cx="74725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MAJOR ISSUES WHEN USING HEALTHCARE APPLICATIONS 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4286BF-E51B-4703-8315-FCE50EFF4290}"/>
              </a:ext>
            </a:extLst>
          </p:cNvPr>
          <p:cNvSpPr txBox="1"/>
          <p:nvPr/>
        </p:nvSpPr>
        <p:spPr>
          <a:xfrm>
            <a:off x="11724959" y="6488668"/>
            <a:ext cx="934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noProof="0" dirty="0" smtClean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24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9418392" y="29578"/>
            <a:ext cx="2604546" cy="642552"/>
            <a:chOff x="8503992" y="95295"/>
            <a:chExt cx="3439354" cy="800395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11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26186" y="127929"/>
              <a:ext cx="817160" cy="767761"/>
            </a:xfrm>
            <a:prstGeom prst="rect">
              <a:avLst/>
            </a:prstGeom>
          </p:spPr>
        </p:pic>
      </p:grpSp>
      <p:sp>
        <p:nvSpPr>
          <p:cNvPr id="12" name="Rounded Rectangle 11"/>
          <p:cNvSpPr/>
          <p:nvPr/>
        </p:nvSpPr>
        <p:spPr>
          <a:xfrm>
            <a:off x="1868129" y="2379406"/>
            <a:ext cx="8652387" cy="3460955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2015614" y="2526890"/>
            <a:ext cx="8357418" cy="3175820"/>
          </a:xfrm>
          <a:prstGeom prst="roundRect">
            <a:avLst/>
          </a:prstGeom>
          <a:ln>
            <a:solidFill>
              <a:srgbClr val="843C0C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924232" y="3046104"/>
            <a:ext cx="2045109" cy="2115831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rgbClr val="843C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1000431" y="3150290"/>
            <a:ext cx="1892709" cy="190745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843C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582" y="3355486"/>
            <a:ext cx="1429289" cy="144375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167291" y="2630605"/>
            <a:ext cx="6695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843C0C"/>
                </a:solidFill>
              </a:rPr>
              <a:t>PROBLEM: </a:t>
            </a:r>
            <a:endParaRPr lang="en-US" sz="2400" b="1" dirty="0">
              <a:solidFill>
                <a:srgbClr val="843C0C"/>
              </a:solidFill>
            </a:endParaRPr>
          </a:p>
          <a:p>
            <a:endParaRPr lang="en-US" sz="2400" dirty="0" smtClean="0"/>
          </a:p>
        </p:txBody>
      </p:sp>
      <p:sp>
        <p:nvSpPr>
          <p:cNvPr id="18" name="TextBox 14"/>
          <p:cNvSpPr txBox="1"/>
          <p:nvPr/>
        </p:nvSpPr>
        <p:spPr>
          <a:xfrm>
            <a:off x="2840087" y="3122088"/>
            <a:ext cx="8242941" cy="2744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ea typeface="Poppins"/>
                <a:cs typeface="Poppins"/>
                <a:sym typeface="Poppins"/>
              </a:rPr>
              <a:t>Medical QA requires step-by-step clinical reasoning</a:t>
            </a: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ea typeface="Poppins"/>
                <a:cs typeface="Poppins"/>
                <a:sym typeface="Poppins"/>
              </a:rPr>
              <a:t>Vanilla RAG retrieves facts but fails to reason explicitly</a:t>
            </a: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dirty="0" err="1">
                <a:solidFill>
                  <a:srgbClr val="000000"/>
                </a:solidFill>
                <a:ea typeface="Poppins"/>
                <a:cs typeface="Poppins"/>
                <a:sym typeface="Poppins"/>
              </a:rPr>
              <a:t>CoT</a:t>
            </a:r>
            <a:r>
              <a:rPr lang="en-US" dirty="0">
                <a:solidFill>
                  <a:srgbClr val="000000"/>
                </a:solidFill>
                <a:ea typeface="Poppins"/>
                <a:cs typeface="Poppins"/>
                <a:sym typeface="Poppins"/>
              </a:rPr>
              <a:t> improves reasoning but hallucinates without grounding</a:t>
            </a: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ea typeface="Poppins"/>
                <a:cs typeface="Poppins"/>
                <a:sym typeface="Poppins"/>
              </a:rPr>
              <a:t>Medical images require contextual comparison</a:t>
            </a: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ea typeface="Poppins"/>
                <a:cs typeface="Poppins"/>
                <a:sym typeface="Poppins"/>
              </a:rPr>
              <a:t>Vision-Language Models lack clinical grounding and struggle with </a:t>
            </a:r>
            <a:endParaRPr lang="en-US" dirty="0" smtClean="0">
              <a:solidFill>
                <a:srgbClr val="000000"/>
              </a:solidFill>
              <a:ea typeface="Poppins"/>
              <a:cs typeface="Poppins"/>
              <a:sym typeface="Poppins"/>
            </a:endParaRPr>
          </a:p>
          <a:p>
            <a:pPr marL="237490" lvl="1" algn="l">
              <a:lnSpc>
                <a:spcPts val="3080"/>
              </a:lnSpc>
            </a:pPr>
            <a:r>
              <a:rPr lang="en-US" dirty="0">
                <a:solidFill>
                  <a:srgbClr val="000000"/>
                </a:solidFill>
                <a:ea typeface="Poppins"/>
                <a:cs typeface="Poppins"/>
                <a:sym typeface="Poppins"/>
              </a:rPr>
              <a:t> </a:t>
            </a:r>
            <a:r>
              <a:rPr lang="en-US" dirty="0" smtClean="0">
                <a:solidFill>
                  <a:srgbClr val="000000"/>
                </a:solidFill>
                <a:ea typeface="Poppins"/>
                <a:cs typeface="Poppins"/>
                <a:sym typeface="Poppins"/>
              </a:rPr>
              <a:t>   rare </a:t>
            </a:r>
            <a:r>
              <a:rPr lang="en-US" dirty="0">
                <a:solidFill>
                  <a:srgbClr val="000000"/>
                </a:solidFill>
                <a:ea typeface="Poppins"/>
                <a:cs typeface="Poppins"/>
                <a:sym typeface="Poppins"/>
              </a:rPr>
              <a:t>cases</a:t>
            </a:r>
          </a:p>
          <a:p>
            <a:pPr algn="l">
              <a:lnSpc>
                <a:spcPts val="2800"/>
              </a:lnSpc>
            </a:pPr>
            <a:endParaRPr lang="en-US" sz="22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01849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1444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32620" y="735083"/>
            <a:ext cx="7472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RAG SOLUTION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Round Same Side Corner Rectangle 5"/>
          <p:cNvSpPr/>
          <p:nvPr/>
        </p:nvSpPr>
        <p:spPr>
          <a:xfrm>
            <a:off x="3500284" y="1533832"/>
            <a:ext cx="5132439" cy="157316"/>
          </a:xfrm>
          <a:prstGeom prst="round2Same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4286BF-E51B-4703-8315-FCE50EFF4290}"/>
              </a:ext>
            </a:extLst>
          </p:cNvPr>
          <p:cNvSpPr txBox="1"/>
          <p:nvPr/>
        </p:nvSpPr>
        <p:spPr>
          <a:xfrm>
            <a:off x="11724959" y="6488668"/>
            <a:ext cx="934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noProof="0" dirty="0" smtClean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25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9418392" y="29578"/>
            <a:ext cx="2604546" cy="642552"/>
            <a:chOff x="8503992" y="95295"/>
            <a:chExt cx="3439354" cy="800395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11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26186" y="127929"/>
              <a:ext cx="817160" cy="767761"/>
            </a:xfrm>
            <a:prstGeom prst="rect">
              <a:avLst/>
            </a:prstGeom>
          </p:spPr>
        </p:pic>
      </p:grpSp>
      <p:grpSp>
        <p:nvGrpSpPr>
          <p:cNvPr id="5" name="Group 4"/>
          <p:cNvGrpSpPr/>
          <p:nvPr/>
        </p:nvGrpSpPr>
        <p:grpSpPr>
          <a:xfrm>
            <a:off x="1329228" y="2288790"/>
            <a:ext cx="9777135" cy="3444919"/>
            <a:chOff x="1339503" y="1756644"/>
            <a:chExt cx="9777135" cy="3444919"/>
          </a:xfrm>
        </p:grpSpPr>
        <p:sp>
          <p:nvSpPr>
            <p:cNvPr id="22" name="Freeform 19"/>
            <p:cNvSpPr/>
            <p:nvPr/>
          </p:nvSpPr>
          <p:spPr>
            <a:xfrm>
              <a:off x="2528955" y="4746556"/>
              <a:ext cx="382205" cy="455007"/>
            </a:xfrm>
            <a:custGeom>
              <a:avLst/>
              <a:gdLst/>
              <a:ahLst/>
              <a:cxnLst/>
              <a:rect l="l" t="t" r="r" b="b"/>
              <a:pathLst>
                <a:path w="382205" h="455007">
                  <a:moveTo>
                    <a:pt x="0" y="0"/>
                  </a:moveTo>
                  <a:lnTo>
                    <a:pt x="382206" y="0"/>
                  </a:lnTo>
                  <a:lnTo>
                    <a:pt x="382206" y="455007"/>
                  </a:lnTo>
                  <a:lnTo>
                    <a:pt x="0" y="455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=""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3"/>
            <p:cNvSpPr txBox="1"/>
            <p:nvPr/>
          </p:nvSpPr>
          <p:spPr>
            <a:xfrm>
              <a:off x="1339503" y="2822121"/>
              <a:ext cx="4876362" cy="215443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31801" lvl="1" indent="-215900" algn="l">
                <a:lnSpc>
                  <a:spcPts val="2800"/>
                </a:lnSpc>
                <a:buFont typeface="Arial"/>
                <a:buChar char="•"/>
              </a:pPr>
              <a:r>
                <a:rPr lang="en-US" sz="2000" dirty="0">
                  <a:solidFill>
                    <a:srgbClr val="0B0A0A"/>
                  </a:solidFill>
                  <a:latin typeface="Trebuchet MS" panose="020B0603020202020204" pitchFamily="34" charset="0"/>
                  <a:ea typeface="Poppins Semi-Bold"/>
                  <a:cs typeface="Poppins Semi-Bold"/>
                  <a:sym typeface="Poppins Semi-Bold"/>
                </a:rPr>
                <a:t>Medical Query Input</a:t>
              </a:r>
            </a:p>
            <a:p>
              <a:pPr marL="431801" lvl="1" indent="-215900" algn="l">
                <a:lnSpc>
                  <a:spcPts val="2800"/>
                </a:lnSpc>
                <a:buFont typeface="Arial"/>
                <a:buChar char="•"/>
              </a:pPr>
              <a:r>
                <a:rPr lang="en-US" sz="2000" dirty="0">
                  <a:solidFill>
                    <a:srgbClr val="0B0A0A"/>
                  </a:solidFill>
                  <a:latin typeface="Trebuchet MS" panose="020B0603020202020204" pitchFamily="34" charset="0"/>
                  <a:ea typeface="Poppins Semi-Bold"/>
                  <a:cs typeface="Poppins Semi-Bold"/>
                  <a:sym typeface="Poppins Semi-Bold"/>
                </a:rPr>
                <a:t>Query Reformulation (</a:t>
              </a:r>
              <a:r>
                <a:rPr lang="en-US" sz="2000" dirty="0" err="1">
                  <a:solidFill>
                    <a:srgbClr val="0B0A0A"/>
                  </a:solidFill>
                  <a:latin typeface="Trebuchet MS" panose="020B0603020202020204" pitchFamily="34" charset="0"/>
                  <a:ea typeface="Poppins Semi-Bold"/>
                  <a:cs typeface="Poppins Semi-Bold"/>
                  <a:sym typeface="Poppins Semi-Bold"/>
                </a:rPr>
                <a:t>CoT</a:t>
              </a:r>
              <a:r>
                <a:rPr lang="en-US" sz="2000" dirty="0">
                  <a:solidFill>
                    <a:srgbClr val="0B0A0A"/>
                  </a:solidFill>
                  <a:latin typeface="Trebuchet MS" panose="020B0603020202020204" pitchFamily="34" charset="0"/>
                  <a:ea typeface="Poppins Semi-Bold"/>
                  <a:cs typeface="Poppins Semi-Bold"/>
                  <a:sym typeface="Poppins Semi-Bold"/>
                </a:rPr>
                <a:t>-aware)</a:t>
              </a:r>
            </a:p>
            <a:p>
              <a:pPr marL="431801" lvl="1" indent="-215900" algn="l">
                <a:lnSpc>
                  <a:spcPts val="2800"/>
                </a:lnSpc>
                <a:buFont typeface="Arial"/>
                <a:buChar char="•"/>
              </a:pPr>
              <a:r>
                <a:rPr lang="en-US" sz="2000" dirty="0">
                  <a:solidFill>
                    <a:srgbClr val="0B0A0A"/>
                  </a:solidFill>
                  <a:latin typeface="Trebuchet MS" panose="020B0603020202020204" pitchFamily="34" charset="0"/>
                  <a:ea typeface="Poppins Semi-Bold"/>
                  <a:cs typeface="Poppins Semi-Bold"/>
                  <a:sym typeface="Poppins Semi-Bold"/>
                </a:rPr>
                <a:t>Document Retrieval (RAG)</a:t>
              </a:r>
            </a:p>
            <a:p>
              <a:pPr marL="431801" lvl="1" indent="-215900" algn="l">
                <a:lnSpc>
                  <a:spcPts val="2800"/>
                </a:lnSpc>
                <a:buFont typeface="Arial"/>
                <a:buChar char="•"/>
              </a:pPr>
              <a:r>
                <a:rPr lang="en-US" sz="2000" dirty="0">
                  <a:solidFill>
                    <a:srgbClr val="0B0A0A"/>
                  </a:solidFill>
                  <a:latin typeface="Trebuchet MS" panose="020B0603020202020204" pitchFamily="34" charset="0"/>
                  <a:ea typeface="Poppins Semi-Bold"/>
                  <a:cs typeface="Poppins Semi-Bold"/>
                  <a:sym typeface="Poppins Semi-Bold"/>
                </a:rPr>
                <a:t>Evidence-Grounded Chain-of-Thought</a:t>
              </a:r>
            </a:p>
            <a:p>
              <a:pPr marL="431801" lvl="1" indent="-215900" algn="l">
                <a:lnSpc>
                  <a:spcPts val="2800"/>
                </a:lnSpc>
                <a:buFont typeface="Arial"/>
                <a:buChar char="•"/>
              </a:pPr>
              <a:r>
                <a:rPr lang="en-US" sz="2000" dirty="0">
                  <a:solidFill>
                    <a:srgbClr val="0B0A0A"/>
                  </a:solidFill>
                  <a:latin typeface="Trebuchet MS" panose="020B0603020202020204" pitchFamily="34" charset="0"/>
                  <a:ea typeface="Poppins Semi-Bold"/>
                  <a:cs typeface="Poppins Semi-Bold"/>
                  <a:sym typeface="Poppins Semi-Bold"/>
                </a:rPr>
                <a:t>Final Medical Answer</a:t>
              </a:r>
            </a:p>
            <a:p>
              <a:pPr algn="l">
                <a:lnSpc>
                  <a:spcPts val="2800"/>
                </a:lnSpc>
              </a:pPr>
              <a:endParaRPr lang="en-US" sz="2000" b="1" dirty="0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endParaRPr>
            </a:p>
          </p:txBody>
        </p:sp>
        <p:sp>
          <p:nvSpPr>
            <p:cNvPr id="26" name="TextBox 24"/>
            <p:cNvSpPr txBox="1"/>
            <p:nvPr/>
          </p:nvSpPr>
          <p:spPr>
            <a:xfrm>
              <a:off x="6764993" y="2755463"/>
              <a:ext cx="4351645" cy="215443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31801" lvl="1" indent="-215900" algn="l">
                <a:lnSpc>
                  <a:spcPts val="2800"/>
                </a:lnSpc>
                <a:buFont typeface="Arial"/>
                <a:buChar char="•"/>
              </a:pPr>
              <a:r>
                <a:rPr lang="en-US" sz="2000" dirty="0">
                  <a:solidFill>
                    <a:srgbClr val="0B0A0A"/>
                  </a:solidFill>
                  <a:latin typeface="Trebuchet MS" panose="020B0603020202020204" pitchFamily="34" charset="0"/>
                  <a:ea typeface="Poppins Semi-Bold"/>
                  <a:cs typeface="Poppins Semi-Bold"/>
                  <a:sym typeface="Poppins Semi-Bold"/>
                </a:rPr>
                <a:t>Input Medical Image</a:t>
              </a:r>
            </a:p>
            <a:p>
              <a:pPr marL="431801" lvl="1" indent="-215900" algn="l">
                <a:lnSpc>
                  <a:spcPts val="2800"/>
                </a:lnSpc>
                <a:buFont typeface="Arial"/>
                <a:buChar char="•"/>
              </a:pPr>
              <a:r>
                <a:rPr lang="en-US" sz="2000" dirty="0">
                  <a:solidFill>
                    <a:srgbClr val="0B0A0A"/>
                  </a:solidFill>
                  <a:latin typeface="Trebuchet MS" panose="020B0603020202020204" pitchFamily="34" charset="0"/>
                  <a:ea typeface="Poppins Semi-Bold"/>
                  <a:cs typeface="Poppins Semi-Bold"/>
                  <a:sym typeface="Poppins Semi-Bold"/>
                </a:rPr>
                <a:t>Image Feature Encoding</a:t>
              </a:r>
            </a:p>
            <a:p>
              <a:pPr marL="431801" lvl="1" indent="-215900" algn="l">
                <a:lnSpc>
                  <a:spcPts val="2800"/>
                </a:lnSpc>
                <a:buFont typeface="Arial"/>
                <a:buChar char="•"/>
              </a:pPr>
              <a:r>
                <a:rPr lang="en-US" sz="2000" dirty="0">
                  <a:solidFill>
                    <a:srgbClr val="0B0A0A"/>
                  </a:solidFill>
                  <a:latin typeface="Trebuchet MS" panose="020B0603020202020204" pitchFamily="34" charset="0"/>
                  <a:ea typeface="Poppins Semi-Bold"/>
                  <a:cs typeface="Poppins Semi-Bold"/>
                  <a:sym typeface="Poppins Semi-Bold"/>
                </a:rPr>
                <a:t>Medical Image Retrieval</a:t>
              </a:r>
            </a:p>
            <a:p>
              <a:pPr marL="431801" lvl="1" indent="-215900" algn="l">
                <a:lnSpc>
                  <a:spcPts val="2800"/>
                </a:lnSpc>
                <a:buFont typeface="Arial"/>
                <a:buChar char="•"/>
              </a:pPr>
              <a:r>
                <a:rPr lang="en-US" sz="2000" dirty="0">
                  <a:solidFill>
                    <a:srgbClr val="0B0A0A"/>
                  </a:solidFill>
                  <a:latin typeface="Trebuchet MS" panose="020B0603020202020204" pitchFamily="34" charset="0"/>
                  <a:ea typeface="Poppins Semi-Bold"/>
                  <a:cs typeface="Poppins Semi-Bold"/>
                  <a:sym typeface="Poppins Semi-Bold"/>
                </a:rPr>
                <a:t>Textual &amp; Visual Evidence Fusion</a:t>
              </a:r>
            </a:p>
            <a:p>
              <a:pPr marL="431801" lvl="1" indent="-215900" algn="l">
                <a:lnSpc>
                  <a:spcPts val="2800"/>
                </a:lnSpc>
                <a:buFont typeface="Arial"/>
                <a:buChar char="•"/>
              </a:pPr>
              <a:r>
                <a:rPr lang="en-US" sz="2000" dirty="0">
                  <a:solidFill>
                    <a:srgbClr val="0B0A0A"/>
                  </a:solidFill>
                  <a:latin typeface="Trebuchet MS" panose="020B0603020202020204" pitchFamily="34" charset="0"/>
                  <a:ea typeface="Poppins Semi-Bold"/>
                  <a:cs typeface="Poppins Semi-Bold"/>
                  <a:sym typeface="Poppins Semi-Bold"/>
                </a:rPr>
                <a:t>LLM-Based Answer Generation</a:t>
              </a:r>
            </a:p>
            <a:p>
              <a:pPr algn="l">
                <a:lnSpc>
                  <a:spcPts val="2800"/>
                </a:lnSpc>
              </a:pPr>
              <a:endParaRPr lang="en-US" sz="2000" b="1" dirty="0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endParaRPr>
            </a:p>
          </p:txBody>
        </p:sp>
        <p:sp>
          <p:nvSpPr>
            <p:cNvPr id="28" name="Freeform 29"/>
            <p:cNvSpPr/>
            <p:nvPr/>
          </p:nvSpPr>
          <p:spPr>
            <a:xfrm>
              <a:off x="1472371" y="1959258"/>
              <a:ext cx="3428402" cy="583234"/>
            </a:xfrm>
            <a:custGeom>
              <a:avLst/>
              <a:gdLst/>
              <a:ahLst/>
              <a:cxnLst/>
              <a:rect l="l" t="t" r="r" b="b"/>
              <a:pathLst>
                <a:path w="902954" h="153609">
                  <a:moveTo>
                    <a:pt x="76804" y="0"/>
                  </a:moveTo>
                  <a:lnTo>
                    <a:pt x="826149" y="0"/>
                  </a:lnTo>
                  <a:cubicBezTo>
                    <a:pt x="846519" y="0"/>
                    <a:pt x="866055" y="8092"/>
                    <a:pt x="880458" y="22496"/>
                  </a:cubicBezTo>
                  <a:cubicBezTo>
                    <a:pt x="894862" y="36899"/>
                    <a:pt x="902954" y="56435"/>
                    <a:pt x="902954" y="76804"/>
                  </a:cubicBezTo>
                  <a:lnTo>
                    <a:pt x="902954" y="76804"/>
                  </a:lnTo>
                  <a:cubicBezTo>
                    <a:pt x="902954" y="97174"/>
                    <a:pt x="894862" y="116710"/>
                    <a:pt x="880458" y="131113"/>
                  </a:cubicBezTo>
                  <a:cubicBezTo>
                    <a:pt x="866055" y="145517"/>
                    <a:pt x="846519" y="153609"/>
                    <a:pt x="826149" y="153609"/>
                  </a:cubicBezTo>
                  <a:lnTo>
                    <a:pt x="76804" y="153609"/>
                  </a:lnTo>
                  <a:cubicBezTo>
                    <a:pt x="56435" y="153609"/>
                    <a:pt x="36899" y="145517"/>
                    <a:pt x="22496" y="131113"/>
                  </a:cubicBezTo>
                  <a:cubicBezTo>
                    <a:pt x="8092" y="116710"/>
                    <a:pt x="0" y="97174"/>
                    <a:pt x="0" y="76804"/>
                  </a:cubicBezTo>
                  <a:lnTo>
                    <a:pt x="0" y="76804"/>
                  </a:lnTo>
                  <a:cubicBezTo>
                    <a:pt x="0" y="56435"/>
                    <a:pt x="8092" y="36899"/>
                    <a:pt x="22496" y="22496"/>
                  </a:cubicBezTo>
                  <a:cubicBezTo>
                    <a:pt x="36899" y="8092"/>
                    <a:pt x="56435" y="0"/>
                    <a:pt x="76804" y="0"/>
                  </a:cubicBezTo>
                  <a:close/>
                </a:path>
              </a:pathLst>
            </a:custGeom>
            <a:solidFill>
              <a:srgbClr val="7B88F8"/>
            </a:solidFill>
          </p:spPr>
        </p:sp>
        <p:sp>
          <p:nvSpPr>
            <p:cNvPr id="29" name="TextBox 30"/>
            <p:cNvSpPr txBox="1"/>
            <p:nvPr/>
          </p:nvSpPr>
          <p:spPr>
            <a:xfrm>
              <a:off x="1339503" y="1806260"/>
              <a:ext cx="3428402" cy="9087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 dirty="0">
                  <a:solidFill>
                    <a:schemeClr val="bg1"/>
                  </a:solidFill>
                  <a:latin typeface="Agrandir"/>
                  <a:ea typeface="Agrandir"/>
                  <a:cs typeface="Agrandir"/>
                  <a:sym typeface="Agrandir"/>
                </a:rPr>
                <a:t>Med-</a:t>
              </a:r>
              <a:r>
                <a:rPr lang="en-US" sz="1599" b="1" dirty="0" err="1">
                  <a:solidFill>
                    <a:schemeClr val="bg1"/>
                  </a:solidFill>
                  <a:latin typeface="Agrandir"/>
                  <a:ea typeface="Agrandir"/>
                  <a:cs typeface="Agrandir"/>
                  <a:sym typeface="Agrandir"/>
                </a:rPr>
                <a:t>CoT</a:t>
              </a:r>
              <a:r>
                <a:rPr lang="en-US" sz="1599" b="1" dirty="0">
                  <a:solidFill>
                    <a:schemeClr val="bg1"/>
                  </a:solidFill>
                  <a:latin typeface="Agrandir"/>
                  <a:ea typeface="Agrandir"/>
                  <a:cs typeface="Agrandir"/>
                  <a:sym typeface="Agrandir"/>
                </a:rPr>
                <a:t>-RAG</a:t>
              </a:r>
            </a:p>
          </p:txBody>
        </p:sp>
        <p:sp>
          <p:nvSpPr>
            <p:cNvPr id="31" name="Freeform 32"/>
            <p:cNvSpPr/>
            <p:nvPr/>
          </p:nvSpPr>
          <p:spPr>
            <a:xfrm>
              <a:off x="6918522" y="1969004"/>
              <a:ext cx="3428402" cy="583234"/>
            </a:xfrm>
            <a:custGeom>
              <a:avLst/>
              <a:gdLst/>
              <a:ahLst/>
              <a:cxnLst/>
              <a:rect l="l" t="t" r="r" b="b"/>
              <a:pathLst>
                <a:path w="902954" h="153609">
                  <a:moveTo>
                    <a:pt x="76804" y="0"/>
                  </a:moveTo>
                  <a:lnTo>
                    <a:pt x="826149" y="0"/>
                  </a:lnTo>
                  <a:cubicBezTo>
                    <a:pt x="846519" y="0"/>
                    <a:pt x="866055" y="8092"/>
                    <a:pt x="880458" y="22496"/>
                  </a:cubicBezTo>
                  <a:cubicBezTo>
                    <a:pt x="894862" y="36899"/>
                    <a:pt x="902954" y="56435"/>
                    <a:pt x="902954" y="76804"/>
                  </a:cubicBezTo>
                  <a:lnTo>
                    <a:pt x="902954" y="76804"/>
                  </a:lnTo>
                  <a:cubicBezTo>
                    <a:pt x="902954" y="97174"/>
                    <a:pt x="894862" y="116710"/>
                    <a:pt x="880458" y="131113"/>
                  </a:cubicBezTo>
                  <a:cubicBezTo>
                    <a:pt x="866055" y="145517"/>
                    <a:pt x="846519" y="153609"/>
                    <a:pt x="826149" y="153609"/>
                  </a:cubicBezTo>
                  <a:lnTo>
                    <a:pt x="76804" y="153609"/>
                  </a:lnTo>
                  <a:cubicBezTo>
                    <a:pt x="56435" y="153609"/>
                    <a:pt x="36899" y="145517"/>
                    <a:pt x="22496" y="131113"/>
                  </a:cubicBezTo>
                  <a:cubicBezTo>
                    <a:pt x="8092" y="116710"/>
                    <a:pt x="0" y="97174"/>
                    <a:pt x="0" y="76804"/>
                  </a:cubicBezTo>
                  <a:lnTo>
                    <a:pt x="0" y="76804"/>
                  </a:lnTo>
                  <a:cubicBezTo>
                    <a:pt x="0" y="56435"/>
                    <a:pt x="8092" y="36899"/>
                    <a:pt x="22496" y="22496"/>
                  </a:cubicBezTo>
                  <a:cubicBezTo>
                    <a:pt x="36899" y="8092"/>
                    <a:pt x="56435" y="0"/>
                    <a:pt x="76804" y="0"/>
                  </a:cubicBezTo>
                  <a:close/>
                </a:path>
              </a:pathLst>
            </a:custGeom>
            <a:solidFill>
              <a:srgbClr val="7B88F8"/>
            </a:solidFill>
          </p:spPr>
        </p:sp>
        <p:sp>
          <p:nvSpPr>
            <p:cNvPr id="32" name="TextBox 33"/>
            <p:cNvSpPr txBox="1"/>
            <p:nvPr/>
          </p:nvSpPr>
          <p:spPr>
            <a:xfrm>
              <a:off x="6918522" y="1756644"/>
              <a:ext cx="3428402" cy="9087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 dirty="0">
                  <a:solidFill>
                    <a:schemeClr val="bg1"/>
                  </a:solidFill>
                  <a:latin typeface="Agrandir"/>
                  <a:ea typeface="Agrandir"/>
                  <a:cs typeface="Agrandir"/>
                  <a:sym typeface="Agrandir"/>
                </a:rPr>
                <a:t>MIRA-RTRA-</a:t>
              </a:r>
              <a:r>
                <a:rPr lang="en-US" sz="1599" b="1" dirty="0" err="1">
                  <a:solidFill>
                    <a:schemeClr val="bg1"/>
                  </a:solidFill>
                  <a:latin typeface="Agrandir"/>
                  <a:ea typeface="Agrandir"/>
                  <a:cs typeface="Agrandir"/>
                  <a:sym typeface="Agrandir"/>
                </a:rPr>
                <a:t>CoT</a:t>
              </a:r>
              <a:r>
                <a:rPr lang="en-US" sz="1599" b="1" dirty="0">
                  <a:solidFill>
                    <a:schemeClr val="bg1"/>
                  </a:solidFill>
                  <a:latin typeface="Agrandir"/>
                  <a:ea typeface="Agrandir"/>
                  <a:cs typeface="Agrandir"/>
                  <a:sym typeface="Agrandir"/>
                </a:rPr>
                <a:t>-RAG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0156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1444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32620" y="735083"/>
            <a:ext cx="7472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RAG Pipeline Understanding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Round Same Side Corner Rectangle 5"/>
          <p:cNvSpPr/>
          <p:nvPr/>
        </p:nvSpPr>
        <p:spPr>
          <a:xfrm>
            <a:off x="3500284" y="1533832"/>
            <a:ext cx="5132439" cy="157316"/>
          </a:xfrm>
          <a:prstGeom prst="round2Same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4286BF-E51B-4703-8315-FCE50EFF4290}"/>
              </a:ext>
            </a:extLst>
          </p:cNvPr>
          <p:cNvSpPr txBox="1"/>
          <p:nvPr/>
        </p:nvSpPr>
        <p:spPr>
          <a:xfrm>
            <a:off x="11724959" y="6488668"/>
            <a:ext cx="934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noProof="0" dirty="0" smtClean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26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9418392" y="29578"/>
            <a:ext cx="2604546" cy="642552"/>
            <a:chOff x="8503992" y="95295"/>
            <a:chExt cx="3439354" cy="800395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11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26186" y="127929"/>
              <a:ext cx="817160" cy="767761"/>
            </a:xfrm>
            <a:prstGeom prst="rect">
              <a:avLst/>
            </a:prstGeom>
          </p:spPr>
        </p:pic>
      </p:grpSp>
      <p:sp>
        <p:nvSpPr>
          <p:cNvPr id="12" name="Freeform 12"/>
          <p:cNvSpPr/>
          <p:nvPr/>
        </p:nvSpPr>
        <p:spPr>
          <a:xfrm>
            <a:off x="721635" y="2566220"/>
            <a:ext cx="5083264" cy="3355255"/>
          </a:xfrm>
          <a:custGeom>
            <a:avLst/>
            <a:gdLst/>
            <a:ahLst/>
            <a:cxnLst/>
            <a:rect l="l" t="t" r="r" b="b"/>
            <a:pathLst>
              <a:path w="6542678" h="5730644">
                <a:moveTo>
                  <a:pt x="0" y="0"/>
                </a:moveTo>
                <a:lnTo>
                  <a:pt x="6542678" y="0"/>
                </a:lnTo>
                <a:lnTo>
                  <a:pt x="6542678" y="5730644"/>
                </a:lnTo>
                <a:lnTo>
                  <a:pt x="0" y="57306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1"/>
          <p:cNvSpPr/>
          <p:nvPr/>
        </p:nvSpPr>
        <p:spPr>
          <a:xfrm>
            <a:off x="6488790" y="2352246"/>
            <a:ext cx="4848761" cy="3569221"/>
          </a:xfrm>
          <a:custGeom>
            <a:avLst/>
            <a:gdLst/>
            <a:ahLst/>
            <a:cxnLst/>
            <a:rect l="l" t="t" r="r" b="b"/>
            <a:pathLst>
              <a:path w="7847785" h="5757755">
                <a:moveTo>
                  <a:pt x="0" y="0"/>
                </a:moveTo>
                <a:lnTo>
                  <a:pt x="7847785" y="0"/>
                </a:lnTo>
                <a:lnTo>
                  <a:pt x="7847785" y="5757755"/>
                </a:lnTo>
                <a:lnTo>
                  <a:pt x="0" y="57577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1498"/>
            </a:stretch>
          </a:blipFill>
        </p:spPr>
      </p:sp>
      <p:sp>
        <p:nvSpPr>
          <p:cNvPr id="4" name="TextBox 3"/>
          <p:cNvSpPr txBox="1"/>
          <p:nvPr/>
        </p:nvSpPr>
        <p:spPr>
          <a:xfrm>
            <a:off x="1589291" y="1997591"/>
            <a:ext cx="38219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843C0C"/>
                </a:solidFill>
              </a:rPr>
              <a:t>CONVENTIONAL RAG</a:t>
            </a:r>
            <a:endParaRPr lang="en-US" sz="2000" b="1" dirty="0">
              <a:solidFill>
                <a:srgbClr val="843C0C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15193" y="1993054"/>
            <a:ext cx="38219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843C0C"/>
                </a:solidFill>
              </a:rPr>
              <a:t>MED-</a:t>
            </a:r>
            <a:r>
              <a:rPr lang="en-US" sz="2000" b="1" dirty="0" err="1" smtClean="0">
                <a:solidFill>
                  <a:srgbClr val="843C0C"/>
                </a:solidFill>
              </a:rPr>
              <a:t>CoT</a:t>
            </a:r>
            <a:r>
              <a:rPr lang="en-US" sz="2000" b="1" dirty="0" smtClean="0">
                <a:solidFill>
                  <a:srgbClr val="843C0C"/>
                </a:solidFill>
              </a:rPr>
              <a:t> RAG</a:t>
            </a:r>
            <a:endParaRPr lang="en-US" sz="2000" b="1" dirty="0">
              <a:solidFill>
                <a:srgbClr val="843C0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5107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1444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32620" y="735083"/>
            <a:ext cx="7472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End-to-End RAG Pipeline 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Round Same Side Corner Rectangle 5"/>
          <p:cNvSpPr/>
          <p:nvPr/>
        </p:nvSpPr>
        <p:spPr>
          <a:xfrm>
            <a:off x="3500284" y="1533832"/>
            <a:ext cx="5132439" cy="157316"/>
          </a:xfrm>
          <a:prstGeom prst="round2Same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4286BF-E51B-4703-8315-FCE50EFF4290}"/>
              </a:ext>
            </a:extLst>
          </p:cNvPr>
          <p:cNvSpPr txBox="1"/>
          <p:nvPr/>
        </p:nvSpPr>
        <p:spPr>
          <a:xfrm>
            <a:off x="11724959" y="6488668"/>
            <a:ext cx="934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noProof="0" dirty="0" smtClean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27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9418392" y="29578"/>
            <a:ext cx="2604546" cy="642552"/>
            <a:chOff x="8503992" y="95295"/>
            <a:chExt cx="3439354" cy="800395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11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26186" y="127929"/>
              <a:ext cx="817160" cy="767761"/>
            </a:xfrm>
            <a:prstGeom prst="rect">
              <a:avLst/>
            </a:prstGeom>
          </p:spPr>
        </p:pic>
      </p:grpSp>
      <p:sp>
        <p:nvSpPr>
          <p:cNvPr id="12" name="Freeform 14"/>
          <p:cNvSpPr/>
          <p:nvPr/>
        </p:nvSpPr>
        <p:spPr>
          <a:xfrm>
            <a:off x="2872759" y="2080986"/>
            <a:ext cx="7548958" cy="4407682"/>
          </a:xfrm>
          <a:custGeom>
            <a:avLst/>
            <a:gdLst/>
            <a:ahLst/>
            <a:cxnLst/>
            <a:rect l="l" t="t" r="r" b="b"/>
            <a:pathLst>
              <a:path w="12097934" h="6116967">
                <a:moveTo>
                  <a:pt x="0" y="0"/>
                </a:moveTo>
                <a:lnTo>
                  <a:pt x="12097934" y="0"/>
                </a:lnTo>
                <a:lnTo>
                  <a:pt x="12097934" y="6116966"/>
                </a:lnTo>
                <a:lnTo>
                  <a:pt x="0" y="61169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124"/>
            </a:stretch>
          </a:blipFill>
        </p:spPr>
      </p:sp>
      <p:sp>
        <p:nvSpPr>
          <p:cNvPr id="13" name="TextBox 12"/>
          <p:cNvSpPr txBox="1"/>
          <p:nvPr/>
        </p:nvSpPr>
        <p:spPr>
          <a:xfrm>
            <a:off x="-148637" y="3641918"/>
            <a:ext cx="38219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843C0C"/>
                </a:solidFill>
              </a:rPr>
              <a:t>MIRA</a:t>
            </a:r>
            <a:endParaRPr lang="en-US" sz="3200" b="1" dirty="0">
              <a:solidFill>
                <a:srgbClr val="843C0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654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1444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32620" y="735083"/>
            <a:ext cx="7472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Relevance to Medical Benefits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Round Same Side Corner Rectangle 5"/>
          <p:cNvSpPr/>
          <p:nvPr/>
        </p:nvSpPr>
        <p:spPr>
          <a:xfrm>
            <a:off x="3500284" y="1533832"/>
            <a:ext cx="5132439" cy="157316"/>
          </a:xfrm>
          <a:prstGeom prst="round2Same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4286BF-E51B-4703-8315-FCE50EFF4290}"/>
              </a:ext>
            </a:extLst>
          </p:cNvPr>
          <p:cNvSpPr txBox="1"/>
          <p:nvPr/>
        </p:nvSpPr>
        <p:spPr>
          <a:xfrm>
            <a:off x="11724959" y="6488668"/>
            <a:ext cx="934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noProof="0" dirty="0" smtClean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28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9418392" y="29578"/>
            <a:ext cx="2604546" cy="642552"/>
            <a:chOff x="8503992" y="95295"/>
            <a:chExt cx="3439354" cy="800395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11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26186" y="127929"/>
              <a:ext cx="817160" cy="767761"/>
            </a:xfrm>
            <a:prstGeom prst="rect">
              <a:avLst/>
            </a:prstGeom>
          </p:spPr>
        </p:pic>
      </p:grpSp>
      <p:grpSp>
        <p:nvGrpSpPr>
          <p:cNvPr id="22" name="Group 21"/>
          <p:cNvGrpSpPr/>
          <p:nvPr/>
        </p:nvGrpSpPr>
        <p:grpSpPr>
          <a:xfrm>
            <a:off x="4058593" y="5044677"/>
            <a:ext cx="4015819" cy="429701"/>
            <a:chOff x="1686435" y="4736451"/>
            <a:chExt cx="4015819" cy="429701"/>
          </a:xfrm>
        </p:grpSpPr>
        <p:sp>
          <p:nvSpPr>
            <p:cNvPr id="12" name="Freeform 4"/>
            <p:cNvSpPr/>
            <p:nvPr/>
          </p:nvSpPr>
          <p:spPr>
            <a:xfrm>
              <a:off x="1686435" y="4799372"/>
              <a:ext cx="366780" cy="366780"/>
            </a:xfrm>
            <a:custGeom>
              <a:avLst/>
              <a:gdLst/>
              <a:ahLst/>
              <a:cxnLst/>
              <a:rect l="l" t="t" r="r" b="b"/>
              <a:pathLst>
                <a:path w="366780" h="366780">
                  <a:moveTo>
                    <a:pt x="0" y="0"/>
                  </a:moveTo>
                  <a:lnTo>
                    <a:pt x="366780" y="0"/>
                  </a:lnTo>
                  <a:lnTo>
                    <a:pt x="366780" y="366780"/>
                  </a:lnTo>
                  <a:lnTo>
                    <a:pt x="0" y="366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96DAC541-7B7A-43D3-8B79-37D633B846F1}">
                    <asvg:svgBlip xmlns=""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TextBox 13"/>
            <p:cNvSpPr txBox="1"/>
            <p:nvPr/>
          </p:nvSpPr>
          <p:spPr>
            <a:xfrm>
              <a:off x="2163008" y="4736451"/>
              <a:ext cx="3539246" cy="4154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ct val="150000"/>
                </a:lnSpc>
                <a:spcBef>
                  <a:spcPct val="0"/>
                </a:spcBef>
              </a:pPr>
              <a:r>
                <a:rPr lang="en-US" b="1" dirty="0">
                  <a:solidFill>
                    <a:srgbClr val="843C0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Transparent reasoning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751486" y="2273722"/>
            <a:ext cx="3986238" cy="449814"/>
            <a:chOff x="1686435" y="1614801"/>
            <a:chExt cx="3986238" cy="449814"/>
          </a:xfrm>
        </p:grpSpPr>
        <p:sp>
          <p:nvSpPr>
            <p:cNvPr id="13" name="Freeform 5"/>
            <p:cNvSpPr/>
            <p:nvPr/>
          </p:nvSpPr>
          <p:spPr>
            <a:xfrm>
              <a:off x="1686435" y="1697835"/>
              <a:ext cx="366780" cy="366780"/>
            </a:xfrm>
            <a:custGeom>
              <a:avLst/>
              <a:gdLst/>
              <a:ahLst/>
              <a:cxnLst/>
              <a:rect l="l" t="t" r="r" b="b"/>
              <a:pathLst>
                <a:path w="366780" h="366780">
                  <a:moveTo>
                    <a:pt x="0" y="0"/>
                  </a:moveTo>
                  <a:lnTo>
                    <a:pt x="366780" y="0"/>
                  </a:lnTo>
                  <a:lnTo>
                    <a:pt x="366780" y="366781"/>
                  </a:lnTo>
                  <a:lnTo>
                    <a:pt x="0" y="3667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96DAC541-7B7A-43D3-8B79-37D633B846F1}">
                    <asvg:svgBlip xmlns=""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TextBox 14"/>
            <p:cNvSpPr txBox="1"/>
            <p:nvPr/>
          </p:nvSpPr>
          <p:spPr>
            <a:xfrm>
              <a:off x="2255476" y="1614801"/>
              <a:ext cx="3417197" cy="4154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ct val="150000"/>
                </a:lnSpc>
                <a:spcBef>
                  <a:spcPct val="0"/>
                </a:spcBef>
              </a:pPr>
              <a:r>
                <a:rPr lang="en-US" b="1" dirty="0">
                  <a:solidFill>
                    <a:srgbClr val="843C0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Reduced Hallucinations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6619002" y="2227498"/>
            <a:ext cx="4108287" cy="433455"/>
            <a:chOff x="1686435" y="6386236"/>
            <a:chExt cx="4108287" cy="433455"/>
          </a:xfrm>
        </p:grpSpPr>
        <p:sp>
          <p:nvSpPr>
            <p:cNvPr id="14" name="Freeform 6"/>
            <p:cNvSpPr/>
            <p:nvPr/>
          </p:nvSpPr>
          <p:spPr>
            <a:xfrm>
              <a:off x="1686435" y="6452911"/>
              <a:ext cx="366780" cy="366780"/>
            </a:xfrm>
            <a:custGeom>
              <a:avLst/>
              <a:gdLst/>
              <a:ahLst/>
              <a:cxnLst/>
              <a:rect l="l" t="t" r="r" b="b"/>
              <a:pathLst>
                <a:path w="366780" h="366780">
                  <a:moveTo>
                    <a:pt x="0" y="0"/>
                  </a:moveTo>
                  <a:lnTo>
                    <a:pt x="366780" y="0"/>
                  </a:lnTo>
                  <a:lnTo>
                    <a:pt x="366780" y="366781"/>
                  </a:lnTo>
                  <a:lnTo>
                    <a:pt x="0" y="3667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96DAC541-7B7A-43D3-8B79-37D633B846F1}">
                    <asvg:svgBlip xmlns=""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" name="TextBox 15"/>
            <p:cNvSpPr txBox="1"/>
            <p:nvPr/>
          </p:nvSpPr>
          <p:spPr>
            <a:xfrm>
              <a:off x="2255476" y="6386236"/>
              <a:ext cx="3539246" cy="4154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ct val="150000"/>
                </a:lnSpc>
                <a:spcBef>
                  <a:spcPct val="0"/>
                </a:spcBef>
              </a:pPr>
              <a:r>
                <a:rPr lang="en-US" b="1" dirty="0">
                  <a:solidFill>
                    <a:srgbClr val="843C0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Multimodal evidence grounding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751486" y="3679318"/>
            <a:ext cx="4108287" cy="455295"/>
            <a:chOff x="1686435" y="3080708"/>
            <a:chExt cx="4108287" cy="455295"/>
          </a:xfrm>
        </p:grpSpPr>
        <p:sp>
          <p:nvSpPr>
            <p:cNvPr id="15" name="Freeform 7"/>
            <p:cNvSpPr/>
            <p:nvPr/>
          </p:nvSpPr>
          <p:spPr>
            <a:xfrm>
              <a:off x="1686435" y="3169223"/>
              <a:ext cx="366780" cy="366780"/>
            </a:xfrm>
            <a:custGeom>
              <a:avLst/>
              <a:gdLst/>
              <a:ahLst/>
              <a:cxnLst/>
              <a:rect l="l" t="t" r="r" b="b"/>
              <a:pathLst>
                <a:path w="366780" h="366780">
                  <a:moveTo>
                    <a:pt x="0" y="0"/>
                  </a:moveTo>
                  <a:lnTo>
                    <a:pt x="366780" y="0"/>
                  </a:lnTo>
                  <a:lnTo>
                    <a:pt x="366780" y="366780"/>
                  </a:lnTo>
                  <a:lnTo>
                    <a:pt x="0" y="366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96DAC541-7B7A-43D3-8B79-37D633B846F1}">
                    <asvg:svgBlip xmlns=""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TextBox 16"/>
            <p:cNvSpPr txBox="1"/>
            <p:nvPr/>
          </p:nvSpPr>
          <p:spPr>
            <a:xfrm>
              <a:off x="2255476" y="3080708"/>
              <a:ext cx="3539246" cy="4154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ct val="150000"/>
                </a:lnSpc>
                <a:spcBef>
                  <a:spcPct val="0"/>
                </a:spcBef>
              </a:pPr>
              <a:r>
                <a:rPr lang="en-US" b="1" dirty="0">
                  <a:solidFill>
                    <a:srgbClr val="843C0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Improved clinical reasoning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619002" y="3600148"/>
            <a:ext cx="4108287" cy="433455"/>
            <a:chOff x="1686435" y="8161065"/>
            <a:chExt cx="4108287" cy="433455"/>
          </a:xfrm>
        </p:grpSpPr>
        <p:sp>
          <p:nvSpPr>
            <p:cNvPr id="20" name="TextBox 19"/>
            <p:cNvSpPr txBox="1"/>
            <p:nvPr/>
          </p:nvSpPr>
          <p:spPr>
            <a:xfrm>
              <a:off x="2255476" y="8161065"/>
              <a:ext cx="3539246" cy="4154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ct val="150000"/>
                </a:lnSpc>
                <a:spcBef>
                  <a:spcPct val="0"/>
                </a:spcBef>
              </a:pPr>
              <a:r>
                <a:rPr lang="en-US" b="1" dirty="0">
                  <a:solidFill>
                    <a:srgbClr val="843C0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Visual </a:t>
              </a:r>
              <a:r>
                <a:rPr lang="en-US" b="1" dirty="0" smtClean="0">
                  <a:solidFill>
                    <a:srgbClr val="843C0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explanations </a:t>
              </a:r>
              <a:r>
                <a:rPr lang="en-US" b="1" dirty="0">
                  <a:solidFill>
                    <a:srgbClr val="843C0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support</a:t>
              </a:r>
            </a:p>
          </p:txBody>
        </p:sp>
        <p:sp>
          <p:nvSpPr>
            <p:cNvPr id="21" name="Freeform 20"/>
            <p:cNvSpPr/>
            <p:nvPr/>
          </p:nvSpPr>
          <p:spPr>
            <a:xfrm>
              <a:off x="1686435" y="8227740"/>
              <a:ext cx="366780" cy="366780"/>
            </a:xfrm>
            <a:custGeom>
              <a:avLst/>
              <a:gdLst/>
              <a:ahLst/>
              <a:cxnLst/>
              <a:rect l="l" t="t" r="r" b="b"/>
              <a:pathLst>
                <a:path w="366780" h="366780">
                  <a:moveTo>
                    <a:pt x="0" y="0"/>
                  </a:moveTo>
                  <a:lnTo>
                    <a:pt x="366780" y="0"/>
                  </a:lnTo>
                  <a:lnTo>
                    <a:pt x="366780" y="366780"/>
                  </a:lnTo>
                  <a:lnTo>
                    <a:pt x="0" y="366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96DAC541-7B7A-43D3-8B79-37D633B846F1}">
                    <asvg:svgBlip xmlns=""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08126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1444"/>
            <a:ext cx="12192000" cy="103238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32620" y="735083"/>
            <a:ext cx="7472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Critical Concerns </a:t>
            </a:r>
            <a:endParaRPr lang="en-US" sz="32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Round Same Side Corner Rectangle 5"/>
          <p:cNvSpPr/>
          <p:nvPr/>
        </p:nvSpPr>
        <p:spPr>
          <a:xfrm>
            <a:off x="3500284" y="1533832"/>
            <a:ext cx="5132439" cy="157316"/>
          </a:xfrm>
          <a:prstGeom prst="round2Same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4286BF-E51B-4703-8315-FCE50EFF4290}"/>
              </a:ext>
            </a:extLst>
          </p:cNvPr>
          <p:cNvSpPr txBox="1"/>
          <p:nvPr/>
        </p:nvSpPr>
        <p:spPr>
          <a:xfrm>
            <a:off x="11724959" y="6488668"/>
            <a:ext cx="934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noProof="0" smtClean="0">
                <a:solidFill>
                  <a:srgbClr val="843C0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29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9418392" y="29578"/>
            <a:ext cx="2604546" cy="642552"/>
            <a:chOff x="8503992" y="95295"/>
            <a:chExt cx="3439354" cy="800395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92" y="95295"/>
              <a:ext cx="1719677" cy="760007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23669" y="114959"/>
              <a:ext cx="784266" cy="780731"/>
            </a:xfrm>
            <a:prstGeom prst="rect">
              <a:avLst/>
            </a:prstGeom>
          </p:spPr>
        </p:pic>
        <p:pic>
          <p:nvPicPr>
            <p:cNvPr id="11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26186" y="127929"/>
              <a:ext cx="817160" cy="767761"/>
            </a:xfrm>
            <a:prstGeom prst="rect">
              <a:avLst/>
            </a:prstGeom>
          </p:spPr>
        </p:pic>
      </p:grpSp>
      <p:sp>
        <p:nvSpPr>
          <p:cNvPr id="4" name="Rectangle 3"/>
          <p:cNvSpPr/>
          <p:nvPr/>
        </p:nvSpPr>
        <p:spPr>
          <a:xfrm>
            <a:off x="432620" y="2116271"/>
            <a:ext cx="727134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58801" lvl="1" indent="-342900">
              <a:lnSpc>
                <a:spcPts val="28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0000"/>
                </a:solidFill>
                <a:ea typeface="Poppins"/>
                <a:cs typeface="Poppins"/>
                <a:sym typeface="Poppins"/>
              </a:rPr>
              <a:t>Higher inference cost and latency due to Chain-of-Thought </a:t>
            </a:r>
            <a:r>
              <a:rPr lang="en-US" sz="2000" dirty="0" smtClean="0">
                <a:solidFill>
                  <a:srgbClr val="000000"/>
                </a:solidFill>
                <a:ea typeface="Poppins"/>
                <a:cs typeface="Poppins"/>
                <a:sym typeface="Poppins"/>
              </a:rPr>
              <a:t>reasoning.</a:t>
            </a:r>
          </a:p>
          <a:p>
            <a:pPr marL="215901" lvl="1">
              <a:lnSpc>
                <a:spcPts val="2800"/>
              </a:lnSpc>
            </a:pPr>
            <a:endParaRPr lang="en-US" sz="2000" dirty="0" smtClean="0">
              <a:solidFill>
                <a:srgbClr val="000000"/>
              </a:solidFill>
              <a:ea typeface="Poppins"/>
              <a:cs typeface="Poppins"/>
              <a:sym typeface="Poppins"/>
            </a:endParaRPr>
          </a:p>
          <a:p>
            <a:pPr marL="558801" lvl="1" indent="-342900">
              <a:lnSpc>
                <a:spcPts val="2800"/>
              </a:lnSpc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rgbClr val="000000"/>
                </a:solidFill>
                <a:ea typeface="Poppins"/>
                <a:cs typeface="Poppins"/>
                <a:sym typeface="Poppins"/>
              </a:rPr>
              <a:t>Heavy </a:t>
            </a:r>
            <a:r>
              <a:rPr lang="en-US" sz="2000" dirty="0">
                <a:solidFill>
                  <a:srgbClr val="000000"/>
                </a:solidFill>
                <a:ea typeface="Poppins"/>
                <a:cs typeface="Poppins"/>
                <a:sym typeface="Poppins"/>
              </a:rPr>
              <a:t>reliance on high-quality </a:t>
            </a:r>
            <a:r>
              <a:rPr lang="en-US" sz="2000" dirty="0" smtClean="0">
                <a:solidFill>
                  <a:srgbClr val="000000"/>
                </a:solidFill>
                <a:ea typeface="Poppins"/>
                <a:cs typeface="Poppins"/>
                <a:sym typeface="Poppins"/>
              </a:rPr>
              <a:t>retrieval</a:t>
            </a:r>
          </a:p>
          <a:p>
            <a:pPr marL="215901" lvl="1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ea typeface="Poppins"/>
              <a:cs typeface="Poppins"/>
              <a:sym typeface="Poppins"/>
            </a:endParaRPr>
          </a:p>
          <a:p>
            <a:pPr marL="558801" lvl="1" indent="-342900">
              <a:lnSpc>
                <a:spcPts val="28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0000"/>
                </a:solidFill>
                <a:ea typeface="Poppins"/>
                <a:cs typeface="Poppins"/>
                <a:sym typeface="Poppins"/>
              </a:rPr>
              <a:t>Performance sensitive to prompt design and retrieval accuracy</a:t>
            </a:r>
          </a:p>
        </p:txBody>
      </p:sp>
    </p:spTree>
    <p:extLst>
      <p:ext uri="{BB962C8B-B14F-4D97-AF65-F5344CB8AC3E}">
        <p14:creationId xmlns:p14="http://schemas.microsoft.com/office/powerpoint/2010/main" val="1822405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orldwide National Identities Master's Thesis by Slidesgo">
  <a:themeElements>
    <a:clrScheme name="Simple Light">
      <a:dk1>
        <a:srgbClr val="000000"/>
      </a:dk1>
      <a:lt1>
        <a:srgbClr val="4F1514"/>
      </a:lt1>
      <a:dk2>
        <a:srgbClr val="F7F1ED"/>
      </a:dk2>
      <a:lt2>
        <a:srgbClr val="E4C1A8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1530</Words>
  <Application>Microsoft Office PowerPoint</Application>
  <PresentationFormat>Widescreen</PresentationFormat>
  <Paragraphs>405</Paragraphs>
  <Slides>43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43</vt:i4>
      </vt:variant>
    </vt:vector>
  </HeadingPairs>
  <TitlesOfParts>
    <vt:vector size="64" baseType="lpstr">
      <vt:lpstr>Agrandir</vt:lpstr>
      <vt:lpstr>Amethysta</vt:lpstr>
      <vt:lpstr>Anaheim</vt:lpstr>
      <vt:lpstr>Arial</vt:lpstr>
      <vt:lpstr>Arial Black</vt:lpstr>
      <vt:lpstr>Calibri</vt:lpstr>
      <vt:lpstr>Calibri Light</vt:lpstr>
      <vt:lpstr>Cambria Math</vt:lpstr>
      <vt:lpstr>Didact Gothic</vt:lpstr>
      <vt:lpstr>Nunito Light</vt:lpstr>
      <vt:lpstr>Open Sans</vt:lpstr>
      <vt:lpstr>Palatino Linotype</vt:lpstr>
      <vt:lpstr>Poppins</vt:lpstr>
      <vt:lpstr>Poppins Bold</vt:lpstr>
      <vt:lpstr>Poppins Semi-Bold</vt:lpstr>
      <vt:lpstr>Times New Roman</vt:lpstr>
      <vt:lpstr>Trebuchet MS</vt:lpstr>
      <vt:lpstr>Wingdings</vt:lpstr>
      <vt:lpstr>Office Theme</vt:lpstr>
      <vt:lpstr>Worldwide National Identities Master's Thesis by Slidesgo</vt:lpstr>
      <vt:lpstr>1_Office Theme</vt:lpstr>
      <vt:lpstr>HANDS-ON WORKSHOP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41</cp:revision>
  <dcterms:created xsi:type="dcterms:W3CDTF">2026-02-02T08:35:23Z</dcterms:created>
  <dcterms:modified xsi:type="dcterms:W3CDTF">2026-02-06T06:22:41Z</dcterms:modified>
</cp:coreProperties>
</file>